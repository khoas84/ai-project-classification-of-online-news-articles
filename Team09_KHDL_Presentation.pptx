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3.jpg" ContentType="image/jpg"/>
  <Override PartName="/ppt/media/image18.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303" r:id="rId5"/>
    <p:sldId id="259" r:id="rId6"/>
    <p:sldId id="297" r:id="rId7"/>
    <p:sldId id="304" r:id="rId8"/>
    <p:sldId id="262" r:id="rId9"/>
    <p:sldId id="263" r:id="rId10"/>
    <p:sldId id="264" r:id="rId11"/>
    <p:sldId id="265" r:id="rId12"/>
    <p:sldId id="273" r:id="rId13"/>
    <p:sldId id="280" r:id="rId14"/>
    <p:sldId id="281" r:id="rId15"/>
    <p:sldId id="282" r:id="rId16"/>
    <p:sldId id="283" r:id="rId17"/>
    <p:sldId id="284" r:id="rId18"/>
    <p:sldId id="285" r:id="rId19"/>
    <p:sldId id="298" r:id="rId20"/>
    <p:sldId id="305" r:id="rId21"/>
    <p:sldId id="286" r:id="rId22"/>
    <p:sldId id="287" r:id="rId23"/>
    <p:sldId id="288" r:id="rId24"/>
    <p:sldId id="290" r:id="rId25"/>
    <p:sldId id="293" r:id="rId26"/>
    <p:sldId id="292" r:id="rId27"/>
    <p:sldId id="294" r:id="rId28"/>
    <p:sldId id="295" r:id="rId29"/>
    <p:sldId id="296" r:id="rId30"/>
  </p:sldIdLst>
  <p:sldSz cx="12192000" cy="6858000"/>
  <p:notesSz cx="12192000" cy="6858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1660" autoAdjust="0"/>
    <p:restoredTop sz="94660"/>
  </p:normalViewPr>
  <p:slideViewPr>
    <p:cSldViewPr>
      <p:cViewPr varScale="1">
        <p:scale>
          <a:sx n="54" d="100"/>
          <a:sy n="54" d="100"/>
        </p:scale>
        <p:origin x="77" y="7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996EFC-32E2-424E-AF0B-FB6B7A3F5C5F}" type="doc">
      <dgm:prSet loTypeId="urn:microsoft.com/office/officeart/2005/8/layout/hierarchy1" loCatId="hierarchy" qsTypeId="urn:microsoft.com/office/officeart/2005/8/quickstyle/simple2" qsCatId="simple" csTypeId="urn:microsoft.com/office/officeart/2005/8/colors/accent1_2" csCatId="accent1"/>
      <dgm:spPr/>
      <dgm:t>
        <a:bodyPr/>
        <a:lstStyle/>
        <a:p>
          <a:endParaRPr lang="en-US"/>
        </a:p>
      </dgm:t>
    </dgm:pt>
    <dgm:pt modelId="{6B41072F-1D03-4D79-B734-40FA234D8E95}">
      <dgm:prSet/>
      <dgm:spPr/>
      <dgm:t>
        <a:bodyPr/>
        <a:lstStyle/>
        <a:p>
          <a:r>
            <a:rPr lang="en-US" b="1"/>
            <a:t>PHÂN LOẠI CHỦ ĐỀ BÀI BÁO DỰA TRÊN  TIÊU ĐỀ, MÔ TẢ VÀ NỘI DUNG</a:t>
          </a:r>
          <a:endParaRPr lang="en-US"/>
        </a:p>
      </dgm:t>
    </dgm:pt>
    <dgm:pt modelId="{6A31651C-DB8B-4EAD-AC96-9190693C25AC}" type="parTrans" cxnId="{F43A6910-60F6-4E79-BB62-215465C232F7}">
      <dgm:prSet/>
      <dgm:spPr/>
      <dgm:t>
        <a:bodyPr/>
        <a:lstStyle/>
        <a:p>
          <a:endParaRPr lang="en-US"/>
        </a:p>
      </dgm:t>
    </dgm:pt>
    <dgm:pt modelId="{D117DA54-031F-43F1-9986-26A205EDB1AF}" type="sibTrans" cxnId="{F43A6910-60F6-4E79-BB62-215465C232F7}">
      <dgm:prSet/>
      <dgm:spPr/>
      <dgm:t>
        <a:bodyPr/>
        <a:lstStyle/>
        <a:p>
          <a:endParaRPr lang="en-US"/>
        </a:p>
      </dgm:t>
    </dgm:pt>
    <dgm:pt modelId="{A4A3E0BC-1625-4207-963E-2D462ADF2832}">
      <dgm:prSet/>
      <dgm:spPr/>
      <dgm:t>
        <a:bodyPr/>
        <a:lstStyle/>
        <a:p>
          <a:r>
            <a:rPr lang="en-US"/>
            <a:t>Lê Hải Khoa</a:t>
          </a:r>
          <a:br>
            <a:rPr lang="en-US"/>
          </a:br>
          <a:r>
            <a:rPr lang="en-US"/>
            <a:t>Nguyễn Đức Nhã</a:t>
          </a:r>
        </a:p>
      </dgm:t>
    </dgm:pt>
    <dgm:pt modelId="{85E09914-AAE7-4318-A628-8495E5F9BF9A}" type="parTrans" cxnId="{12F537C6-7733-490A-B6BF-4287F9212E69}">
      <dgm:prSet/>
      <dgm:spPr/>
      <dgm:t>
        <a:bodyPr/>
        <a:lstStyle/>
        <a:p>
          <a:endParaRPr lang="en-US"/>
        </a:p>
      </dgm:t>
    </dgm:pt>
    <dgm:pt modelId="{18DBE66A-AACD-468C-8246-B0AB3FF14B51}" type="sibTrans" cxnId="{12F537C6-7733-490A-B6BF-4287F9212E69}">
      <dgm:prSet/>
      <dgm:spPr/>
      <dgm:t>
        <a:bodyPr/>
        <a:lstStyle/>
        <a:p>
          <a:endParaRPr lang="en-US"/>
        </a:p>
      </dgm:t>
    </dgm:pt>
    <dgm:pt modelId="{73E0D889-7FFC-4144-A72C-25D645040C1F}" type="pres">
      <dgm:prSet presAssocID="{FC996EFC-32E2-424E-AF0B-FB6B7A3F5C5F}" presName="hierChild1" presStyleCnt="0">
        <dgm:presLayoutVars>
          <dgm:chPref val="1"/>
          <dgm:dir/>
          <dgm:animOne val="branch"/>
          <dgm:animLvl val="lvl"/>
          <dgm:resizeHandles/>
        </dgm:presLayoutVars>
      </dgm:prSet>
      <dgm:spPr/>
    </dgm:pt>
    <dgm:pt modelId="{344A749F-B4F8-48B4-A98A-4A0789DA9959}" type="pres">
      <dgm:prSet presAssocID="{6B41072F-1D03-4D79-B734-40FA234D8E95}" presName="hierRoot1" presStyleCnt="0"/>
      <dgm:spPr/>
    </dgm:pt>
    <dgm:pt modelId="{3B70BF23-90FF-48B5-8FF0-331953B36171}" type="pres">
      <dgm:prSet presAssocID="{6B41072F-1D03-4D79-B734-40FA234D8E95}" presName="composite" presStyleCnt="0"/>
      <dgm:spPr/>
    </dgm:pt>
    <dgm:pt modelId="{DAD5DA56-32F7-47B9-BBB5-4328787CD8A7}" type="pres">
      <dgm:prSet presAssocID="{6B41072F-1D03-4D79-B734-40FA234D8E95}" presName="background" presStyleLbl="node0" presStyleIdx="0" presStyleCnt="1"/>
      <dgm:spPr/>
    </dgm:pt>
    <dgm:pt modelId="{164349B5-64B5-4F9D-A8EF-B43698EC5A88}" type="pres">
      <dgm:prSet presAssocID="{6B41072F-1D03-4D79-B734-40FA234D8E95}" presName="text" presStyleLbl="fgAcc0" presStyleIdx="0" presStyleCnt="1">
        <dgm:presLayoutVars>
          <dgm:chPref val="3"/>
        </dgm:presLayoutVars>
      </dgm:prSet>
      <dgm:spPr/>
    </dgm:pt>
    <dgm:pt modelId="{07AE85B9-ACD3-47A2-8A24-022F023BDFC8}" type="pres">
      <dgm:prSet presAssocID="{6B41072F-1D03-4D79-B734-40FA234D8E95}" presName="hierChild2" presStyleCnt="0"/>
      <dgm:spPr/>
    </dgm:pt>
    <dgm:pt modelId="{675C28C2-FBCA-40E4-AE33-8035C46788C1}" type="pres">
      <dgm:prSet presAssocID="{85E09914-AAE7-4318-A628-8495E5F9BF9A}" presName="Name10" presStyleLbl="parChTrans1D2" presStyleIdx="0" presStyleCnt="1"/>
      <dgm:spPr/>
    </dgm:pt>
    <dgm:pt modelId="{8101725E-E787-4AD6-9E07-941A9B7BF29D}" type="pres">
      <dgm:prSet presAssocID="{A4A3E0BC-1625-4207-963E-2D462ADF2832}" presName="hierRoot2" presStyleCnt="0"/>
      <dgm:spPr/>
    </dgm:pt>
    <dgm:pt modelId="{C7F9A52D-5C27-4D5F-8BBF-D67C66F53CD6}" type="pres">
      <dgm:prSet presAssocID="{A4A3E0BC-1625-4207-963E-2D462ADF2832}" presName="composite2" presStyleCnt="0"/>
      <dgm:spPr/>
    </dgm:pt>
    <dgm:pt modelId="{71288355-BF83-4FF2-8F2E-CAD8A599D695}" type="pres">
      <dgm:prSet presAssocID="{A4A3E0BC-1625-4207-963E-2D462ADF2832}" presName="background2" presStyleLbl="node2" presStyleIdx="0" presStyleCnt="1"/>
      <dgm:spPr/>
    </dgm:pt>
    <dgm:pt modelId="{426F80A5-DB23-4634-9D2E-A78342CF485A}" type="pres">
      <dgm:prSet presAssocID="{A4A3E0BC-1625-4207-963E-2D462ADF2832}" presName="text2" presStyleLbl="fgAcc2" presStyleIdx="0" presStyleCnt="1">
        <dgm:presLayoutVars>
          <dgm:chPref val="3"/>
        </dgm:presLayoutVars>
      </dgm:prSet>
      <dgm:spPr/>
    </dgm:pt>
    <dgm:pt modelId="{7F3A79D8-0E22-4283-ADD5-025ACC372883}" type="pres">
      <dgm:prSet presAssocID="{A4A3E0BC-1625-4207-963E-2D462ADF2832}" presName="hierChild3" presStyleCnt="0"/>
      <dgm:spPr/>
    </dgm:pt>
  </dgm:ptLst>
  <dgm:cxnLst>
    <dgm:cxn modelId="{F43A6910-60F6-4E79-BB62-215465C232F7}" srcId="{FC996EFC-32E2-424E-AF0B-FB6B7A3F5C5F}" destId="{6B41072F-1D03-4D79-B734-40FA234D8E95}" srcOrd="0" destOrd="0" parTransId="{6A31651C-DB8B-4EAD-AC96-9190693C25AC}" sibTransId="{D117DA54-031F-43F1-9986-26A205EDB1AF}"/>
    <dgm:cxn modelId="{25C0BF3B-84BD-42E2-805E-FBF1E308703E}" type="presOf" srcId="{FC996EFC-32E2-424E-AF0B-FB6B7A3F5C5F}" destId="{73E0D889-7FFC-4144-A72C-25D645040C1F}" srcOrd="0" destOrd="0" presId="urn:microsoft.com/office/officeart/2005/8/layout/hierarchy1"/>
    <dgm:cxn modelId="{5491233F-B211-4E03-AAE5-85E741DD3D27}" type="presOf" srcId="{6B41072F-1D03-4D79-B734-40FA234D8E95}" destId="{164349B5-64B5-4F9D-A8EF-B43698EC5A88}" srcOrd="0" destOrd="0" presId="urn:microsoft.com/office/officeart/2005/8/layout/hierarchy1"/>
    <dgm:cxn modelId="{0E4AD76A-7AA9-41F1-83B0-E54A1D64AAA2}" type="presOf" srcId="{85E09914-AAE7-4318-A628-8495E5F9BF9A}" destId="{675C28C2-FBCA-40E4-AE33-8035C46788C1}" srcOrd="0" destOrd="0" presId="urn:microsoft.com/office/officeart/2005/8/layout/hierarchy1"/>
    <dgm:cxn modelId="{12F537C6-7733-490A-B6BF-4287F9212E69}" srcId="{6B41072F-1D03-4D79-B734-40FA234D8E95}" destId="{A4A3E0BC-1625-4207-963E-2D462ADF2832}" srcOrd="0" destOrd="0" parTransId="{85E09914-AAE7-4318-A628-8495E5F9BF9A}" sibTransId="{18DBE66A-AACD-468C-8246-B0AB3FF14B51}"/>
    <dgm:cxn modelId="{C1223FD1-94BB-4A8E-8BCF-F21E9CB7237D}" type="presOf" srcId="{A4A3E0BC-1625-4207-963E-2D462ADF2832}" destId="{426F80A5-DB23-4634-9D2E-A78342CF485A}" srcOrd="0" destOrd="0" presId="urn:microsoft.com/office/officeart/2005/8/layout/hierarchy1"/>
    <dgm:cxn modelId="{631919EE-C8B7-4B74-8252-C2CA3F6B7897}" type="presParOf" srcId="{73E0D889-7FFC-4144-A72C-25D645040C1F}" destId="{344A749F-B4F8-48B4-A98A-4A0789DA9959}" srcOrd="0" destOrd="0" presId="urn:microsoft.com/office/officeart/2005/8/layout/hierarchy1"/>
    <dgm:cxn modelId="{450312A0-468B-4D03-8207-9C2FEFAB68D0}" type="presParOf" srcId="{344A749F-B4F8-48B4-A98A-4A0789DA9959}" destId="{3B70BF23-90FF-48B5-8FF0-331953B36171}" srcOrd="0" destOrd="0" presId="urn:microsoft.com/office/officeart/2005/8/layout/hierarchy1"/>
    <dgm:cxn modelId="{A8F8B001-E085-4218-87A9-05D915966771}" type="presParOf" srcId="{3B70BF23-90FF-48B5-8FF0-331953B36171}" destId="{DAD5DA56-32F7-47B9-BBB5-4328787CD8A7}" srcOrd="0" destOrd="0" presId="urn:microsoft.com/office/officeart/2005/8/layout/hierarchy1"/>
    <dgm:cxn modelId="{D3EC8805-4268-472E-B870-78410643BBA0}" type="presParOf" srcId="{3B70BF23-90FF-48B5-8FF0-331953B36171}" destId="{164349B5-64B5-4F9D-A8EF-B43698EC5A88}" srcOrd="1" destOrd="0" presId="urn:microsoft.com/office/officeart/2005/8/layout/hierarchy1"/>
    <dgm:cxn modelId="{9F198C5B-ECE1-4891-BB5D-12EDB172153F}" type="presParOf" srcId="{344A749F-B4F8-48B4-A98A-4A0789DA9959}" destId="{07AE85B9-ACD3-47A2-8A24-022F023BDFC8}" srcOrd="1" destOrd="0" presId="urn:microsoft.com/office/officeart/2005/8/layout/hierarchy1"/>
    <dgm:cxn modelId="{72589795-D913-4BA6-9A71-F4981FB1E7F4}" type="presParOf" srcId="{07AE85B9-ACD3-47A2-8A24-022F023BDFC8}" destId="{675C28C2-FBCA-40E4-AE33-8035C46788C1}" srcOrd="0" destOrd="0" presId="urn:microsoft.com/office/officeart/2005/8/layout/hierarchy1"/>
    <dgm:cxn modelId="{5B390014-09C7-424F-AF85-7C6D78955844}" type="presParOf" srcId="{07AE85B9-ACD3-47A2-8A24-022F023BDFC8}" destId="{8101725E-E787-4AD6-9E07-941A9B7BF29D}" srcOrd="1" destOrd="0" presId="urn:microsoft.com/office/officeart/2005/8/layout/hierarchy1"/>
    <dgm:cxn modelId="{F23FA6B9-A979-45D0-972C-E5ABDCA7A2C1}" type="presParOf" srcId="{8101725E-E787-4AD6-9E07-941A9B7BF29D}" destId="{C7F9A52D-5C27-4D5F-8BBF-D67C66F53CD6}" srcOrd="0" destOrd="0" presId="urn:microsoft.com/office/officeart/2005/8/layout/hierarchy1"/>
    <dgm:cxn modelId="{76226E51-CBE5-48FA-81A1-80807A656DE3}" type="presParOf" srcId="{C7F9A52D-5C27-4D5F-8BBF-D67C66F53CD6}" destId="{71288355-BF83-4FF2-8F2E-CAD8A599D695}" srcOrd="0" destOrd="0" presId="urn:microsoft.com/office/officeart/2005/8/layout/hierarchy1"/>
    <dgm:cxn modelId="{7FE1A19B-717E-4633-B82F-6C70D5CDE1F3}" type="presParOf" srcId="{C7F9A52D-5C27-4D5F-8BBF-D67C66F53CD6}" destId="{426F80A5-DB23-4634-9D2E-A78342CF485A}" srcOrd="1" destOrd="0" presId="urn:microsoft.com/office/officeart/2005/8/layout/hierarchy1"/>
    <dgm:cxn modelId="{5B6B66C4-95A4-4339-B03D-5B598C9EDBC6}" type="presParOf" srcId="{8101725E-E787-4AD6-9E07-941A9B7BF29D}" destId="{7F3A79D8-0E22-4283-ADD5-025ACC37288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18BDA0-DF43-4FB9-952A-DF6E2820A68E}"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AAB40E56-B72D-4C9D-A3C2-66F6BCB7D65C}">
      <dgm:prSet/>
      <dgm:spPr/>
      <dgm:t>
        <a:bodyPr/>
        <a:lstStyle/>
        <a:p>
          <a:r>
            <a:rPr lang="en-US"/>
            <a:t>Tổng quan đề tài</a:t>
          </a:r>
        </a:p>
      </dgm:t>
    </dgm:pt>
    <dgm:pt modelId="{19A0E88F-D8F6-4C7B-A2D7-C6672F852884}" type="parTrans" cxnId="{0B3DA617-6BC8-4E88-BFFE-C6899585574C}">
      <dgm:prSet/>
      <dgm:spPr/>
      <dgm:t>
        <a:bodyPr/>
        <a:lstStyle/>
        <a:p>
          <a:endParaRPr lang="en-US"/>
        </a:p>
      </dgm:t>
    </dgm:pt>
    <dgm:pt modelId="{9ECF3738-E88C-4E61-80AC-9F244434978F}" type="sibTrans" cxnId="{0B3DA617-6BC8-4E88-BFFE-C6899585574C}">
      <dgm:prSet/>
      <dgm:spPr/>
      <dgm:t>
        <a:bodyPr/>
        <a:lstStyle/>
        <a:p>
          <a:endParaRPr lang="en-US"/>
        </a:p>
      </dgm:t>
    </dgm:pt>
    <dgm:pt modelId="{016D5837-BE41-4FD2-9C04-4F5DC96C2932}">
      <dgm:prSet/>
      <dgm:spPr/>
      <dgm:t>
        <a:bodyPr/>
        <a:lstStyle/>
        <a:p>
          <a:r>
            <a:rPr lang="en-US"/>
            <a:t>Trích xuất đặc trưng</a:t>
          </a:r>
        </a:p>
      </dgm:t>
    </dgm:pt>
    <dgm:pt modelId="{D6492266-FE1D-4D09-975E-E291CBD90C24}" type="parTrans" cxnId="{DC7442A4-C3E6-4F6B-85FA-C54B714D6A7D}">
      <dgm:prSet/>
      <dgm:spPr/>
      <dgm:t>
        <a:bodyPr/>
        <a:lstStyle/>
        <a:p>
          <a:endParaRPr lang="en-US"/>
        </a:p>
      </dgm:t>
    </dgm:pt>
    <dgm:pt modelId="{19BEAEA7-1084-49DE-BE6F-F991041127CA}" type="sibTrans" cxnId="{DC7442A4-C3E6-4F6B-85FA-C54B714D6A7D}">
      <dgm:prSet/>
      <dgm:spPr/>
      <dgm:t>
        <a:bodyPr/>
        <a:lstStyle/>
        <a:p>
          <a:endParaRPr lang="en-US"/>
        </a:p>
      </dgm:t>
    </dgm:pt>
    <dgm:pt modelId="{D9FAA352-7AFA-493C-ADD7-BA8644899760}">
      <dgm:prSet/>
      <dgm:spPr/>
      <dgm:t>
        <a:bodyPr/>
        <a:lstStyle/>
        <a:p>
          <a:r>
            <a:rPr lang="en-US"/>
            <a:t>Các mô hình/phương pháp phân loại</a:t>
          </a:r>
        </a:p>
      </dgm:t>
    </dgm:pt>
    <dgm:pt modelId="{735EC285-E975-41DC-98FB-F4ED7BEB9365}" type="parTrans" cxnId="{9D6E6CEC-1825-47F4-A015-D488855689E5}">
      <dgm:prSet/>
      <dgm:spPr/>
      <dgm:t>
        <a:bodyPr/>
        <a:lstStyle/>
        <a:p>
          <a:endParaRPr lang="en-US"/>
        </a:p>
      </dgm:t>
    </dgm:pt>
    <dgm:pt modelId="{0FAB319E-AADE-4263-AAF4-C803D936A286}" type="sibTrans" cxnId="{9D6E6CEC-1825-47F4-A015-D488855689E5}">
      <dgm:prSet/>
      <dgm:spPr/>
      <dgm:t>
        <a:bodyPr/>
        <a:lstStyle/>
        <a:p>
          <a:endParaRPr lang="en-US"/>
        </a:p>
      </dgm:t>
    </dgm:pt>
    <dgm:pt modelId="{8884A856-02E4-485D-9242-E8CB39E52A6C}">
      <dgm:prSet/>
      <dgm:spPr/>
      <dgm:t>
        <a:bodyPr/>
        <a:lstStyle/>
        <a:p>
          <a:r>
            <a:rPr lang="en-US" dirty="0"/>
            <a:t>Random Forest</a:t>
          </a:r>
        </a:p>
      </dgm:t>
    </dgm:pt>
    <dgm:pt modelId="{7AEBA005-3887-44F3-A4FC-F9BE2AC6A25E}" type="parTrans" cxnId="{6D357D42-7A52-4915-B396-26EA6B9A3D10}">
      <dgm:prSet/>
      <dgm:spPr/>
      <dgm:t>
        <a:bodyPr/>
        <a:lstStyle/>
        <a:p>
          <a:endParaRPr lang="en-US"/>
        </a:p>
      </dgm:t>
    </dgm:pt>
    <dgm:pt modelId="{EE52453B-595A-471D-BBB8-9870FED10500}" type="sibTrans" cxnId="{6D357D42-7A52-4915-B396-26EA6B9A3D10}">
      <dgm:prSet/>
      <dgm:spPr/>
      <dgm:t>
        <a:bodyPr/>
        <a:lstStyle/>
        <a:p>
          <a:endParaRPr lang="en-US"/>
        </a:p>
      </dgm:t>
    </dgm:pt>
    <dgm:pt modelId="{04AE29D7-6DA9-47F2-A3AE-0BCDD4676859}">
      <dgm:prSet/>
      <dgm:spPr/>
      <dgm:t>
        <a:bodyPr/>
        <a:lstStyle/>
        <a:p>
          <a:r>
            <a:rPr lang="en-US" dirty="0"/>
            <a:t>Logistic Regression</a:t>
          </a:r>
        </a:p>
      </dgm:t>
    </dgm:pt>
    <dgm:pt modelId="{A337E18A-6EB7-4237-8E54-5EC4DC884A86}" type="parTrans" cxnId="{EEF66931-53A3-491B-B19B-6AD44739DF9D}">
      <dgm:prSet/>
      <dgm:spPr/>
      <dgm:t>
        <a:bodyPr/>
        <a:lstStyle/>
        <a:p>
          <a:endParaRPr lang="en-US"/>
        </a:p>
      </dgm:t>
    </dgm:pt>
    <dgm:pt modelId="{B2B4BA02-17FE-45DC-A498-B627CC840031}" type="sibTrans" cxnId="{EEF66931-53A3-491B-B19B-6AD44739DF9D}">
      <dgm:prSet/>
      <dgm:spPr/>
      <dgm:t>
        <a:bodyPr/>
        <a:lstStyle/>
        <a:p>
          <a:endParaRPr lang="en-US"/>
        </a:p>
      </dgm:t>
    </dgm:pt>
    <dgm:pt modelId="{5B74D2EB-C74A-40C5-8F22-247CECF4376E}">
      <dgm:prSet/>
      <dgm:spPr/>
      <dgm:t>
        <a:bodyPr/>
        <a:lstStyle/>
        <a:p>
          <a:r>
            <a:rPr lang="en-US"/>
            <a:t>Thực nghiệm và kết luận</a:t>
          </a:r>
        </a:p>
      </dgm:t>
    </dgm:pt>
    <dgm:pt modelId="{C93778DA-A263-4333-A90B-19349ECF97DC}" type="parTrans" cxnId="{6CC141F7-CCBE-4102-83B8-32069EB383D4}">
      <dgm:prSet/>
      <dgm:spPr/>
      <dgm:t>
        <a:bodyPr/>
        <a:lstStyle/>
        <a:p>
          <a:endParaRPr lang="en-US"/>
        </a:p>
      </dgm:t>
    </dgm:pt>
    <dgm:pt modelId="{BEDF0C48-0DC9-49F8-A987-1CD59D9F9A58}" type="sibTrans" cxnId="{6CC141F7-CCBE-4102-83B8-32069EB383D4}">
      <dgm:prSet/>
      <dgm:spPr/>
      <dgm:t>
        <a:bodyPr/>
        <a:lstStyle/>
        <a:p>
          <a:endParaRPr lang="en-US"/>
        </a:p>
      </dgm:t>
    </dgm:pt>
    <dgm:pt modelId="{81B0AD89-8D6B-4547-A093-CFC54874C3A0}">
      <dgm:prSet/>
      <dgm:spPr/>
      <dgm:t>
        <a:bodyPr/>
        <a:lstStyle/>
        <a:p>
          <a:r>
            <a:rPr lang="en-US" dirty="0"/>
            <a:t>Layer Perceptron</a:t>
          </a:r>
        </a:p>
      </dgm:t>
    </dgm:pt>
    <dgm:pt modelId="{B1CB5274-49E2-468D-9126-B5AB550895AD}" type="parTrans" cxnId="{FCCF21F5-8CC0-47EA-A698-B7F2D4923098}">
      <dgm:prSet/>
      <dgm:spPr/>
      <dgm:t>
        <a:bodyPr/>
        <a:lstStyle/>
        <a:p>
          <a:endParaRPr lang="vi-VN"/>
        </a:p>
      </dgm:t>
    </dgm:pt>
    <dgm:pt modelId="{EEA75259-FB08-410E-8F81-8AEBDB70D654}" type="sibTrans" cxnId="{FCCF21F5-8CC0-47EA-A698-B7F2D4923098}">
      <dgm:prSet/>
      <dgm:spPr/>
      <dgm:t>
        <a:bodyPr/>
        <a:lstStyle/>
        <a:p>
          <a:endParaRPr lang="vi-VN"/>
        </a:p>
      </dgm:t>
    </dgm:pt>
    <dgm:pt modelId="{B1DE31D1-9C39-4B8B-8BA1-ED3EAA68A761}" type="pres">
      <dgm:prSet presAssocID="{2118BDA0-DF43-4FB9-952A-DF6E2820A68E}" presName="linear" presStyleCnt="0">
        <dgm:presLayoutVars>
          <dgm:dir/>
          <dgm:animLvl val="lvl"/>
          <dgm:resizeHandles val="exact"/>
        </dgm:presLayoutVars>
      </dgm:prSet>
      <dgm:spPr/>
    </dgm:pt>
    <dgm:pt modelId="{C8209856-5CB8-47CC-AEBB-DE8151209757}" type="pres">
      <dgm:prSet presAssocID="{AAB40E56-B72D-4C9D-A3C2-66F6BCB7D65C}" presName="parentLin" presStyleCnt="0"/>
      <dgm:spPr/>
    </dgm:pt>
    <dgm:pt modelId="{EB4E757C-E792-4CB2-9926-AC1E1CC8F577}" type="pres">
      <dgm:prSet presAssocID="{AAB40E56-B72D-4C9D-A3C2-66F6BCB7D65C}" presName="parentLeftMargin" presStyleLbl="node1" presStyleIdx="0" presStyleCnt="4"/>
      <dgm:spPr/>
    </dgm:pt>
    <dgm:pt modelId="{D6F21452-6145-4DFF-891B-B10196625344}" type="pres">
      <dgm:prSet presAssocID="{AAB40E56-B72D-4C9D-A3C2-66F6BCB7D65C}" presName="parentText" presStyleLbl="node1" presStyleIdx="0" presStyleCnt="4">
        <dgm:presLayoutVars>
          <dgm:chMax val="0"/>
          <dgm:bulletEnabled val="1"/>
        </dgm:presLayoutVars>
      </dgm:prSet>
      <dgm:spPr/>
    </dgm:pt>
    <dgm:pt modelId="{0F7A2ED8-1DD1-477D-A848-547B3ADC68BA}" type="pres">
      <dgm:prSet presAssocID="{AAB40E56-B72D-4C9D-A3C2-66F6BCB7D65C}" presName="negativeSpace" presStyleCnt="0"/>
      <dgm:spPr/>
    </dgm:pt>
    <dgm:pt modelId="{8D331907-EEB0-4A9E-9700-A95B69F9527C}" type="pres">
      <dgm:prSet presAssocID="{AAB40E56-B72D-4C9D-A3C2-66F6BCB7D65C}" presName="childText" presStyleLbl="conFgAcc1" presStyleIdx="0" presStyleCnt="4">
        <dgm:presLayoutVars>
          <dgm:bulletEnabled val="1"/>
        </dgm:presLayoutVars>
      </dgm:prSet>
      <dgm:spPr/>
    </dgm:pt>
    <dgm:pt modelId="{2D363B00-6238-4CD8-8C48-58188590A44A}" type="pres">
      <dgm:prSet presAssocID="{9ECF3738-E88C-4E61-80AC-9F244434978F}" presName="spaceBetweenRectangles" presStyleCnt="0"/>
      <dgm:spPr/>
    </dgm:pt>
    <dgm:pt modelId="{C5192DD3-1A2C-471D-925F-698624A954B3}" type="pres">
      <dgm:prSet presAssocID="{016D5837-BE41-4FD2-9C04-4F5DC96C2932}" presName="parentLin" presStyleCnt="0"/>
      <dgm:spPr/>
    </dgm:pt>
    <dgm:pt modelId="{A220DC54-EC0A-483D-9E17-42064559B6EB}" type="pres">
      <dgm:prSet presAssocID="{016D5837-BE41-4FD2-9C04-4F5DC96C2932}" presName="parentLeftMargin" presStyleLbl="node1" presStyleIdx="0" presStyleCnt="4"/>
      <dgm:spPr/>
    </dgm:pt>
    <dgm:pt modelId="{33015B47-B6BE-4338-8DC7-0AC48B4CEDA1}" type="pres">
      <dgm:prSet presAssocID="{016D5837-BE41-4FD2-9C04-4F5DC96C2932}" presName="parentText" presStyleLbl="node1" presStyleIdx="1" presStyleCnt="4">
        <dgm:presLayoutVars>
          <dgm:chMax val="0"/>
          <dgm:bulletEnabled val="1"/>
        </dgm:presLayoutVars>
      </dgm:prSet>
      <dgm:spPr/>
    </dgm:pt>
    <dgm:pt modelId="{D3997CB0-F8EE-4879-B5C4-5761AA725414}" type="pres">
      <dgm:prSet presAssocID="{016D5837-BE41-4FD2-9C04-4F5DC96C2932}" presName="negativeSpace" presStyleCnt="0"/>
      <dgm:spPr/>
    </dgm:pt>
    <dgm:pt modelId="{CA2B655C-744C-4AD2-8FF1-8D2B0152EA3D}" type="pres">
      <dgm:prSet presAssocID="{016D5837-BE41-4FD2-9C04-4F5DC96C2932}" presName="childText" presStyleLbl="conFgAcc1" presStyleIdx="1" presStyleCnt="4">
        <dgm:presLayoutVars>
          <dgm:bulletEnabled val="1"/>
        </dgm:presLayoutVars>
      </dgm:prSet>
      <dgm:spPr/>
    </dgm:pt>
    <dgm:pt modelId="{BA6A3C3A-2FDC-47AB-BAA1-C3783F6F6353}" type="pres">
      <dgm:prSet presAssocID="{19BEAEA7-1084-49DE-BE6F-F991041127CA}" presName="spaceBetweenRectangles" presStyleCnt="0"/>
      <dgm:spPr/>
    </dgm:pt>
    <dgm:pt modelId="{D10A12D6-0395-44A9-9080-3999DFEF45B1}" type="pres">
      <dgm:prSet presAssocID="{D9FAA352-7AFA-493C-ADD7-BA8644899760}" presName="parentLin" presStyleCnt="0"/>
      <dgm:spPr/>
    </dgm:pt>
    <dgm:pt modelId="{C96958E3-1956-421D-B354-A608C581062D}" type="pres">
      <dgm:prSet presAssocID="{D9FAA352-7AFA-493C-ADD7-BA8644899760}" presName="parentLeftMargin" presStyleLbl="node1" presStyleIdx="1" presStyleCnt="4"/>
      <dgm:spPr/>
    </dgm:pt>
    <dgm:pt modelId="{19F97C7F-EDEE-48DA-86B4-C1EFCBB7267F}" type="pres">
      <dgm:prSet presAssocID="{D9FAA352-7AFA-493C-ADD7-BA8644899760}" presName="parentText" presStyleLbl="node1" presStyleIdx="2" presStyleCnt="4">
        <dgm:presLayoutVars>
          <dgm:chMax val="0"/>
          <dgm:bulletEnabled val="1"/>
        </dgm:presLayoutVars>
      </dgm:prSet>
      <dgm:spPr/>
    </dgm:pt>
    <dgm:pt modelId="{B1251242-5702-4BF6-BC44-A1D7E379570E}" type="pres">
      <dgm:prSet presAssocID="{D9FAA352-7AFA-493C-ADD7-BA8644899760}" presName="negativeSpace" presStyleCnt="0"/>
      <dgm:spPr/>
    </dgm:pt>
    <dgm:pt modelId="{52A67DA2-4E26-4980-9F6B-A23FCF168289}" type="pres">
      <dgm:prSet presAssocID="{D9FAA352-7AFA-493C-ADD7-BA8644899760}" presName="childText" presStyleLbl="conFgAcc1" presStyleIdx="2" presStyleCnt="4">
        <dgm:presLayoutVars>
          <dgm:bulletEnabled val="1"/>
        </dgm:presLayoutVars>
      </dgm:prSet>
      <dgm:spPr/>
    </dgm:pt>
    <dgm:pt modelId="{8884473B-4F19-4FCE-99AE-70418F3A6BA3}" type="pres">
      <dgm:prSet presAssocID="{0FAB319E-AADE-4263-AAF4-C803D936A286}" presName="spaceBetweenRectangles" presStyleCnt="0"/>
      <dgm:spPr/>
    </dgm:pt>
    <dgm:pt modelId="{71E21EAC-B5F2-4253-A5C3-ABB0002F2EDC}" type="pres">
      <dgm:prSet presAssocID="{5B74D2EB-C74A-40C5-8F22-247CECF4376E}" presName="parentLin" presStyleCnt="0"/>
      <dgm:spPr/>
    </dgm:pt>
    <dgm:pt modelId="{2FDB212C-94C7-48DF-B296-BB27B3562B61}" type="pres">
      <dgm:prSet presAssocID="{5B74D2EB-C74A-40C5-8F22-247CECF4376E}" presName="parentLeftMargin" presStyleLbl="node1" presStyleIdx="2" presStyleCnt="4"/>
      <dgm:spPr/>
    </dgm:pt>
    <dgm:pt modelId="{412D996C-479A-4DD0-9189-C6E5C1707541}" type="pres">
      <dgm:prSet presAssocID="{5B74D2EB-C74A-40C5-8F22-247CECF4376E}" presName="parentText" presStyleLbl="node1" presStyleIdx="3" presStyleCnt="4">
        <dgm:presLayoutVars>
          <dgm:chMax val="0"/>
          <dgm:bulletEnabled val="1"/>
        </dgm:presLayoutVars>
      </dgm:prSet>
      <dgm:spPr/>
    </dgm:pt>
    <dgm:pt modelId="{957D781A-A942-4424-A629-6DA753A5C94F}" type="pres">
      <dgm:prSet presAssocID="{5B74D2EB-C74A-40C5-8F22-247CECF4376E}" presName="negativeSpace" presStyleCnt="0"/>
      <dgm:spPr/>
    </dgm:pt>
    <dgm:pt modelId="{A6BF9C2B-F8D6-4F36-A4F9-1A6F39806434}" type="pres">
      <dgm:prSet presAssocID="{5B74D2EB-C74A-40C5-8F22-247CECF4376E}" presName="childText" presStyleLbl="conFgAcc1" presStyleIdx="3" presStyleCnt="4">
        <dgm:presLayoutVars>
          <dgm:bulletEnabled val="1"/>
        </dgm:presLayoutVars>
      </dgm:prSet>
      <dgm:spPr/>
    </dgm:pt>
  </dgm:ptLst>
  <dgm:cxnLst>
    <dgm:cxn modelId="{6FBDB909-4D4D-4984-95A0-99ED1964806C}" type="presOf" srcId="{016D5837-BE41-4FD2-9C04-4F5DC96C2932}" destId="{A220DC54-EC0A-483D-9E17-42064559B6EB}" srcOrd="0" destOrd="0" presId="urn:microsoft.com/office/officeart/2005/8/layout/list1"/>
    <dgm:cxn modelId="{0B3DA617-6BC8-4E88-BFFE-C6899585574C}" srcId="{2118BDA0-DF43-4FB9-952A-DF6E2820A68E}" destId="{AAB40E56-B72D-4C9D-A3C2-66F6BCB7D65C}" srcOrd="0" destOrd="0" parTransId="{19A0E88F-D8F6-4C7B-A2D7-C6672F852884}" sibTransId="{9ECF3738-E88C-4E61-80AC-9F244434978F}"/>
    <dgm:cxn modelId="{038D192C-650F-4B15-AD3C-18D0B3EF2D58}" type="presOf" srcId="{5B74D2EB-C74A-40C5-8F22-247CECF4376E}" destId="{412D996C-479A-4DD0-9189-C6E5C1707541}" srcOrd="1" destOrd="0" presId="urn:microsoft.com/office/officeart/2005/8/layout/list1"/>
    <dgm:cxn modelId="{EEF66931-53A3-491B-B19B-6AD44739DF9D}" srcId="{D9FAA352-7AFA-493C-ADD7-BA8644899760}" destId="{04AE29D7-6DA9-47F2-A3AE-0BCDD4676859}" srcOrd="1" destOrd="0" parTransId="{A337E18A-6EB7-4237-8E54-5EC4DC884A86}" sibTransId="{B2B4BA02-17FE-45DC-A498-B627CC840031}"/>
    <dgm:cxn modelId="{93BCBE38-41AA-4D07-AD19-50AF9554F358}" type="presOf" srcId="{2118BDA0-DF43-4FB9-952A-DF6E2820A68E}" destId="{B1DE31D1-9C39-4B8B-8BA1-ED3EAA68A761}" srcOrd="0" destOrd="0" presId="urn:microsoft.com/office/officeart/2005/8/layout/list1"/>
    <dgm:cxn modelId="{6D357D42-7A52-4915-B396-26EA6B9A3D10}" srcId="{D9FAA352-7AFA-493C-ADD7-BA8644899760}" destId="{8884A856-02E4-485D-9242-E8CB39E52A6C}" srcOrd="0" destOrd="0" parTransId="{7AEBA005-3887-44F3-A4FC-F9BE2AC6A25E}" sibTransId="{EE52453B-595A-471D-BBB8-9870FED10500}"/>
    <dgm:cxn modelId="{2EFB356B-62D0-4CDF-9DE7-D29C9D6BB4F9}" type="presOf" srcId="{81B0AD89-8D6B-4547-A093-CFC54874C3A0}" destId="{52A67DA2-4E26-4980-9F6B-A23FCF168289}" srcOrd="0" destOrd="2" presId="urn:microsoft.com/office/officeart/2005/8/layout/list1"/>
    <dgm:cxn modelId="{7742B952-5FB3-4FA9-9685-6478B19849D6}" type="presOf" srcId="{016D5837-BE41-4FD2-9C04-4F5DC96C2932}" destId="{33015B47-B6BE-4338-8DC7-0AC48B4CEDA1}" srcOrd="1" destOrd="0" presId="urn:microsoft.com/office/officeart/2005/8/layout/list1"/>
    <dgm:cxn modelId="{D8DBFA9E-2354-4638-B264-4287FAB1B2F0}" type="presOf" srcId="{5B74D2EB-C74A-40C5-8F22-247CECF4376E}" destId="{2FDB212C-94C7-48DF-B296-BB27B3562B61}" srcOrd="0" destOrd="0" presId="urn:microsoft.com/office/officeart/2005/8/layout/list1"/>
    <dgm:cxn modelId="{DC7442A4-C3E6-4F6B-85FA-C54B714D6A7D}" srcId="{2118BDA0-DF43-4FB9-952A-DF6E2820A68E}" destId="{016D5837-BE41-4FD2-9C04-4F5DC96C2932}" srcOrd="1" destOrd="0" parTransId="{D6492266-FE1D-4D09-975E-E291CBD90C24}" sibTransId="{19BEAEA7-1084-49DE-BE6F-F991041127CA}"/>
    <dgm:cxn modelId="{E20F24A6-113F-4B96-AEEE-B4DF2F9CB39E}" type="presOf" srcId="{AAB40E56-B72D-4C9D-A3C2-66F6BCB7D65C}" destId="{D6F21452-6145-4DFF-891B-B10196625344}" srcOrd="1" destOrd="0" presId="urn:microsoft.com/office/officeart/2005/8/layout/list1"/>
    <dgm:cxn modelId="{A1EEF8BC-2D43-42BC-9020-0FDAE95313EF}" type="presOf" srcId="{D9FAA352-7AFA-493C-ADD7-BA8644899760}" destId="{C96958E3-1956-421D-B354-A608C581062D}" srcOrd="0" destOrd="0" presId="urn:microsoft.com/office/officeart/2005/8/layout/list1"/>
    <dgm:cxn modelId="{E608C3C5-96BF-400E-847B-CA03EE507DF1}" type="presOf" srcId="{D9FAA352-7AFA-493C-ADD7-BA8644899760}" destId="{19F97C7F-EDEE-48DA-86B4-C1EFCBB7267F}" srcOrd="1" destOrd="0" presId="urn:microsoft.com/office/officeart/2005/8/layout/list1"/>
    <dgm:cxn modelId="{560488C6-EAF0-4FA7-A9FC-59792233D719}" type="presOf" srcId="{AAB40E56-B72D-4C9D-A3C2-66F6BCB7D65C}" destId="{EB4E757C-E792-4CB2-9926-AC1E1CC8F577}" srcOrd="0" destOrd="0" presId="urn:microsoft.com/office/officeart/2005/8/layout/list1"/>
    <dgm:cxn modelId="{F2455CE5-F978-4799-9A0D-FF184A979961}" type="presOf" srcId="{04AE29D7-6DA9-47F2-A3AE-0BCDD4676859}" destId="{52A67DA2-4E26-4980-9F6B-A23FCF168289}" srcOrd="0" destOrd="1" presId="urn:microsoft.com/office/officeart/2005/8/layout/list1"/>
    <dgm:cxn modelId="{9D6E6CEC-1825-47F4-A015-D488855689E5}" srcId="{2118BDA0-DF43-4FB9-952A-DF6E2820A68E}" destId="{D9FAA352-7AFA-493C-ADD7-BA8644899760}" srcOrd="2" destOrd="0" parTransId="{735EC285-E975-41DC-98FB-F4ED7BEB9365}" sibTransId="{0FAB319E-AADE-4263-AAF4-C803D936A286}"/>
    <dgm:cxn modelId="{64104EF4-43F8-435B-87BB-BB44389A9B12}" type="presOf" srcId="{8884A856-02E4-485D-9242-E8CB39E52A6C}" destId="{52A67DA2-4E26-4980-9F6B-A23FCF168289}" srcOrd="0" destOrd="0" presId="urn:microsoft.com/office/officeart/2005/8/layout/list1"/>
    <dgm:cxn modelId="{FCCF21F5-8CC0-47EA-A698-B7F2D4923098}" srcId="{D9FAA352-7AFA-493C-ADD7-BA8644899760}" destId="{81B0AD89-8D6B-4547-A093-CFC54874C3A0}" srcOrd="2" destOrd="0" parTransId="{B1CB5274-49E2-468D-9126-B5AB550895AD}" sibTransId="{EEA75259-FB08-410E-8F81-8AEBDB70D654}"/>
    <dgm:cxn modelId="{6CC141F7-CCBE-4102-83B8-32069EB383D4}" srcId="{2118BDA0-DF43-4FB9-952A-DF6E2820A68E}" destId="{5B74D2EB-C74A-40C5-8F22-247CECF4376E}" srcOrd="3" destOrd="0" parTransId="{C93778DA-A263-4333-A90B-19349ECF97DC}" sibTransId="{BEDF0C48-0DC9-49F8-A987-1CD59D9F9A58}"/>
    <dgm:cxn modelId="{111CFDF1-55EE-4F4C-825A-3BC962DD7942}" type="presParOf" srcId="{B1DE31D1-9C39-4B8B-8BA1-ED3EAA68A761}" destId="{C8209856-5CB8-47CC-AEBB-DE8151209757}" srcOrd="0" destOrd="0" presId="urn:microsoft.com/office/officeart/2005/8/layout/list1"/>
    <dgm:cxn modelId="{786CD4E7-BEF9-4CA6-B81D-3C0E5AB0CB5D}" type="presParOf" srcId="{C8209856-5CB8-47CC-AEBB-DE8151209757}" destId="{EB4E757C-E792-4CB2-9926-AC1E1CC8F577}" srcOrd="0" destOrd="0" presId="urn:microsoft.com/office/officeart/2005/8/layout/list1"/>
    <dgm:cxn modelId="{92F0D2A9-2B54-48A7-B81E-E88040CED280}" type="presParOf" srcId="{C8209856-5CB8-47CC-AEBB-DE8151209757}" destId="{D6F21452-6145-4DFF-891B-B10196625344}" srcOrd="1" destOrd="0" presId="urn:microsoft.com/office/officeart/2005/8/layout/list1"/>
    <dgm:cxn modelId="{A0CBD16A-E533-4526-B860-DA7709191331}" type="presParOf" srcId="{B1DE31D1-9C39-4B8B-8BA1-ED3EAA68A761}" destId="{0F7A2ED8-1DD1-477D-A848-547B3ADC68BA}" srcOrd="1" destOrd="0" presId="urn:microsoft.com/office/officeart/2005/8/layout/list1"/>
    <dgm:cxn modelId="{3A72EE75-D691-4A9A-AA7A-8901DB227763}" type="presParOf" srcId="{B1DE31D1-9C39-4B8B-8BA1-ED3EAA68A761}" destId="{8D331907-EEB0-4A9E-9700-A95B69F9527C}" srcOrd="2" destOrd="0" presId="urn:microsoft.com/office/officeart/2005/8/layout/list1"/>
    <dgm:cxn modelId="{7F509CB6-8B92-4C4E-8823-94D34DBFE763}" type="presParOf" srcId="{B1DE31D1-9C39-4B8B-8BA1-ED3EAA68A761}" destId="{2D363B00-6238-4CD8-8C48-58188590A44A}" srcOrd="3" destOrd="0" presId="urn:microsoft.com/office/officeart/2005/8/layout/list1"/>
    <dgm:cxn modelId="{E5604328-8183-4BC0-B0B4-E4B35538BB7A}" type="presParOf" srcId="{B1DE31D1-9C39-4B8B-8BA1-ED3EAA68A761}" destId="{C5192DD3-1A2C-471D-925F-698624A954B3}" srcOrd="4" destOrd="0" presId="urn:microsoft.com/office/officeart/2005/8/layout/list1"/>
    <dgm:cxn modelId="{62D56ED4-B913-4D6B-87FE-756C3A556597}" type="presParOf" srcId="{C5192DD3-1A2C-471D-925F-698624A954B3}" destId="{A220DC54-EC0A-483D-9E17-42064559B6EB}" srcOrd="0" destOrd="0" presId="urn:microsoft.com/office/officeart/2005/8/layout/list1"/>
    <dgm:cxn modelId="{DD0DE8A1-A198-4BB0-B731-1BB515CBE948}" type="presParOf" srcId="{C5192DD3-1A2C-471D-925F-698624A954B3}" destId="{33015B47-B6BE-4338-8DC7-0AC48B4CEDA1}" srcOrd="1" destOrd="0" presId="urn:microsoft.com/office/officeart/2005/8/layout/list1"/>
    <dgm:cxn modelId="{576C896E-F5F8-4F49-9371-FF4791EE1E76}" type="presParOf" srcId="{B1DE31D1-9C39-4B8B-8BA1-ED3EAA68A761}" destId="{D3997CB0-F8EE-4879-B5C4-5761AA725414}" srcOrd="5" destOrd="0" presId="urn:microsoft.com/office/officeart/2005/8/layout/list1"/>
    <dgm:cxn modelId="{653C6696-55A1-4189-84CD-328C0F5351FD}" type="presParOf" srcId="{B1DE31D1-9C39-4B8B-8BA1-ED3EAA68A761}" destId="{CA2B655C-744C-4AD2-8FF1-8D2B0152EA3D}" srcOrd="6" destOrd="0" presId="urn:microsoft.com/office/officeart/2005/8/layout/list1"/>
    <dgm:cxn modelId="{1B4658A0-095F-47B6-81E7-EAC0B81A2D46}" type="presParOf" srcId="{B1DE31D1-9C39-4B8B-8BA1-ED3EAA68A761}" destId="{BA6A3C3A-2FDC-47AB-BAA1-C3783F6F6353}" srcOrd="7" destOrd="0" presId="urn:microsoft.com/office/officeart/2005/8/layout/list1"/>
    <dgm:cxn modelId="{698B72CB-6C8F-40A0-A2B2-CDF9A3428BA6}" type="presParOf" srcId="{B1DE31D1-9C39-4B8B-8BA1-ED3EAA68A761}" destId="{D10A12D6-0395-44A9-9080-3999DFEF45B1}" srcOrd="8" destOrd="0" presId="urn:microsoft.com/office/officeart/2005/8/layout/list1"/>
    <dgm:cxn modelId="{31A2F993-207B-4D2C-A1AF-911B0990C461}" type="presParOf" srcId="{D10A12D6-0395-44A9-9080-3999DFEF45B1}" destId="{C96958E3-1956-421D-B354-A608C581062D}" srcOrd="0" destOrd="0" presId="urn:microsoft.com/office/officeart/2005/8/layout/list1"/>
    <dgm:cxn modelId="{0ABF717C-E6E5-4DA7-95C0-8F9FFCE87C27}" type="presParOf" srcId="{D10A12D6-0395-44A9-9080-3999DFEF45B1}" destId="{19F97C7F-EDEE-48DA-86B4-C1EFCBB7267F}" srcOrd="1" destOrd="0" presId="urn:microsoft.com/office/officeart/2005/8/layout/list1"/>
    <dgm:cxn modelId="{D72A517A-073B-4209-999B-4B3752CE6AB6}" type="presParOf" srcId="{B1DE31D1-9C39-4B8B-8BA1-ED3EAA68A761}" destId="{B1251242-5702-4BF6-BC44-A1D7E379570E}" srcOrd="9" destOrd="0" presId="urn:microsoft.com/office/officeart/2005/8/layout/list1"/>
    <dgm:cxn modelId="{CE99AC68-B65E-4CCC-B5AC-6005AEE3F1CA}" type="presParOf" srcId="{B1DE31D1-9C39-4B8B-8BA1-ED3EAA68A761}" destId="{52A67DA2-4E26-4980-9F6B-A23FCF168289}" srcOrd="10" destOrd="0" presId="urn:microsoft.com/office/officeart/2005/8/layout/list1"/>
    <dgm:cxn modelId="{87B27F8F-DDA6-4A88-9CEA-05B63278881C}" type="presParOf" srcId="{B1DE31D1-9C39-4B8B-8BA1-ED3EAA68A761}" destId="{8884473B-4F19-4FCE-99AE-70418F3A6BA3}" srcOrd="11" destOrd="0" presId="urn:microsoft.com/office/officeart/2005/8/layout/list1"/>
    <dgm:cxn modelId="{8FF2E2CC-7698-4F7D-9E06-6BC2802FD19B}" type="presParOf" srcId="{B1DE31D1-9C39-4B8B-8BA1-ED3EAA68A761}" destId="{71E21EAC-B5F2-4253-A5C3-ABB0002F2EDC}" srcOrd="12" destOrd="0" presId="urn:microsoft.com/office/officeart/2005/8/layout/list1"/>
    <dgm:cxn modelId="{55A024D2-3B8E-4C3F-8720-3A7054550703}" type="presParOf" srcId="{71E21EAC-B5F2-4253-A5C3-ABB0002F2EDC}" destId="{2FDB212C-94C7-48DF-B296-BB27B3562B61}" srcOrd="0" destOrd="0" presId="urn:microsoft.com/office/officeart/2005/8/layout/list1"/>
    <dgm:cxn modelId="{C911B8E0-D1A8-4CF2-8475-5F95988AD898}" type="presParOf" srcId="{71E21EAC-B5F2-4253-A5C3-ABB0002F2EDC}" destId="{412D996C-479A-4DD0-9189-C6E5C1707541}" srcOrd="1" destOrd="0" presId="urn:microsoft.com/office/officeart/2005/8/layout/list1"/>
    <dgm:cxn modelId="{B5E1F1FA-8BCD-4FBD-A4A5-82531D063DD6}" type="presParOf" srcId="{B1DE31D1-9C39-4B8B-8BA1-ED3EAA68A761}" destId="{957D781A-A942-4424-A629-6DA753A5C94F}" srcOrd="13" destOrd="0" presId="urn:microsoft.com/office/officeart/2005/8/layout/list1"/>
    <dgm:cxn modelId="{5F893037-02E5-449D-8C0D-3B4C1F7A01B8}" type="presParOf" srcId="{B1DE31D1-9C39-4B8B-8BA1-ED3EAA68A761}" destId="{A6BF9C2B-F8D6-4F36-A4F9-1A6F39806434}"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C28C2-FBCA-40E4-AE33-8035C46788C1}">
      <dsp:nvSpPr>
        <dsp:cNvPr id="0" name=""/>
        <dsp:cNvSpPr/>
      </dsp:nvSpPr>
      <dsp:spPr>
        <a:xfrm>
          <a:off x="2455324" y="1725463"/>
          <a:ext cx="91440" cy="788994"/>
        </a:xfrm>
        <a:custGeom>
          <a:avLst/>
          <a:gdLst/>
          <a:ahLst/>
          <a:cxnLst/>
          <a:rect l="0" t="0" r="0" b="0"/>
          <a:pathLst>
            <a:path>
              <a:moveTo>
                <a:pt x="45720" y="0"/>
              </a:moveTo>
              <a:lnTo>
                <a:pt x="45720" y="78899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D5DA56-32F7-47B9-BBB5-4328787CD8A7}">
      <dsp:nvSpPr>
        <dsp:cNvPr id="0" name=""/>
        <dsp:cNvSpPr/>
      </dsp:nvSpPr>
      <dsp:spPr>
        <a:xfrm>
          <a:off x="1144607" y="2787"/>
          <a:ext cx="2712874" cy="172267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164349B5-64B5-4F9D-A8EF-B43698EC5A88}">
      <dsp:nvSpPr>
        <dsp:cNvPr id="0" name=""/>
        <dsp:cNvSpPr/>
      </dsp:nvSpPr>
      <dsp:spPr>
        <a:xfrm>
          <a:off x="1446037" y="289146"/>
          <a:ext cx="2712874" cy="17226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PHÂN LOẠI CHỦ ĐỀ BÀI BÁO DỰA TRÊN  TIÊU ĐỀ, MÔ TẢ VÀ NỘI DUNG</a:t>
          </a:r>
          <a:endParaRPr lang="en-US" sz="2400" kern="1200"/>
        </a:p>
      </dsp:txBody>
      <dsp:txXfrm>
        <a:off x="1496492" y="339601"/>
        <a:ext cx="2611964" cy="1621765"/>
      </dsp:txXfrm>
    </dsp:sp>
    <dsp:sp modelId="{71288355-BF83-4FF2-8F2E-CAD8A599D695}">
      <dsp:nvSpPr>
        <dsp:cNvPr id="0" name=""/>
        <dsp:cNvSpPr/>
      </dsp:nvSpPr>
      <dsp:spPr>
        <a:xfrm>
          <a:off x="1144607" y="2514457"/>
          <a:ext cx="2712874" cy="172267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426F80A5-DB23-4634-9D2E-A78342CF485A}">
      <dsp:nvSpPr>
        <dsp:cNvPr id="0" name=""/>
        <dsp:cNvSpPr/>
      </dsp:nvSpPr>
      <dsp:spPr>
        <a:xfrm>
          <a:off x="1446037" y="2800816"/>
          <a:ext cx="2712874" cy="172267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Lê Hải Khoa</a:t>
          </a:r>
          <a:br>
            <a:rPr lang="en-US" sz="2400" kern="1200"/>
          </a:br>
          <a:r>
            <a:rPr lang="en-US" sz="2400" kern="1200"/>
            <a:t>Nguyễn Đức Nhã</a:t>
          </a:r>
        </a:p>
      </dsp:txBody>
      <dsp:txXfrm>
        <a:off x="1496492" y="2851271"/>
        <a:ext cx="2611964" cy="16217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331907-EEB0-4A9E-9700-A95B69F9527C}">
      <dsp:nvSpPr>
        <dsp:cNvPr id="0" name=""/>
        <dsp:cNvSpPr/>
      </dsp:nvSpPr>
      <dsp:spPr>
        <a:xfrm>
          <a:off x="0" y="589319"/>
          <a:ext cx="5303520" cy="428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6F21452-6145-4DFF-891B-B10196625344}">
      <dsp:nvSpPr>
        <dsp:cNvPr id="0" name=""/>
        <dsp:cNvSpPr/>
      </dsp:nvSpPr>
      <dsp:spPr>
        <a:xfrm>
          <a:off x="265176" y="338399"/>
          <a:ext cx="3712464" cy="50184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0322" tIns="0" rIns="140322" bIns="0" numCol="1" spcCol="1270" anchor="ctr" anchorCtr="0">
          <a:noAutofit/>
        </a:bodyPr>
        <a:lstStyle/>
        <a:p>
          <a:pPr marL="0" lvl="0" indent="0" algn="l" defTabSz="755650">
            <a:lnSpc>
              <a:spcPct val="90000"/>
            </a:lnSpc>
            <a:spcBef>
              <a:spcPct val="0"/>
            </a:spcBef>
            <a:spcAft>
              <a:spcPct val="35000"/>
            </a:spcAft>
            <a:buNone/>
          </a:pPr>
          <a:r>
            <a:rPr lang="en-US" sz="1700" kern="1200"/>
            <a:t>Tổng quan đề tài</a:t>
          </a:r>
        </a:p>
      </dsp:txBody>
      <dsp:txXfrm>
        <a:off x="289674" y="362897"/>
        <a:ext cx="3663468" cy="452844"/>
      </dsp:txXfrm>
    </dsp:sp>
    <dsp:sp modelId="{CA2B655C-744C-4AD2-8FF1-8D2B0152EA3D}">
      <dsp:nvSpPr>
        <dsp:cNvPr id="0" name=""/>
        <dsp:cNvSpPr/>
      </dsp:nvSpPr>
      <dsp:spPr>
        <a:xfrm>
          <a:off x="0" y="1360440"/>
          <a:ext cx="5303520" cy="428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015B47-B6BE-4338-8DC7-0AC48B4CEDA1}">
      <dsp:nvSpPr>
        <dsp:cNvPr id="0" name=""/>
        <dsp:cNvSpPr/>
      </dsp:nvSpPr>
      <dsp:spPr>
        <a:xfrm>
          <a:off x="265176" y="1109520"/>
          <a:ext cx="3712464" cy="50184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0322" tIns="0" rIns="140322" bIns="0" numCol="1" spcCol="1270" anchor="ctr" anchorCtr="0">
          <a:noAutofit/>
        </a:bodyPr>
        <a:lstStyle/>
        <a:p>
          <a:pPr marL="0" lvl="0" indent="0" algn="l" defTabSz="755650">
            <a:lnSpc>
              <a:spcPct val="90000"/>
            </a:lnSpc>
            <a:spcBef>
              <a:spcPct val="0"/>
            </a:spcBef>
            <a:spcAft>
              <a:spcPct val="35000"/>
            </a:spcAft>
            <a:buNone/>
          </a:pPr>
          <a:r>
            <a:rPr lang="en-US" sz="1700" kern="1200"/>
            <a:t>Trích xuất đặc trưng</a:t>
          </a:r>
        </a:p>
      </dsp:txBody>
      <dsp:txXfrm>
        <a:off x="289674" y="1134018"/>
        <a:ext cx="3663468" cy="452844"/>
      </dsp:txXfrm>
    </dsp:sp>
    <dsp:sp modelId="{52A67DA2-4E26-4980-9F6B-A23FCF168289}">
      <dsp:nvSpPr>
        <dsp:cNvPr id="0" name=""/>
        <dsp:cNvSpPr/>
      </dsp:nvSpPr>
      <dsp:spPr>
        <a:xfrm>
          <a:off x="0" y="2131560"/>
          <a:ext cx="5303520" cy="128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1612" tIns="354076" rIns="411612"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Random Forest</a:t>
          </a:r>
        </a:p>
        <a:p>
          <a:pPr marL="171450" lvl="1" indent="-171450" algn="l" defTabSz="755650">
            <a:lnSpc>
              <a:spcPct val="90000"/>
            </a:lnSpc>
            <a:spcBef>
              <a:spcPct val="0"/>
            </a:spcBef>
            <a:spcAft>
              <a:spcPct val="15000"/>
            </a:spcAft>
            <a:buChar char="•"/>
          </a:pPr>
          <a:r>
            <a:rPr lang="en-US" sz="1700" kern="1200" dirty="0"/>
            <a:t>Logistic Regression</a:t>
          </a:r>
        </a:p>
        <a:p>
          <a:pPr marL="171450" lvl="1" indent="-171450" algn="l" defTabSz="755650">
            <a:lnSpc>
              <a:spcPct val="90000"/>
            </a:lnSpc>
            <a:spcBef>
              <a:spcPct val="0"/>
            </a:spcBef>
            <a:spcAft>
              <a:spcPct val="15000"/>
            </a:spcAft>
            <a:buChar char="•"/>
          </a:pPr>
          <a:r>
            <a:rPr lang="en-US" sz="1700" kern="1200" dirty="0"/>
            <a:t>Layer Perceptron</a:t>
          </a:r>
        </a:p>
      </dsp:txBody>
      <dsp:txXfrm>
        <a:off x="0" y="2131560"/>
        <a:ext cx="5303520" cy="1285200"/>
      </dsp:txXfrm>
    </dsp:sp>
    <dsp:sp modelId="{19F97C7F-EDEE-48DA-86B4-C1EFCBB7267F}">
      <dsp:nvSpPr>
        <dsp:cNvPr id="0" name=""/>
        <dsp:cNvSpPr/>
      </dsp:nvSpPr>
      <dsp:spPr>
        <a:xfrm>
          <a:off x="265176" y="1880640"/>
          <a:ext cx="3712464" cy="50184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0322" tIns="0" rIns="140322" bIns="0" numCol="1" spcCol="1270" anchor="ctr" anchorCtr="0">
          <a:noAutofit/>
        </a:bodyPr>
        <a:lstStyle/>
        <a:p>
          <a:pPr marL="0" lvl="0" indent="0" algn="l" defTabSz="755650">
            <a:lnSpc>
              <a:spcPct val="90000"/>
            </a:lnSpc>
            <a:spcBef>
              <a:spcPct val="0"/>
            </a:spcBef>
            <a:spcAft>
              <a:spcPct val="35000"/>
            </a:spcAft>
            <a:buNone/>
          </a:pPr>
          <a:r>
            <a:rPr lang="en-US" sz="1700" kern="1200"/>
            <a:t>Các mô hình/phương pháp phân loại</a:t>
          </a:r>
        </a:p>
      </dsp:txBody>
      <dsp:txXfrm>
        <a:off x="289674" y="1905138"/>
        <a:ext cx="3663468" cy="452844"/>
      </dsp:txXfrm>
    </dsp:sp>
    <dsp:sp modelId="{A6BF9C2B-F8D6-4F36-A4F9-1A6F39806434}">
      <dsp:nvSpPr>
        <dsp:cNvPr id="0" name=""/>
        <dsp:cNvSpPr/>
      </dsp:nvSpPr>
      <dsp:spPr>
        <a:xfrm>
          <a:off x="0" y="3759480"/>
          <a:ext cx="5303520" cy="428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2D996C-479A-4DD0-9189-C6E5C1707541}">
      <dsp:nvSpPr>
        <dsp:cNvPr id="0" name=""/>
        <dsp:cNvSpPr/>
      </dsp:nvSpPr>
      <dsp:spPr>
        <a:xfrm>
          <a:off x="265176" y="3508560"/>
          <a:ext cx="3712464" cy="50184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0322" tIns="0" rIns="140322" bIns="0" numCol="1" spcCol="1270" anchor="ctr" anchorCtr="0">
          <a:noAutofit/>
        </a:bodyPr>
        <a:lstStyle/>
        <a:p>
          <a:pPr marL="0" lvl="0" indent="0" algn="l" defTabSz="755650">
            <a:lnSpc>
              <a:spcPct val="90000"/>
            </a:lnSpc>
            <a:spcBef>
              <a:spcPct val="0"/>
            </a:spcBef>
            <a:spcAft>
              <a:spcPct val="35000"/>
            </a:spcAft>
            <a:buNone/>
          </a:pPr>
          <a:r>
            <a:rPr lang="en-US" sz="1700" kern="1200"/>
            <a:t>Thực nghiệm và kết luận</a:t>
          </a:r>
        </a:p>
      </dsp:txBody>
      <dsp:txXfrm>
        <a:off x="289674" y="3533058"/>
        <a:ext cx="3663468"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613251"/>
            <a:ext cx="3802379" cy="391159"/>
          </a:xfrm>
          <a:prstGeom prst="rect">
            <a:avLst/>
          </a:prstGeom>
        </p:spPr>
        <p:txBody>
          <a:bodyPr wrap="square" lIns="0" tIns="0" rIns="0" bIns="0">
            <a:spAutoFit/>
          </a:bodyPr>
          <a:lstStyle>
            <a:lvl1pPr>
              <a:defRPr sz="2400" b="1" i="0">
                <a:solidFill>
                  <a:srgbClr val="205F9A"/>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05F9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05F9A"/>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05F9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DCEAF7">
              <a:alpha val="19999"/>
            </a:srgbClr>
          </a:solidFill>
        </p:spPr>
        <p:txBody>
          <a:bodyPr wrap="square" lIns="0" tIns="0" rIns="0" bIns="0" rtlCol="0"/>
          <a:lstStyle/>
          <a:p>
            <a:endParaRPr/>
          </a:p>
        </p:txBody>
      </p:sp>
      <p:sp>
        <p:nvSpPr>
          <p:cNvPr id="2" name="Holder 2"/>
          <p:cNvSpPr>
            <a:spLocks noGrp="1"/>
          </p:cNvSpPr>
          <p:nvPr>
            <p:ph type="title"/>
          </p:nvPr>
        </p:nvSpPr>
        <p:spPr>
          <a:xfrm>
            <a:off x="916939" y="516604"/>
            <a:ext cx="3802379" cy="391159"/>
          </a:xfrm>
          <a:prstGeom prst="rect">
            <a:avLst/>
          </a:prstGeom>
        </p:spPr>
        <p:txBody>
          <a:bodyPr wrap="square" lIns="0" tIns="0" rIns="0" bIns="0">
            <a:spAutoFit/>
          </a:bodyPr>
          <a:lstStyle>
            <a:lvl1pPr>
              <a:defRPr sz="2400" b="1" i="0">
                <a:solidFill>
                  <a:srgbClr val="205F9A"/>
                </a:solidFill>
                <a:latin typeface="Calibri"/>
                <a:cs typeface="Calibri"/>
              </a:defRPr>
            </a:lvl1pPr>
          </a:lstStyle>
          <a:p>
            <a:endParaRPr/>
          </a:p>
        </p:txBody>
      </p:sp>
      <p:sp>
        <p:nvSpPr>
          <p:cNvPr id="3" name="Holder 3"/>
          <p:cNvSpPr>
            <a:spLocks noGrp="1"/>
          </p:cNvSpPr>
          <p:nvPr>
            <p:ph type="body" idx="1"/>
          </p:nvPr>
        </p:nvSpPr>
        <p:spPr>
          <a:xfrm>
            <a:off x="948894" y="2804602"/>
            <a:ext cx="5295265" cy="20828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g"/><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6"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516604"/>
            <a:ext cx="3802379" cy="391159"/>
          </a:xfrm>
        </p:spPr>
        <p:txBody>
          <a:bodyPr vert="horz" wrap="square" lIns="0" tIns="0" rIns="0" bIns="0" rtlCol="0">
            <a:normAutofit/>
          </a:bodyPr>
          <a:lstStyle/>
          <a:p>
            <a:pPr marL="12700">
              <a:lnSpc>
                <a:spcPct val="90000"/>
              </a:lnSpc>
              <a:spcBef>
                <a:spcPts val="100"/>
              </a:spcBef>
            </a:pPr>
            <a:r>
              <a:rPr lang="vi-VN" sz="2000" b="1" i="0" spc="-160">
                <a:latin typeface="Calibri"/>
                <a:ea typeface="+mj-ea"/>
                <a:cs typeface="Calibri"/>
              </a:rPr>
              <a:t>BÁO </a:t>
            </a:r>
            <a:r>
              <a:rPr lang="vi-VN" sz="2000" b="1" i="0" spc="-130">
                <a:latin typeface="Calibri"/>
                <a:ea typeface="+mj-ea"/>
                <a:cs typeface="Calibri"/>
              </a:rPr>
              <a:t>CÁO </a:t>
            </a:r>
            <a:r>
              <a:rPr lang="vi-VN" sz="2000" b="1" i="0" spc="-90">
                <a:latin typeface="Calibri"/>
                <a:ea typeface="+mj-ea"/>
                <a:cs typeface="Calibri"/>
              </a:rPr>
              <a:t>MÔN </a:t>
            </a:r>
            <a:r>
              <a:rPr lang="vi-VN" sz="2000" b="1" i="0" spc="-80">
                <a:latin typeface="Calibri"/>
                <a:ea typeface="+mj-ea"/>
                <a:cs typeface="Calibri"/>
              </a:rPr>
              <a:t>HỌC </a:t>
            </a:r>
            <a:r>
              <a:rPr lang="vi-VN" sz="2000" b="1" i="0" spc="-160">
                <a:latin typeface="Calibri"/>
                <a:ea typeface="+mj-ea"/>
                <a:cs typeface="Calibri"/>
              </a:rPr>
              <a:t>KHOA </a:t>
            </a:r>
            <a:r>
              <a:rPr lang="vi-VN" sz="2000" b="1" i="0" spc="-80">
                <a:latin typeface="Calibri"/>
                <a:ea typeface="+mj-ea"/>
                <a:cs typeface="Calibri"/>
              </a:rPr>
              <a:t>HỌC</a:t>
            </a:r>
            <a:r>
              <a:rPr lang="vi-VN" sz="2000" b="1" i="0" spc="-434">
                <a:latin typeface="Calibri"/>
                <a:ea typeface="+mj-ea"/>
                <a:cs typeface="Calibri"/>
              </a:rPr>
              <a:t> </a:t>
            </a:r>
            <a:r>
              <a:rPr lang="vi-VN" sz="2000" b="1" i="0" spc="-170">
                <a:latin typeface="Calibri"/>
                <a:ea typeface="+mj-ea"/>
                <a:cs typeface="Calibri"/>
              </a:rPr>
              <a:t>DỮ </a:t>
            </a:r>
            <a:r>
              <a:rPr lang="vi-VN" sz="2000" b="1" i="0" spc="-140">
                <a:latin typeface="Calibri"/>
                <a:ea typeface="+mj-ea"/>
                <a:cs typeface="Calibri"/>
              </a:rPr>
              <a:t>LIỆU</a:t>
            </a:r>
          </a:p>
        </p:txBody>
      </p:sp>
      <p:pic>
        <p:nvPicPr>
          <p:cNvPr id="6" name="Chỗ dành sẵn cho Nội dung 5" descr="Ảnh có chứa ảnh chụp màn hình, màu xanh lam&#10;&#10;Nội dung do AI tạo ra có thể không chính xác.">
            <a:extLst>
              <a:ext uri="{FF2B5EF4-FFF2-40B4-BE49-F238E27FC236}">
                <a16:creationId xmlns:a16="http://schemas.microsoft.com/office/drawing/2014/main" id="{2815C48B-3727-C6CA-A8CB-56A9003B819C}"/>
              </a:ext>
            </a:extLst>
          </p:cNvPr>
          <p:cNvPicPr>
            <a:picLocks noGrp="1" noChangeAspect="1"/>
          </p:cNvPicPr>
          <p:nvPr>
            <p:ph sz="half" idx="3"/>
          </p:nvPr>
        </p:nvPicPr>
        <p:blipFill>
          <a:blip r:embed="rId2" cstate="print">
            <a:extLst>
              <a:ext uri="{28A0092B-C50C-407E-A947-70E740481C1C}">
                <a14:useLocalDpi xmlns:a14="http://schemas.microsoft.com/office/drawing/2010/main" val="0"/>
              </a:ext>
            </a:extLst>
          </a:blip>
          <a:stretch>
            <a:fillRect/>
          </a:stretch>
        </p:blipFill>
        <p:spPr>
          <a:xfrm>
            <a:off x="6278563" y="1676400"/>
            <a:ext cx="5303837" cy="4191000"/>
          </a:xfrm>
        </p:spPr>
      </p:pic>
      <p:graphicFrame>
        <p:nvGraphicFramePr>
          <p:cNvPr id="5" name="object 3">
            <a:extLst>
              <a:ext uri="{FF2B5EF4-FFF2-40B4-BE49-F238E27FC236}">
                <a16:creationId xmlns:a16="http://schemas.microsoft.com/office/drawing/2014/main" id="{D1CB42A8-59E5-7C7F-1751-ECB95D7C608C}"/>
              </a:ext>
            </a:extLst>
          </p:cNvPr>
          <p:cNvGraphicFramePr/>
          <p:nvPr>
            <p:extLst>
              <p:ext uri="{D42A27DB-BD31-4B8C-83A1-F6EECF244321}">
                <p14:modId xmlns:p14="http://schemas.microsoft.com/office/powerpoint/2010/main" val="843872662"/>
              </p:ext>
            </p:extLst>
          </p:nvPr>
        </p:nvGraphicFramePr>
        <p:xfrm>
          <a:off x="609600" y="1577340"/>
          <a:ext cx="5303520" cy="4526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516604"/>
            <a:ext cx="3802379" cy="391159"/>
          </a:xfrm>
        </p:spPr>
        <p:txBody>
          <a:bodyPr vert="horz" wrap="square" lIns="0" tIns="0" rIns="0" bIns="0" rtlCol="0">
            <a:normAutofit/>
          </a:bodyPr>
          <a:lstStyle/>
          <a:p>
            <a:pPr marL="12700">
              <a:spcBef>
                <a:spcPts val="105"/>
              </a:spcBef>
            </a:pPr>
            <a:r>
              <a:rPr lang="vi-VN" b="1" i="0" spc="95">
                <a:latin typeface="Calibri"/>
                <a:ea typeface="+mj-ea"/>
                <a:cs typeface="Calibri"/>
              </a:rPr>
              <a:t>NỘI</a:t>
            </a:r>
            <a:r>
              <a:rPr lang="vi-VN" b="1" i="0" spc="-235">
                <a:latin typeface="Calibri"/>
                <a:ea typeface="+mj-ea"/>
                <a:cs typeface="Calibri"/>
              </a:rPr>
              <a:t> </a:t>
            </a:r>
            <a:r>
              <a:rPr lang="vi-VN" b="1" i="0" spc="165">
                <a:latin typeface="Calibri"/>
                <a:ea typeface="+mj-ea"/>
                <a:cs typeface="Calibri"/>
              </a:rPr>
              <a:t>DUNG</a:t>
            </a:r>
            <a:endParaRPr lang="vi-VN" b="1" i="0">
              <a:latin typeface="Calibri"/>
              <a:ea typeface="+mj-ea"/>
              <a:cs typeface="Calibri"/>
            </a:endParaRPr>
          </a:p>
        </p:txBody>
      </p:sp>
      <p:pic>
        <p:nvPicPr>
          <p:cNvPr id="6" name="Chỗ dành sẵn cho Nội dung 5">
            <a:extLst>
              <a:ext uri="{FF2B5EF4-FFF2-40B4-BE49-F238E27FC236}">
                <a16:creationId xmlns:a16="http://schemas.microsoft.com/office/drawing/2014/main" id="{4F204213-840E-E938-BB89-CA5CBEB48E9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32877" y="1752600"/>
            <a:ext cx="5580243" cy="3979161"/>
          </a:xfrm>
        </p:spPr>
      </p:pic>
      <p:graphicFrame>
        <p:nvGraphicFramePr>
          <p:cNvPr id="5" name="object 3">
            <a:extLst>
              <a:ext uri="{FF2B5EF4-FFF2-40B4-BE49-F238E27FC236}">
                <a16:creationId xmlns:a16="http://schemas.microsoft.com/office/drawing/2014/main" id="{93C92004-3D28-1043-B91B-A25B105C7839}"/>
              </a:ext>
            </a:extLst>
          </p:cNvPr>
          <p:cNvGraphicFramePr/>
          <p:nvPr>
            <p:extLst>
              <p:ext uri="{D42A27DB-BD31-4B8C-83A1-F6EECF244321}">
                <p14:modId xmlns:p14="http://schemas.microsoft.com/office/powerpoint/2010/main" val="396068024"/>
              </p:ext>
            </p:extLst>
          </p:nvPr>
        </p:nvGraphicFramePr>
        <p:xfrm>
          <a:off x="6278880" y="1577340"/>
          <a:ext cx="5303520" cy="4526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4837"/>
            <a:ext cx="3624579" cy="696595"/>
          </a:xfrm>
          <a:prstGeom prst="rect">
            <a:avLst/>
          </a:prstGeom>
        </p:spPr>
        <p:txBody>
          <a:bodyPr vert="horz" wrap="square" lIns="0" tIns="13335" rIns="0" bIns="0" rtlCol="0">
            <a:spAutoFit/>
          </a:bodyPr>
          <a:lstStyle/>
          <a:p>
            <a:pPr marL="12700">
              <a:lnSpc>
                <a:spcPct val="100000"/>
              </a:lnSpc>
              <a:spcBef>
                <a:spcPts val="105"/>
              </a:spcBef>
            </a:pPr>
            <a:r>
              <a:rPr sz="4400" spc="55" dirty="0"/>
              <a:t>1. </a:t>
            </a:r>
            <a:r>
              <a:rPr sz="4400" spc="130" dirty="0"/>
              <a:t>TỔNG</a:t>
            </a:r>
            <a:r>
              <a:rPr sz="4400" spc="-440" dirty="0"/>
              <a:t> </a:t>
            </a:r>
            <a:r>
              <a:rPr sz="4400" spc="65" dirty="0"/>
              <a:t>QUAN</a:t>
            </a:r>
            <a:endParaRPr sz="4400" dirty="0"/>
          </a:p>
        </p:txBody>
      </p:sp>
      <p:sp>
        <p:nvSpPr>
          <p:cNvPr id="3" name="object 3"/>
          <p:cNvSpPr/>
          <p:nvPr/>
        </p:nvSpPr>
        <p:spPr>
          <a:xfrm>
            <a:off x="7793580" y="2745312"/>
            <a:ext cx="1345691" cy="1254251"/>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929223" y="4481910"/>
            <a:ext cx="998855" cy="0"/>
          </a:xfrm>
          <a:custGeom>
            <a:avLst/>
            <a:gdLst/>
            <a:ahLst/>
            <a:cxnLst/>
            <a:rect l="l" t="t" r="r" b="b"/>
            <a:pathLst>
              <a:path w="998854">
                <a:moveTo>
                  <a:pt x="0" y="0"/>
                </a:moveTo>
                <a:lnTo>
                  <a:pt x="998423" y="0"/>
                </a:lnTo>
              </a:path>
            </a:pathLst>
          </a:custGeom>
          <a:ln w="38100">
            <a:solidFill>
              <a:srgbClr val="0F9ED4"/>
            </a:solidFill>
          </a:ln>
        </p:spPr>
        <p:txBody>
          <a:bodyPr wrap="square" lIns="0" tIns="0" rIns="0" bIns="0" rtlCol="0"/>
          <a:lstStyle/>
          <a:p>
            <a:endParaRPr/>
          </a:p>
        </p:txBody>
      </p:sp>
      <p:sp>
        <p:nvSpPr>
          <p:cNvPr id="7" name="object 7"/>
          <p:cNvSpPr/>
          <p:nvPr/>
        </p:nvSpPr>
        <p:spPr>
          <a:xfrm>
            <a:off x="5813350" y="4415228"/>
            <a:ext cx="114300" cy="133350"/>
          </a:xfrm>
          <a:custGeom>
            <a:avLst/>
            <a:gdLst/>
            <a:ahLst/>
            <a:cxnLst/>
            <a:rect l="l" t="t" r="r" b="b"/>
            <a:pathLst>
              <a:path w="114300" h="133350">
                <a:moveTo>
                  <a:pt x="0" y="0"/>
                </a:moveTo>
                <a:lnTo>
                  <a:pt x="114300" y="66674"/>
                </a:lnTo>
                <a:lnTo>
                  <a:pt x="0" y="133349"/>
                </a:lnTo>
              </a:path>
            </a:pathLst>
          </a:custGeom>
          <a:ln w="38100">
            <a:solidFill>
              <a:srgbClr val="0F9ED4"/>
            </a:solidFill>
          </a:ln>
        </p:spPr>
        <p:txBody>
          <a:bodyPr wrap="square" lIns="0" tIns="0" rIns="0" bIns="0" rtlCol="0"/>
          <a:lstStyle/>
          <a:p>
            <a:endParaRPr/>
          </a:p>
        </p:txBody>
      </p:sp>
      <p:sp>
        <p:nvSpPr>
          <p:cNvPr id="8" name="object 8"/>
          <p:cNvSpPr/>
          <p:nvPr/>
        </p:nvSpPr>
        <p:spPr>
          <a:xfrm>
            <a:off x="8105239" y="4481910"/>
            <a:ext cx="998855" cy="0"/>
          </a:xfrm>
          <a:custGeom>
            <a:avLst/>
            <a:gdLst/>
            <a:ahLst/>
            <a:cxnLst/>
            <a:rect l="l" t="t" r="r" b="b"/>
            <a:pathLst>
              <a:path w="998854">
                <a:moveTo>
                  <a:pt x="0" y="0"/>
                </a:moveTo>
                <a:lnTo>
                  <a:pt x="998423" y="0"/>
                </a:lnTo>
              </a:path>
            </a:pathLst>
          </a:custGeom>
          <a:ln w="38100">
            <a:solidFill>
              <a:srgbClr val="0F9ED4"/>
            </a:solidFill>
          </a:ln>
        </p:spPr>
        <p:txBody>
          <a:bodyPr wrap="square" lIns="0" tIns="0" rIns="0" bIns="0" rtlCol="0"/>
          <a:lstStyle/>
          <a:p>
            <a:endParaRPr/>
          </a:p>
        </p:txBody>
      </p:sp>
      <p:sp>
        <p:nvSpPr>
          <p:cNvPr id="9" name="object 9"/>
          <p:cNvSpPr/>
          <p:nvPr/>
        </p:nvSpPr>
        <p:spPr>
          <a:xfrm>
            <a:off x="8989353" y="4415228"/>
            <a:ext cx="114935" cy="133350"/>
          </a:xfrm>
          <a:custGeom>
            <a:avLst/>
            <a:gdLst/>
            <a:ahLst/>
            <a:cxnLst/>
            <a:rect l="l" t="t" r="r" b="b"/>
            <a:pathLst>
              <a:path w="114934" h="133350">
                <a:moveTo>
                  <a:pt x="12" y="0"/>
                </a:moveTo>
                <a:lnTo>
                  <a:pt x="114312" y="66674"/>
                </a:lnTo>
                <a:lnTo>
                  <a:pt x="0" y="133349"/>
                </a:lnTo>
              </a:path>
            </a:pathLst>
          </a:custGeom>
          <a:ln w="38100">
            <a:solidFill>
              <a:srgbClr val="0F9ED4"/>
            </a:solidFill>
          </a:ln>
        </p:spPr>
        <p:txBody>
          <a:bodyPr wrap="square" lIns="0" tIns="0" rIns="0" bIns="0" rtlCol="0"/>
          <a:lstStyle/>
          <a:p>
            <a:endParaRPr/>
          </a:p>
        </p:txBody>
      </p:sp>
      <p:graphicFrame>
        <p:nvGraphicFramePr>
          <p:cNvPr id="10" name="object 10"/>
          <p:cNvGraphicFramePr>
            <a:graphicFrameLocks noGrp="1"/>
          </p:cNvGraphicFramePr>
          <p:nvPr>
            <p:extLst>
              <p:ext uri="{D42A27DB-BD31-4B8C-83A1-F6EECF244321}">
                <p14:modId xmlns:p14="http://schemas.microsoft.com/office/powerpoint/2010/main" val="3179288512"/>
              </p:ext>
            </p:extLst>
          </p:nvPr>
        </p:nvGraphicFramePr>
        <p:xfrm>
          <a:off x="9119144" y="1963500"/>
          <a:ext cx="1360805" cy="4450079"/>
        </p:xfrm>
        <a:graphic>
          <a:graphicData uri="http://schemas.openxmlformats.org/drawingml/2006/table">
            <a:tbl>
              <a:tblPr firstRow="1" bandRow="1">
                <a:tableStyleId>{2D5ABB26-0587-4C30-8999-92F81FD0307C}</a:tableStyleId>
              </a:tblPr>
              <a:tblGrid>
                <a:gridCol w="1360805">
                  <a:extLst>
                    <a:ext uri="{9D8B030D-6E8A-4147-A177-3AD203B41FA5}">
                      <a16:colId xmlns:a16="http://schemas.microsoft.com/office/drawing/2014/main" val="20000"/>
                    </a:ext>
                  </a:extLst>
                </a:gridCol>
              </a:tblGrid>
              <a:tr h="3439668">
                <a:tc>
                  <a:txBody>
                    <a:bodyPr/>
                    <a:lstStyle/>
                    <a:p>
                      <a:pPr marL="210820" marR="203835" indent="-1270" algn="ctr">
                        <a:lnSpc>
                          <a:spcPts val="4320"/>
                        </a:lnSpc>
                        <a:spcBef>
                          <a:spcPts val="150"/>
                        </a:spcBef>
                      </a:pPr>
                      <a:endParaRPr lang="en-US" sz="1800" spc="-30" dirty="0">
                        <a:latin typeface="Arial"/>
                        <a:cs typeface="Arial"/>
                      </a:endParaRPr>
                    </a:p>
                    <a:p>
                      <a:pPr marL="210820" marR="203835" indent="-1270" algn="ctr">
                        <a:lnSpc>
                          <a:spcPts val="4320"/>
                        </a:lnSpc>
                        <a:spcBef>
                          <a:spcPts val="150"/>
                        </a:spcBef>
                      </a:pPr>
                      <a:r>
                        <a:rPr sz="1800" spc="-30" dirty="0" err="1">
                          <a:latin typeface="Arial"/>
                          <a:cs typeface="Arial"/>
                        </a:rPr>
                        <a:t>Giải</a:t>
                      </a:r>
                      <a:r>
                        <a:rPr sz="1800" spc="-30" dirty="0">
                          <a:latin typeface="Arial"/>
                          <a:cs typeface="Arial"/>
                        </a:rPr>
                        <a:t> </a:t>
                      </a:r>
                      <a:r>
                        <a:rPr sz="1800" spc="-5" dirty="0" err="1">
                          <a:latin typeface="Arial"/>
                          <a:cs typeface="Arial"/>
                        </a:rPr>
                        <a:t>trí</a:t>
                      </a:r>
                      <a:r>
                        <a:rPr sz="1800" spc="-5" dirty="0">
                          <a:latin typeface="Arial"/>
                          <a:cs typeface="Arial"/>
                        </a:rPr>
                        <a:t>  </a:t>
                      </a:r>
                      <a:r>
                        <a:rPr sz="1800" spc="-100" dirty="0" err="1">
                          <a:latin typeface="Arial"/>
                          <a:cs typeface="Arial"/>
                        </a:rPr>
                        <a:t>Thể</a:t>
                      </a:r>
                      <a:r>
                        <a:rPr sz="1800" spc="-100" dirty="0">
                          <a:latin typeface="Arial"/>
                          <a:cs typeface="Arial"/>
                        </a:rPr>
                        <a:t> </a:t>
                      </a:r>
                      <a:r>
                        <a:rPr sz="1800" dirty="0" err="1">
                          <a:latin typeface="Arial"/>
                          <a:cs typeface="Arial"/>
                        </a:rPr>
                        <a:t>thao</a:t>
                      </a:r>
                      <a:r>
                        <a:rPr sz="1800" dirty="0">
                          <a:latin typeface="Arial"/>
                          <a:cs typeface="Arial"/>
                        </a:rPr>
                        <a:t>  </a:t>
                      </a:r>
                      <a:r>
                        <a:rPr lang="en-US" sz="1800" spc="-100" dirty="0" err="1">
                          <a:latin typeface="Arial"/>
                          <a:cs typeface="Arial"/>
                        </a:rPr>
                        <a:t>Giáo</a:t>
                      </a:r>
                      <a:r>
                        <a:rPr lang="en-US" sz="1800" spc="-100" dirty="0">
                          <a:latin typeface="Arial"/>
                          <a:cs typeface="Arial"/>
                        </a:rPr>
                        <a:t> </a:t>
                      </a:r>
                      <a:r>
                        <a:rPr lang="en-US" sz="1800" spc="-100" dirty="0" err="1">
                          <a:latin typeface="Arial"/>
                          <a:cs typeface="Arial"/>
                        </a:rPr>
                        <a:t>dục</a:t>
                      </a:r>
                      <a:r>
                        <a:rPr sz="1800" spc="-65" dirty="0">
                          <a:latin typeface="Arial"/>
                          <a:cs typeface="Arial"/>
                        </a:rPr>
                        <a:t>  </a:t>
                      </a:r>
                      <a:r>
                        <a:rPr sz="1800" spc="-35" dirty="0">
                          <a:latin typeface="Arial"/>
                          <a:cs typeface="Arial"/>
                        </a:rPr>
                        <a:t>Du </a:t>
                      </a:r>
                      <a:r>
                        <a:rPr sz="1800" spc="30" dirty="0">
                          <a:latin typeface="Arial"/>
                          <a:cs typeface="Arial"/>
                        </a:rPr>
                        <a:t>lịch  </a:t>
                      </a:r>
                      <a:r>
                        <a:rPr sz="1800" spc="-55" dirty="0">
                          <a:latin typeface="Arial"/>
                          <a:cs typeface="Arial"/>
                        </a:rPr>
                        <a:t>Pháp</a:t>
                      </a:r>
                      <a:r>
                        <a:rPr sz="1800" spc="-220" dirty="0">
                          <a:latin typeface="Arial"/>
                          <a:cs typeface="Arial"/>
                        </a:rPr>
                        <a:t> </a:t>
                      </a:r>
                      <a:r>
                        <a:rPr sz="1800" spc="25" dirty="0" err="1">
                          <a:latin typeface="Arial"/>
                          <a:cs typeface="Arial"/>
                        </a:rPr>
                        <a:t>luật</a:t>
                      </a:r>
                      <a:endParaRPr lang="en-US" sz="1800" spc="25" dirty="0">
                        <a:latin typeface="Arial"/>
                        <a:cs typeface="Arial"/>
                      </a:endParaRPr>
                    </a:p>
                  </a:txBody>
                  <a:tcPr marL="0" marR="0" marT="19050" marB="0">
                    <a:lnL w="9525">
                      <a:solidFill>
                        <a:srgbClr val="000000"/>
                      </a:solidFill>
                      <a:prstDash val="solid"/>
                    </a:lnL>
                    <a:lnR w="9525">
                      <a:solidFill>
                        <a:srgbClr val="000000"/>
                      </a:solidFill>
                      <a:prstDash val="solid"/>
                    </a:lnR>
                    <a:lnT w="9525">
                      <a:solidFill>
                        <a:srgbClr val="000000"/>
                      </a:solidFill>
                      <a:prstDash val="solid"/>
                    </a:lnT>
                    <a:solidFill>
                      <a:srgbClr val="DCEAF7">
                        <a:alpha val="19999"/>
                      </a:srgbClr>
                    </a:solidFill>
                  </a:tcPr>
                </a:tc>
                <a:extLst>
                  <a:ext uri="{0D108BD9-81ED-4DB2-BD59-A6C34878D82A}">
                    <a16:rowId xmlns:a16="http://schemas.microsoft.com/office/drawing/2014/main" val="10000"/>
                  </a:ext>
                </a:extLst>
              </a:tr>
              <a:tr h="463296">
                <a:tc>
                  <a:txBody>
                    <a:bodyPr/>
                    <a:lstStyle/>
                    <a:p>
                      <a:pPr marL="236854">
                        <a:lnSpc>
                          <a:spcPct val="100000"/>
                        </a:lnSpc>
                        <a:spcBef>
                          <a:spcPts val="640"/>
                        </a:spcBef>
                      </a:pPr>
                      <a:r>
                        <a:rPr lang="en-US" sz="1800" spc="-40" dirty="0" err="1">
                          <a:latin typeface="Arial"/>
                          <a:cs typeface="Arial"/>
                        </a:rPr>
                        <a:t>Thế</a:t>
                      </a:r>
                      <a:r>
                        <a:rPr lang="en-US" sz="1800" spc="-40" dirty="0">
                          <a:latin typeface="Arial"/>
                          <a:cs typeface="Arial"/>
                        </a:rPr>
                        <a:t> </a:t>
                      </a:r>
                      <a:r>
                        <a:rPr lang="en-US" sz="1800" spc="-40" dirty="0" err="1">
                          <a:latin typeface="Arial"/>
                          <a:cs typeface="Arial"/>
                        </a:rPr>
                        <a:t>giới</a:t>
                      </a:r>
                      <a:endParaRPr sz="1800" dirty="0">
                        <a:latin typeface="Arial"/>
                        <a:cs typeface="Arial"/>
                      </a:endParaRPr>
                    </a:p>
                  </a:txBody>
                  <a:tcPr marL="0" marR="0" marT="81280" marB="0">
                    <a:lnL w="9525">
                      <a:solidFill>
                        <a:srgbClr val="000000"/>
                      </a:solidFill>
                      <a:prstDash val="solid"/>
                    </a:lnL>
                    <a:lnR w="9525">
                      <a:solidFill>
                        <a:srgbClr val="000000"/>
                      </a:solidFill>
                      <a:prstDash val="solid"/>
                    </a:lnR>
                    <a:solidFill>
                      <a:srgbClr val="4E94D9">
                        <a:alpha val="30978"/>
                      </a:srgbClr>
                    </a:solidFill>
                  </a:tcPr>
                </a:tc>
                <a:extLst>
                  <a:ext uri="{0D108BD9-81ED-4DB2-BD59-A6C34878D82A}">
                    <a16:rowId xmlns:a16="http://schemas.microsoft.com/office/drawing/2014/main" val="10001"/>
                  </a:ext>
                </a:extLst>
              </a:tr>
              <a:tr h="547115">
                <a:tc>
                  <a:txBody>
                    <a:bodyPr/>
                    <a:lstStyle/>
                    <a:p>
                      <a:pPr marL="221615">
                        <a:lnSpc>
                          <a:spcPct val="100000"/>
                        </a:lnSpc>
                        <a:spcBef>
                          <a:spcPts val="1310"/>
                        </a:spcBef>
                      </a:pPr>
                      <a:r>
                        <a:rPr sz="1800" spc="-90" dirty="0">
                          <a:latin typeface="Arial"/>
                          <a:cs typeface="Arial"/>
                        </a:rPr>
                        <a:t>Sức</a:t>
                      </a:r>
                      <a:r>
                        <a:rPr sz="1800" spc="-175" dirty="0">
                          <a:latin typeface="Arial"/>
                          <a:cs typeface="Arial"/>
                        </a:rPr>
                        <a:t> </a:t>
                      </a:r>
                      <a:r>
                        <a:rPr sz="1800" spc="-25" dirty="0">
                          <a:latin typeface="Arial"/>
                          <a:cs typeface="Arial"/>
                        </a:rPr>
                        <a:t>khỏe</a:t>
                      </a:r>
                      <a:endParaRPr sz="1800" dirty="0">
                        <a:latin typeface="Arial"/>
                        <a:cs typeface="Arial"/>
                      </a:endParaRPr>
                    </a:p>
                  </a:txBody>
                  <a:tcPr marL="0" marR="0" marT="166370" marB="0">
                    <a:lnL w="9525">
                      <a:solidFill>
                        <a:srgbClr val="000000"/>
                      </a:solidFill>
                      <a:prstDash val="solid"/>
                    </a:lnL>
                    <a:lnR w="9525">
                      <a:solidFill>
                        <a:srgbClr val="000000"/>
                      </a:solidFill>
                      <a:prstDash val="solid"/>
                    </a:lnR>
                    <a:lnB w="9525">
                      <a:solidFill>
                        <a:srgbClr val="000000"/>
                      </a:solidFill>
                      <a:prstDash val="solid"/>
                    </a:lnB>
                    <a:solidFill>
                      <a:srgbClr val="DCEAF7">
                        <a:alpha val="19999"/>
                      </a:srgbClr>
                    </a:solidFill>
                  </a:tcPr>
                </a:tc>
                <a:extLst>
                  <a:ext uri="{0D108BD9-81ED-4DB2-BD59-A6C34878D82A}">
                    <a16:rowId xmlns:a16="http://schemas.microsoft.com/office/drawing/2014/main" val="10002"/>
                  </a:ext>
                </a:extLst>
              </a:tr>
            </a:tbl>
          </a:graphicData>
        </a:graphic>
      </p:graphicFrame>
      <p:sp>
        <p:nvSpPr>
          <p:cNvPr id="11" name="object 11"/>
          <p:cNvSpPr/>
          <p:nvPr/>
        </p:nvSpPr>
        <p:spPr>
          <a:xfrm>
            <a:off x="5965543" y="3898221"/>
            <a:ext cx="2139950" cy="1169035"/>
          </a:xfrm>
          <a:custGeom>
            <a:avLst/>
            <a:gdLst/>
            <a:ahLst/>
            <a:cxnLst/>
            <a:rect l="l" t="t" r="r" b="b"/>
            <a:pathLst>
              <a:path w="2139950" h="1169035">
                <a:moveTo>
                  <a:pt x="1944877" y="0"/>
                </a:moveTo>
                <a:lnTo>
                  <a:pt x="194818" y="0"/>
                </a:lnTo>
                <a:lnTo>
                  <a:pt x="150148" y="5145"/>
                </a:lnTo>
                <a:lnTo>
                  <a:pt x="109142" y="19801"/>
                </a:lnTo>
                <a:lnTo>
                  <a:pt x="72969" y="42799"/>
                </a:lnTo>
                <a:lnTo>
                  <a:pt x="42799" y="72969"/>
                </a:lnTo>
                <a:lnTo>
                  <a:pt x="19801" y="109142"/>
                </a:lnTo>
                <a:lnTo>
                  <a:pt x="5145" y="150148"/>
                </a:lnTo>
                <a:lnTo>
                  <a:pt x="0" y="194817"/>
                </a:lnTo>
                <a:lnTo>
                  <a:pt x="0" y="974077"/>
                </a:lnTo>
                <a:lnTo>
                  <a:pt x="5145" y="1018751"/>
                </a:lnTo>
                <a:lnTo>
                  <a:pt x="19801" y="1059761"/>
                </a:lnTo>
                <a:lnTo>
                  <a:pt x="42799" y="1095936"/>
                </a:lnTo>
                <a:lnTo>
                  <a:pt x="72969" y="1126107"/>
                </a:lnTo>
                <a:lnTo>
                  <a:pt x="109142" y="1149106"/>
                </a:lnTo>
                <a:lnTo>
                  <a:pt x="150148" y="1163762"/>
                </a:lnTo>
                <a:lnTo>
                  <a:pt x="194818" y="1168907"/>
                </a:lnTo>
                <a:lnTo>
                  <a:pt x="1944877" y="1168907"/>
                </a:lnTo>
                <a:lnTo>
                  <a:pt x="1989547" y="1163762"/>
                </a:lnTo>
                <a:lnTo>
                  <a:pt x="2030553" y="1149106"/>
                </a:lnTo>
                <a:lnTo>
                  <a:pt x="2066726" y="1126107"/>
                </a:lnTo>
                <a:lnTo>
                  <a:pt x="2096896" y="1095936"/>
                </a:lnTo>
                <a:lnTo>
                  <a:pt x="2119894" y="1059761"/>
                </a:lnTo>
                <a:lnTo>
                  <a:pt x="2134550" y="1018751"/>
                </a:lnTo>
                <a:lnTo>
                  <a:pt x="2139696" y="974077"/>
                </a:lnTo>
                <a:lnTo>
                  <a:pt x="2139696" y="194817"/>
                </a:lnTo>
                <a:lnTo>
                  <a:pt x="2134550" y="150148"/>
                </a:lnTo>
                <a:lnTo>
                  <a:pt x="2119894" y="109142"/>
                </a:lnTo>
                <a:lnTo>
                  <a:pt x="2096896" y="72969"/>
                </a:lnTo>
                <a:lnTo>
                  <a:pt x="2066726" y="42799"/>
                </a:lnTo>
                <a:lnTo>
                  <a:pt x="2030553" y="19801"/>
                </a:lnTo>
                <a:lnTo>
                  <a:pt x="1989547" y="5145"/>
                </a:lnTo>
                <a:lnTo>
                  <a:pt x="1944877" y="0"/>
                </a:lnTo>
                <a:close/>
              </a:path>
            </a:pathLst>
          </a:custGeom>
          <a:solidFill>
            <a:srgbClr val="4E94D9"/>
          </a:solidFill>
        </p:spPr>
        <p:txBody>
          <a:bodyPr wrap="square" lIns="0" tIns="0" rIns="0" bIns="0" rtlCol="0"/>
          <a:lstStyle/>
          <a:p>
            <a:endParaRPr/>
          </a:p>
        </p:txBody>
      </p:sp>
      <p:sp>
        <p:nvSpPr>
          <p:cNvPr id="12" name="object 12"/>
          <p:cNvSpPr/>
          <p:nvPr/>
        </p:nvSpPr>
        <p:spPr>
          <a:xfrm>
            <a:off x="5965543" y="3898221"/>
            <a:ext cx="2139950" cy="1169035"/>
          </a:xfrm>
          <a:custGeom>
            <a:avLst/>
            <a:gdLst/>
            <a:ahLst/>
            <a:cxnLst/>
            <a:rect l="l" t="t" r="r" b="b"/>
            <a:pathLst>
              <a:path w="2139950" h="1169035">
                <a:moveTo>
                  <a:pt x="0" y="194817"/>
                </a:moveTo>
                <a:lnTo>
                  <a:pt x="5145" y="150148"/>
                </a:lnTo>
                <a:lnTo>
                  <a:pt x="19801" y="109142"/>
                </a:lnTo>
                <a:lnTo>
                  <a:pt x="42799" y="72969"/>
                </a:lnTo>
                <a:lnTo>
                  <a:pt x="72969" y="42799"/>
                </a:lnTo>
                <a:lnTo>
                  <a:pt x="109142" y="19801"/>
                </a:lnTo>
                <a:lnTo>
                  <a:pt x="150148" y="5145"/>
                </a:lnTo>
                <a:lnTo>
                  <a:pt x="194818" y="0"/>
                </a:lnTo>
                <a:lnTo>
                  <a:pt x="1944877" y="0"/>
                </a:lnTo>
                <a:lnTo>
                  <a:pt x="1989547" y="5145"/>
                </a:lnTo>
                <a:lnTo>
                  <a:pt x="2030553" y="19801"/>
                </a:lnTo>
                <a:lnTo>
                  <a:pt x="2066726" y="42799"/>
                </a:lnTo>
                <a:lnTo>
                  <a:pt x="2096896" y="72969"/>
                </a:lnTo>
                <a:lnTo>
                  <a:pt x="2119894" y="109142"/>
                </a:lnTo>
                <a:lnTo>
                  <a:pt x="2134550" y="150148"/>
                </a:lnTo>
                <a:lnTo>
                  <a:pt x="2139696" y="194817"/>
                </a:lnTo>
                <a:lnTo>
                  <a:pt x="2139696" y="974077"/>
                </a:lnTo>
                <a:lnTo>
                  <a:pt x="2134550" y="1018751"/>
                </a:lnTo>
                <a:lnTo>
                  <a:pt x="2119894" y="1059761"/>
                </a:lnTo>
                <a:lnTo>
                  <a:pt x="2096896" y="1095936"/>
                </a:lnTo>
                <a:lnTo>
                  <a:pt x="2066726" y="1126107"/>
                </a:lnTo>
                <a:lnTo>
                  <a:pt x="2030553" y="1149106"/>
                </a:lnTo>
                <a:lnTo>
                  <a:pt x="1989547" y="1163762"/>
                </a:lnTo>
                <a:lnTo>
                  <a:pt x="1944877" y="1168907"/>
                </a:lnTo>
                <a:lnTo>
                  <a:pt x="194818" y="1168907"/>
                </a:lnTo>
                <a:lnTo>
                  <a:pt x="150148" y="1163762"/>
                </a:lnTo>
                <a:lnTo>
                  <a:pt x="109142" y="1149106"/>
                </a:lnTo>
                <a:lnTo>
                  <a:pt x="72969" y="1126107"/>
                </a:lnTo>
                <a:lnTo>
                  <a:pt x="42799" y="1095936"/>
                </a:lnTo>
                <a:lnTo>
                  <a:pt x="19801" y="1059761"/>
                </a:lnTo>
                <a:lnTo>
                  <a:pt x="5145" y="1018751"/>
                </a:lnTo>
                <a:lnTo>
                  <a:pt x="0" y="974077"/>
                </a:lnTo>
                <a:lnTo>
                  <a:pt x="0" y="194817"/>
                </a:lnTo>
                <a:close/>
              </a:path>
            </a:pathLst>
          </a:custGeom>
          <a:ln w="19050">
            <a:solidFill>
              <a:srgbClr val="83CAEB"/>
            </a:solidFill>
          </a:ln>
        </p:spPr>
        <p:txBody>
          <a:bodyPr wrap="square" lIns="0" tIns="0" rIns="0" bIns="0" rtlCol="0"/>
          <a:lstStyle/>
          <a:p>
            <a:endParaRPr/>
          </a:p>
        </p:txBody>
      </p:sp>
      <p:sp>
        <p:nvSpPr>
          <p:cNvPr id="13" name="object 13"/>
          <p:cNvSpPr txBox="1"/>
          <p:nvPr/>
        </p:nvSpPr>
        <p:spPr>
          <a:xfrm>
            <a:off x="6713195" y="4313582"/>
            <a:ext cx="641350"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FFFFFF"/>
                </a:solidFill>
                <a:latin typeface="Arial"/>
                <a:cs typeface="Arial"/>
              </a:rPr>
              <a:t>M</a:t>
            </a:r>
            <a:r>
              <a:rPr sz="1800" spc="-10" dirty="0">
                <a:solidFill>
                  <a:srgbClr val="FFFFFF"/>
                </a:solidFill>
                <a:latin typeface="Arial"/>
                <a:cs typeface="Arial"/>
              </a:rPr>
              <a:t>o</a:t>
            </a:r>
            <a:r>
              <a:rPr sz="1800" dirty="0">
                <a:solidFill>
                  <a:srgbClr val="FFFFFF"/>
                </a:solidFill>
                <a:latin typeface="Arial"/>
                <a:cs typeface="Arial"/>
              </a:rPr>
              <a:t>d</a:t>
            </a:r>
            <a:r>
              <a:rPr sz="1800" spc="5" dirty="0">
                <a:solidFill>
                  <a:srgbClr val="FFFFFF"/>
                </a:solidFill>
                <a:latin typeface="Arial"/>
                <a:cs typeface="Arial"/>
              </a:rPr>
              <a:t>el</a:t>
            </a:r>
            <a:endParaRPr sz="1800" dirty="0">
              <a:latin typeface="Arial"/>
              <a:cs typeface="Arial"/>
            </a:endParaRPr>
          </a:p>
        </p:txBody>
      </p:sp>
      <p:pic>
        <p:nvPicPr>
          <p:cNvPr id="15" name="Hình ảnh 14">
            <a:extLst>
              <a:ext uri="{FF2B5EF4-FFF2-40B4-BE49-F238E27FC236}">
                <a16:creationId xmlns:a16="http://schemas.microsoft.com/office/drawing/2014/main" id="{92D3294D-702B-C60F-3E96-B4F04C111BE9}"/>
              </a:ext>
            </a:extLst>
          </p:cNvPr>
          <p:cNvPicPr>
            <a:picLocks noChangeAspect="1"/>
          </p:cNvPicPr>
          <p:nvPr/>
        </p:nvPicPr>
        <p:blipFill>
          <a:blip r:embed="rId3"/>
          <a:stretch>
            <a:fillRect/>
          </a:stretch>
        </p:blipFill>
        <p:spPr>
          <a:xfrm>
            <a:off x="901699" y="3369389"/>
            <a:ext cx="4050193" cy="2162930"/>
          </a:xfrm>
          <a:prstGeom prst="rect">
            <a:avLst/>
          </a:prstGeom>
        </p:spPr>
      </p:pic>
      <p:sp>
        <p:nvSpPr>
          <p:cNvPr id="5" name="Hộp Văn bản 4">
            <a:extLst>
              <a:ext uri="{FF2B5EF4-FFF2-40B4-BE49-F238E27FC236}">
                <a16:creationId xmlns:a16="http://schemas.microsoft.com/office/drawing/2014/main" id="{C4945C59-6B3A-A507-ABE6-2ECC7A840CD5}"/>
              </a:ext>
            </a:extLst>
          </p:cNvPr>
          <p:cNvSpPr txBox="1"/>
          <p:nvPr/>
        </p:nvSpPr>
        <p:spPr>
          <a:xfrm>
            <a:off x="901699" y="1447800"/>
            <a:ext cx="9578250" cy="369332"/>
          </a:xfrm>
          <a:prstGeom prst="rect">
            <a:avLst/>
          </a:prstGeom>
          <a:noFill/>
        </p:spPr>
        <p:txBody>
          <a:bodyPr wrap="square" rtlCol="0">
            <a:spAutoFit/>
          </a:bodyPr>
          <a:lstStyle/>
          <a:p>
            <a:r>
              <a:rPr lang="en-US" dirty="0" err="1"/>
              <a:t>Dữ</a:t>
            </a:r>
            <a:r>
              <a:rPr lang="en-US" dirty="0"/>
              <a:t> </a:t>
            </a:r>
            <a:r>
              <a:rPr lang="en-US" dirty="0" err="1"/>
              <a:t>liệu</a:t>
            </a:r>
            <a:r>
              <a:rPr lang="en-US" dirty="0"/>
              <a:t> </a:t>
            </a:r>
            <a:r>
              <a:rPr lang="en-US" dirty="0" err="1"/>
              <a:t>được</a:t>
            </a:r>
            <a:r>
              <a:rPr lang="en-US" dirty="0"/>
              <a:t> </a:t>
            </a:r>
            <a:r>
              <a:rPr lang="en-US" dirty="0" err="1"/>
              <a:t>thu</a:t>
            </a:r>
            <a:r>
              <a:rPr lang="en-US" dirty="0"/>
              <a:t> </a:t>
            </a:r>
            <a:r>
              <a:rPr lang="en-US" dirty="0" err="1"/>
              <a:t>thập</a:t>
            </a:r>
            <a:r>
              <a:rPr lang="en-US" dirty="0"/>
              <a:t> </a:t>
            </a:r>
            <a:r>
              <a:rPr lang="en-US" dirty="0" err="1"/>
              <a:t>từ</a:t>
            </a:r>
            <a:r>
              <a:rPr lang="en-US" dirty="0"/>
              <a:t> </a:t>
            </a:r>
            <a:r>
              <a:rPr lang="en-US" dirty="0" err="1"/>
              <a:t>các</a:t>
            </a:r>
            <a:r>
              <a:rPr lang="en-US" dirty="0"/>
              <a:t> </a:t>
            </a:r>
            <a:r>
              <a:rPr lang="en-US" dirty="0" err="1"/>
              <a:t>trang</a:t>
            </a:r>
            <a:r>
              <a:rPr lang="en-US" dirty="0"/>
              <a:t> </a:t>
            </a:r>
            <a:r>
              <a:rPr lang="en-US" dirty="0" err="1"/>
              <a:t>báo</a:t>
            </a:r>
            <a:r>
              <a:rPr lang="en-US" dirty="0"/>
              <a:t> </a:t>
            </a:r>
            <a:r>
              <a:rPr lang="en-US" dirty="0" err="1"/>
              <a:t>điện</a:t>
            </a:r>
            <a:r>
              <a:rPr lang="en-US" dirty="0"/>
              <a:t> </a:t>
            </a:r>
            <a:r>
              <a:rPr lang="en-US" dirty="0" err="1"/>
              <a:t>tử</a:t>
            </a:r>
            <a:r>
              <a:rPr lang="en-US" dirty="0"/>
              <a:t> </a:t>
            </a:r>
            <a:r>
              <a:rPr lang="en-US" dirty="0" err="1"/>
              <a:t>nổi</a:t>
            </a:r>
            <a:r>
              <a:rPr lang="en-US" dirty="0"/>
              <a:t> </a:t>
            </a:r>
            <a:r>
              <a:rPr lang="en-US" dirty="0" err="1"/>
              <a:t>tiếng</a:t>
            </a:r>
            <a:r>
              <a:rPr lang="en-US" dirty="0"/>
              <a:t> </a:t>
            </a:r>
            <a:r>
              <a:rPr lang="en-US" dirty="0" err="1"/>
              <a:t>như</a:t>
            </a:r>
            <a:r>
              <a:rPr lang="en-US" dirty="0"/>
              <a:t> </a:t>
            </a:r>
            <a:r>
              <a:rPr lang="en-US" dirty="0" err="1"/>
              <a:t>báo</a:t>
            </a:r>
            <a:r>
              <a:rPr lang="en-US" dirty="0"/>
              <a:t> </a:t>
            </a:r>
            <a:r>
              <a:rPr lang="en-US" dirty="0" err="1"/>
              <a:t>nhân</a:t>
            </a:r>
            <a:r>
              <a:rPr lang="en-US" dirty="0"/>
              <a:t> </a:t>
            </a:r>
            <a:r>
              <a:rPr lang="en-US" dirty="0" err="1"/>
              <a:t>dân</a:t>
            </a:r>
            <a:r>
              <a:rPr lang="en-US" dirty="0"/>
              <a:t>, </a:t>
            </a:r>
            <a:r>
              <a:rPr lang="en-US" dirty="0" err="1"/>
              <a:t>vnexpress</a:t>
            </a:r>
            <a:r>
              <a:rPr lang="en-US" dirty="0"/>
              <a:t>, </a:t>
            </a:r>
            <a:r>
              <a:rPr lang="en-US" dirty="0" err="1"/>
              <a:t>báo</a:t>
            </a:r>
            <a:r>
              <a:rPr lang="en-US" dirty="0"/>
              <a:t> </a:t>
            </a:r>
            <a:r>
              <a:rPr lang="en-US" dirty="0" err="1"/>
              <a:t>dân</a:t>
            </a:r>
            <a:r>
              <a:rPr lang="en-US" dirty="0"/>
              <a:t> </a:t>
            </a:r>
            <a:r>
              <a:rPr lang="en-US" dirty="0" err="1"/>
              <a:t>trí</a:t>
            </a:r>
            <a:endParaRPr lang="vi-V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01E113F-C3F1-AEA1-B799-2697D7AA72AF}"/>
              </a:ext>
            </a:extLst>
          </p:cNvPr>
          <p:cNvSpPr>
            <a:spLocks noGrp="1"/>
          </p:cNvSpPr>
          <p:nvPr>
            <p:ph type="title"/>
          </p:nvPr>
        </p:nvSpPr>
        <p:spPr>
          <a:xfrm>
            <a:off x="916939" y="516604"/>
            <a:ext cx="3802379" cy="369332"/>
          </a:xfrm>
        </p:spPr>
        <p:txBody>
          <a:bodyPr/>
          <a:lstStyle/>
          <a:p>
            <a:r>
              <a:rPr lang="en-US" dirty="0"/>
              <a:t>1. TỔNG QUAN</a:t>
            </a:r>
            <a:endParaRPr lang="vi-VN" dirty="0"/>
          </a:p>
        </p:txBody>
      </p:sp>
      <p:graphicFrame>
        <p:nvGraphicFramePr>
          <p:cNvPr id="6" name="Bảng 5">
            <a:extLst>
              <a:ext uri="{FF2B5EF4-FFF2-40B4-BE49-F238E27FC236}">
                <a16:creationId xmlns:a16="http://schemas.microsoft.com/office/drawing/2014/main" id="{2EAAFA3F-CEF9-D214-23DB-2117DECBBB6E}"/>
              </a:ext>
            </a:extLst>
          </p:cNvPr>
          <p:cNvGraphicFramePr>
            <a:graphicFrameLocks noGrp="1"/>
          </p:cNvGraphicFramePr>
          <p:nvPr>
            <p:extLst>
              <p:ext uri="{D42A27DB-BD31-4B8C-83A1-F6EECF244321}">
                <p14:modId xmlns:p14="http://schemas.microsoft.com/office/powerpoint/2010/main" val="1512639586"/>
              </p:ext>
            </p:extLst>
          </p:nvPr>
        </p:nvGraphicFramePr>
        <p:xfrm>
          <a:off x="1219200" y="1219200"/>
          <a:ext cx="8128002" cy="3708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151713537"/>
                    </a:ext>
                  </a:extLst>
                </a:gridCol>
                <a:gridCol w="1354667">
                  <a:extLst>
                    <a:ext uri="{9D8B030D-6E8A-4147-A177-3AD203B41FA5}">
                      <a16:colId xmlns:a16="http://schemas.microsoft.com/office/drawing/2014/main" val="186079027"/>
                    </a:ext>
                  </a:extLst>
                </a:gridCol>
                <a:gridCol w="1354667">
                  <a:extLst>
                    <a:ext uri="{9D8B030D-6E8A-4147-A177-3AD203B41FA5}">
                      <a16:colId xmlns:a16="http://schemas.microsoft.com/office/drawing/2014/main" val="2869197545"/>
                    </a:ext>
                  </a:extLst>
                </a:gridCol>
                <a:gridCol w="1354667">
                  <a:extLst>
                    <a:ext uri="{9D8B030D-6E8A-4147-A177-3AD203B41FA5}">
                      <a16:colId xmlns:a16="http://schemas.microsoft.com/office/drawing/2014/main" val="2762607087"/>
                    </a:ext>
                  </a:extLst>
                </a:gridCol>
                <a:gridCol w="1354667">
                  <a:extLst>
                    <a:ext uri="{9D8B030D-6E8A-4147-A177-3AD203B41FA5}">
                      <a16:colId xmlns:a16="http://schemas.microsoft.com/office/drawing/2014/main" val="3995996961"/>
                    </a:ext>
                  </a:extLst>
                </a:gridCol>
                <a:gridCol w="1354667">
                  <a:extLst>
                    <a:ext uri="{9D8B030D-6E8A-4147-A177-3AD203B41FA5}">
                      <a16:colId xmlns:a16="http://schemas.microsoft.com/office/drawing/2014/main" val="1176327484"/>
                    </a:ext>
                  </a:extLst>
                </a:gridCol>
              </a:tblGrid>
              <a:tr h="370840">
                <a:tc>
                  <a:txBody>
                    <a:bodyPr/>
                    <a:lstStyle/>
                    <a:p>
                      <a:r>
                        <a:rPr lang="en-US" dirty="0"/>
                        <a:t>title</a:t>
                      </a:r>
                      <a:endParaRPr lang="vi-VN" dirty="0"/>
                    </a:p>
                  </a:txBody>
                  <a:tcPr/>
                </a:tc>
                <a:tc>
                  <a:txBody>
                    <a:bodyPr/>
                    <a:lstStyle/>
                    <a:p>
                      <a:r>
                        <a:rPr lang="en-US" dirty="0"/>
                        <a:t>description</a:t>
                      </a:r>
                      <a:endParaRPr lang="vi-VN" dirty="0"/>
                    </a:p>
                  </a:txBody>
                  <a:tcPr/>
                </a:tc>
                <a:tc>
                  <a:txBody>
                    <a:bodyPr/>
                    <a:lstStyle/>
                    <a:p>
                      <a:r>
                        <a:rPr lang="en-US" dirty="0"/>
                        <a:t>content</a:t>
                      </a:r>
                      <a:endParaRPr lang="vi-VN" dirty="0"/>
                    </a:p>
                  </a:txBody>
                  <a:tcPr/>
                </a:tc>
                <a:tc>
                  <a:txBody>
                    <a:bodyPr/>
                    <a:lstStyle/>
                    <a:p>
                      <a:r>
                        <a:rPr lang="en-US" dirty="0"/>
                        <a:t>author</a:t>
                      </a:r>
                      <a:endParaRPr lang="vi-VN" dirty="0"/>
                    </a:p>
                  </a:txBody>
                  <a:tcPr/>
                </a:tc>
                <a:tc>
                  <a:txBody>
                    <a:bodyPr/>
                    <a:lstStyle/>
                    <a:p>
                      <a:r>
                        <a:rPr lang="en-US" dirty="0"/>
                        <a:t>link</a:t>
                      </a:r>
                      <a:endParaRPr lang="vi-VN" dirty="0"/>
                    </a:p>
                  </a:txBody>
                  <a:tcPr/>
                </a:tc>
                <a:tc>
                  <a:txBody>
                    <a:bodyPr/>
                    <a:lstStyle/>
                    <a:p>
                      <a:r>
                        <a:rPr lang="en-US" dirty="0"/>
                        <a:t>category</a:t>
                      </a:r>
                      <a:endParaRPr lang="vi-VN" dirty="0"/>
                    </a:p>
                  </a:txBody>
                  <a:tcPr/>
                </a:tc>
                <a:extLst>
                  <a:ext uri="{0D108BD9-81ED-4DB2-BD59-A6C34878D82A}">
                    <a16:rowId xmlns:a16="http://schemas.microsoft.com/office/drawing/2014/main" val="2507958400"/>
                  </a:ext>
                </a:extLst>
              </a:tr>
            </a:tbl>
          </a:graphicData>
        </a:graphic>
      </p:graphicFrame>
      <p:sp>
        <p:nvSpPr>
          <p:cNvPr id="7" name="Hộp Văn bản 6">
            <a:extLst>
              <a:ext uri="{FF2B5EF4-FFF2-40B4-BE49-F238E27FC236}">
                <a16:creationId xmlns:a16="http://schemas.microsoft.com/office/drawing/2014/main" id="{A4C7816B-90B3-1D62-638C-B2D7AE2F3F98}"/>
              </a:ext>
            </a:extLst>
          </p:cNvPr>
          <p:cNvSpPr txBox="1"/>
          <p:nvPr/>
        </p:nvSpPr>
        <p:spPr>
          <a:xfrm>
            <a:off x="1219200" y="1905000"/>
            <a:ext cx="8763000" cy="369332"/>
          </a:xfrm>
          <a:prstGeom prst="rect">
            <a:avLst/>
          </a:prstGeom>
          <a:noFill/>
        </p:spPr>
        <p:txBody>
          <a:bodyPr wrap="square" rtlCol="0">
            <a:spAutoFit/>
          </a:bodyPr>
          <a:lstStyle/>
          <a:p>
            <a:r>
              <a:rPr lang="en-US" dirty="0" err="1"/>
              <a:t>Dữ</a:t>
            </a:r>
            <a:r>
              <a:rPr lang="en-US" dirty="0"/>
              <a:t> </a:t>
            </a:r>
            <a:r>
              <a:rPr lang="en-US" dirty="0" err="1"/>
              <a:t>liệu</a:t>
            </a:r>
            <a:r>
              <a:rPr lang="en-US" dirty="0"/>
              <a:t> </a:t>
            </a:r>
            <a:r>
              <a:rPr lang="en-US" dirty="0" err="1"/>
              <a:t>thu</a:t>
            </a:r>
            <a:r>
              <a:rPr lang="en-US" dirty="0"/>
              <a:t> </a:t>
            </a:r>
            <a:r>
              <a:rPr lang="en-US" dirty="0" err="1"/>
              <a:t>thập</a:t>
            </a:r>
            <a:r>
              <a:rPr lang="en-US" dirty="0"/>
              <a:t> </a:t>
            </a:r>
            <a:r>
              <a:rPr lang="en-US" dirty="0" err="1"/>
              <a:t>về</a:t>
            </a:r>
            <a:r>
              <a:rPr lang="en-US" dirty="0"/>
              <a:t> </a:t>
            </a:r>
            <a:r>
              <a:rPr lang="en-US" dirty="0" err="1"/>
              <a:t>được</a:t>
            </a:r>
            <a:r>
              <a:rPr lang="en-US" dirty="0"/>
              <a:t> chia </a:t>
            </a:r>
            <a:r>
              <a:rPr lang="en-US" dirty="0" err="1"/>
              <a:t>làm</a:t>
            </a:r>
            <a:r>
              <a:rPr lang="en-US" dirty="0"/>
              <a:t> </a:t>
            </a:r>
            <a:r>
              <a:rPr lang="en-US" dirty="0" err="1"/>
              <a:t>các</a:t>
            </a:r>
            <a:r>
              <a:rPr lang="en-US" dirty="0"/>
              <a:t> </a:t>
            </a:r>
            <a:r>
              <a:rPr lang="en-US" dirty="0" err="1"/>
              <a:t>cột</a:t>
            </a:r>
            <a:r>
              <a:rPr lang="en-US" dirty="0"/>
              <a:t> title, description, content, author, link, category</a:t>
            </a:r>
            <a:endParaRPr lang="vi-VN" dirty="0"/>
          </a:p>
        </p:txBody>
      </p:sp>
      <p:sp>
        <p:nvSpPr>
          <p:cNvPr id="8" name="Hộp Văn bản 7">
            <a:extLst>
              <a:ext uri="{FF2B5EF4-FFF2-40B4-BE49-F238E27FC236}">
                <a16:creationId xmlns:a16="http://schemas.microsoft.com/office/drawing/2014/main" id="{8853BAA3-B6B6-52F2-1B52-43C08CD65BFF}"/>
              </a:ext>
            </a:extLst>
          </p:cNvPr>
          <p:cNvSpPr txBox="1"/>
          <p:nvPr/>
        </p:nvSpPr>
        <p:spPr>
          <a:xfrm>
            <a:off x="1219200" y="2372360"/>
            <a:ext cx="10439400" cy="1477328"/>
          </a:xfrm>
          <a:prstGeom prst="rect">
            <a:avLst/>
          </a:prstGeom>
          <a:noFill/>
        </p:spPr>
        <p:txBody>
          <a:bodyPr wrap="square" rtlCol="0">
            <a:spAutoFit/>
          </a:bodyPr>
          <a:lstStyle/>
          <a:p>
            <a:pPr>
              <a:buNone/>
            </a:pPr>
            <a:r>
              <a:rPr lang="vi-VN" b="1" dirty="0">
                <a:latin typeface="Calibri" panose="020F0502020204030204" pitchFamily="34" charset="0"/>
                <a:ea typeface="Calibri" panose="020F0502020204030204" pitchFamily="34" charset="0"/>
                <a:cs typeface="Calibri" panose="020F0502020204030204" pitchFamily="34" charset="0"/>
              </a:rPr>
              <a:t>Quy mô </a:t>
            </a:r>
            <a:r>
              <a:rPr lang="vi-VN" b="1" dirty="0" err="1">
                <a:latin typeface="Calibri" panose="020F0502020204030204" pitchFamily="34" charset="0"/>
                <a:ea typeface="Calibri" panose="020F0502020204030204" pitchFamily="34" charset="0"/>
                <a:cs typeface="Calibri" panose="020F0502020204030204" pitchFamily="34" charset="0"/>
              </a:rPr>
              <a:t>Dataset</a:t>
            </a:r>
            <a:r>
              <a:rPr lang="vi-VN" b="1" dirty="0">
                <a:latin typeface="Calibri" panose="020F0502020204030204" pitchFamily="34" charset="0"/>
                <a:ea typeface="Calibri" panose="020F0502020204030204" pitchFamily="34" charset="0"/>
                <a:cs typeface="Calibri" panose="020F0502020204030204" pitchFamily="34" charset="0"/>
              </a:rPr>
              <a:t>:</a:t>
            </a:r>
            <a:endParaRPr lang="vi-VN"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a:t>
            </a:r>
            <a:r>
              <a:rPr lang="vi-VN" dirty="0">
                <a:latin typeface="Calibri" panose="020F0502020204030204" pitchFamily="34" charset="0"/>
                <a:ea typeface="Calibri" panose="020F0502020204030204" pitchFamily="34" charset="0"/>
                <a:cs typeface="Calibri" panose="020F0502020204030204" pitchFamily="34" charset="0"/>
              </a:rPr>
              <a:t>Tổng số bài báo thu thập được: </a:t>
            </a:r>
            <a:r>
              <a:rPr lang="en-US" dirty="0">
                <a:latin typeface="Calibri" panose="020F0502020204030204" pitchFamily="34" charset="0"/>
                <a:ea typeface="Calibri" panose="020F0502020204030204" pitchFamily="34" charset="0"/>
                <a:cs typeface="Calibri" panose="020F0502020204030204" pitchFamily="34" charset="0"/>
              </a:rPr>
              <a:t>&gt; 2468 </a:t>
            </a:r>
            <a:r>
              <a:rPr lang="en-US" dirty="0" err="1">
                <a:latin typeface="Calibri" panose="020F0502020204030204" pitchFamily="34" charset="0"/>
                <a:ea typeface="Calibri" panose="020F0502020204030204" pitchFamily="34" charset="0"/>
                <a:cs typeface="Calibri" panose="020F0502020204030204" pitchFamily="34" charset="0"/>
              </a:rPr>
              <a:t>bài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báo</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vi-VN"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a:t>
            </a:r>
            <a:r>
              <a:rPr lang="vi-VN" dirty="0">
                <a:latin typeface="Calibri" panose="020F0502020204030204" pitchFamily="34" charset="0"/>
                <a:ea typeface="Calibri" panose="020F0502020204030204" pitchFamily="34" charset="0"/>
                <a:cs typeface="Calibri" panose="020F0502020204030204" pitchFamily="34" charset="0"/>
              </a:rPr>
              <a:t>Số lượng chủ đề phân loại: </a:t>
            </a:r>
            <a:r>
              <a:rPr lang="en-US" dirty="0">
                <a:latin typeface="Calibri" panose="020F0502020204030204" pitchFamily="34" charset="0"/>
                <a:ea typeface="Calibri" panose="020F0502020204030204" pitchFamily="34" charset="0"/>
                <a:cs typeface="Calibri" panose="020F0502020204030204" pitchFamily="34" charset="0"/>
              </a:rPr>
              <a:t>10 </a:t>
            </a:r>
            <a:r>
              <a:rPr lang="en-US" dirty="0" err="1">
                <a:latin typeface="Calibri" panose="020F0502020204030204" pitchFamily="34" charset="0"/>
                <a:ea typeface="Calibri" panose="020F0502020204030204" pitchFamily="34" charset="0"/>
                <a:cs typeface="Calibri" panose="020F0502020204030204" pitchFamily="34" charset="0"/>
              </a:rPr>
              <a:t>chủ</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đề</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r>
              <a:rPr lang="vi-VN"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['Thời sự', 'Kinh doanh', 'Giáo dục', 'Giải trí', 'Thể thao', 'Văn hóa', 'Khoa học', 'Du lịch', 'Sức khỏe', 'Thế giới']</a:t>
            </a:r>
            <a:endParaRPr lang="vi-VN" dirty="0">
              <a:latin typeface="Calibri" panose="020F0502020204030204" pitchFamily="34" charset="0"/>
              <a:ea typeface="Calibri" panose="020F0502020204030204" pitchFamily="34" charset="0"/>
              <a:cs typeface="Calibri" panose="020F0502020204030204" pitchFamily="34" charset="0"/>
            </a:endParaRPr>
          </a:p>
        </p:txBody>
      </p:sp>
      <p:pic>
        <p:nvPicPr>
          <p:cNvPr id="4" name="Hình ảnh 3">
            <a:extLst>
              <a:ext uri="{FF2B5EF4-FFF2-40B4-BE49-F238E27FC236}">
                <a16:creationId xmlns:a16="http://schemas.microsoft.com/office/drawing/2014/main" id="{268FAB58-03EF-5DF8-3B4E-C06A811C7700}"/>
              </a:ext>
            </a:extLst>
          </p:cNvPr>
          <p:cNvPicPr>
            <a:picLocks noChangeAspect="1"/>
          </p:cNvPicPr>
          <p:nvPr/>
        </p:nvPicPr>
        <p:blipFill>
          <a:blip r:embed="rId2"/>
          <a:srcRect t="64279"/>
          <a:stretch/>
        </p:blipFill>
        <p:spPr>
          <a:xfrm>
            <a:off x="1295400" y="3947716"/>
            <a:ext cx="7153656" cy="2571102"/>
          </a:xfrm>
          <a:prstGeom prst="rect">
            <a:avLst/>
          </a:prstGeom>
        </p:spPr>
      </p:pic>
    </p:spTree>
    <p:extLst>
      <p:ext uri="{BB962C8B-B14F-4D97-AF65-F5344CB8AC3E}">
        <p14:creationId xmlns:p14="http://schemas.microsoft.com/office/powerpoint/2010/main" val="4276948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4837"/>
            <a:ext cx="3624579" cy="696595"/>
          </a:xfrm>
          <a:prstGeom prst="rect">
            <a:avLst/>
          </a:prstGeom>
        </p:spPr>
        <p:txBody>
          <a:bodyPr vert="horz" wrap="square" lIns="0" tIns="13335" rIns="0" bIns="0" rtlCol="0">
            <a:spAutoFit/>
          </a:bodyPr>
          <a:lstStyle/>
          <a:p>
            <a:pPr marL="12700">
              <a:lnSpc>
                <a:spcPct val="100000"/>
              </a:lnSpc>
              <a:spcBef>
                <a:spcPts val="105"/>
              </a:spcBef>
            </a:pPr>
            <a:r>
              <a:rPr sz="4400" spc="55" dirty="0"/>
              <a:t>1. </a:t>
            </a:r>
            <a:r>
              <a:rPr sz="4400" spc="130" dirty="0"/>
              <a:t>TỔNG</a:t>
            </a:r>
            <a:r>
              <a:rPr sz="4400" spc="-440" dirty="0"/>
              <a:t> </a:t>
            </a:r>
            <a:r>
              <a:rPr sz="4400" spc="65" dirty="0"/>
              <a:t>QUAN</a:t>
            </a:r>
            <a:endParaRPr sz="4400"/>
          </a:p>
        </p:txBody>
      </p:sp>
      <p:pic>
        <p:nvPicPr>
          <p:cNvPr id="9" name="Hình ảnh 8">
            <a:extLst>
              <a:ext uri="{FF2B5EF4-FFF2-40B4-BE49-F238E27FC236}">
                <a16:creationId xmlns:a16="http://schemas.microsoft.com/office/drawing/2014/main" id="{EB365ECF-2EF5-F590-3A0C-902126763FAC}"/>
              </a:ext>
            </a:extLst>
          </p:cNvPr>
          <p:cNvPicPr>
            <a:picLocks noChangeAspect="1"/>
          </p:cNvPicPr>
          <p:nvPr/>
        </p:nvPicPr>
        <p:blipFill>
          <a:blip r:embed="rId2"/>
          <a:stretch>
            <a:fillRect/>
          </a:stretch>
        </p:blipFill>
        <p:spPr>
          <a:xfrm>
            <a:off x="990600" y="1371600"/>
            <a:ext cx="10348573" cy="51774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DE50-330B-3587-CC1C-B45140B9073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91E071-9210-61FA-38B8-5B2E0FCBEE86}"/>
              </a:ext>
            </a:extLst>
          </p:cNvPr>
          <p:cNvSpPr txBox="1">
            <a:spLocks noGrp="1"/>
          </p:cNvSpPr>
          <p:nvPr>
            <p:ph type="title"/>
          </p:nvPr>
        </p:nvSpPr>
        <p:spPr>
          <a:xfrm>
            <a:off x="916939" y="604837"/>
            <a:ext cx="5264785" cy="696595"/>
          </a:xfrm>
          <a:prstGeom prst="rect">
            <a:avLst/>
          </a:prstGeom>
        </p:spPr>
        <p:txBody>
          <a:bodyPr vert="horz" wrap="square" lIns="0" tIns="13335" rIns="0" bIns="0" rtlCol="0">
            <a:spAutoFit/>
          </a:bodyPr>
          <a:lstStyle/>
          <a:p>
            <a:pPr marL="12700">
              <a:lnSpc>
                <a:spcPct val="100000"/>
              </a:lnSpc>
              <a:spcBef>
                <a:spcPts val="105"/>
              </a:spcBef>
            </a:pPr>
            <a:r>
              <a:rPr sz="4400" spc="55" dirty="0"/>
              <a:t>2. </a:t>
            </a:r>
            <a:r>
              <a:rPr sz="4400" spc="20" dirty="0"/>
              <a:t>Trích xuất </a:t>
            </a:r>
            <a:r>
              <a:rPr sz="4400" spc="110" dirty="0"/>
              <a:t>đặc</a:t>
            </a:r>
            <a:r>
              <a:rPr sz="4400" spc="-710" dirty="0"/>
              <a:t> </a:t>
            </a:r>
            <a:r>
              <a:rPr sz="4400" spc="-55" dirty="0"/>
              <a:t>trưng</a:t>
            </a:r>
            <a:endParaRPr sz="4400"/>
          </a:p>
        </p:txBody>
      </p:sp>
      <p:sp>
        <p:nvSpPr>
          <p:cNvPr id="3" name="object 3">
            <a:extLst>
              <a:ext uri="{FF2B5EF4-FFF2-40B4-BE49-F238E27FC236}">
                <a16:creationId xmlns:a16="http://schemas.microsoft.com/office/drawing/2014/main" id="{90962657-EC23-7C50-EA84-BF1A111CD32D}"/>
              </a:ext>
            </a:extLst>
          </p:cNvPr>
          <p:cNvSpPr txBox="1"/>
          <p:nvPr/>
        </p:nvSpPr>
        <p:spPr>
          <a:xfrm>
            <a:off x="916938" y="1379378"/>
            <a:ext cx="2776477" cy="505908"/>
          </a:xfrm>
          <a:prstGeom prst="rect">
            <a:avLst/>
          </a:prstGeom>
        </p:spPr>
        <p:txBody>
          <a:bodyPr vert="horz" wrap="square" lIns="0" tIns="13335" rIns="0" bIns="0" rtlCol="0">
            <a:spAutoFit/>
          </a:bodyPr>
          <a:lstStyle/>
          <a:p>
            <a:pPr marL="12700">
              <a:lnSpc>
                <a:spcPct val="100000"/>
              </a:lnSpc>
              <a:spcBef>
                <a:spcPts val="105"/>
              </a:spcBef>
            </a:pPr>
            <a:r>
              <a:rPr sz="3200" b="1" spc="40" dirty="0">
                <a:solidFill>
                  <a:srgbClr val="205F9A"/>
                </a:solidFill>
                <a:latin typeface="Calibri"/>
                <a:cs typeface="Calibri"/>
              </a:rPr>
              <a:t>2.1.</a:t>
            </a:r>
            <a:r>
              <a:rPr sz="3200" b="1" spc="-180" dirty="0">
                <a:solidFill>
                  <a:srgbClr val="205F9A"/>
                </a:solidFill>
                <a:latin typeface="Calibri"/>
                <a:cs typeface="Calibri"/>
              </a:rPr>
              <a:t> </a:t>
            </a:r>
            <a:r>
              <a:rPr lang="en-US" sz="3200" b="1" spc="114" dirty="0" err="1">
                <a:solidFill>
                  <a:srgbClr val="205F9A"/>
                </a:solidFill>
                <a:latin typeface="Calibri"/>
                <a:cs typeface="Calibri"/>
              </a:rPr>
              <a:t>Ngrams</a:t>
            </a:r>
            <a:r>
              <a:rPr lang="en-US" sz="3200" b="1" spc="114" dirty="0">
                <a:solidFill>
                  <a:srgbClr val="205F9A"/>
                </a:solidFill>
                <a:latin typeface="Calibri"/>
                <a:cs typeface="Calibri"/>
              </a:rPr>
              <a:t>:</a:t>
            </a:r>
            <a:endParaRPr sz="3200" dirty="0">
              <a:latin typeface="Calibri"/>
              <a:cs typeface="Calibri"/>
            </a:endParaRPr>
          </a:p>
        </p:txBody>
      </p:sp>
      <p:sp>
        <p:nvSpPr>
          <p:cNvPr id="4" name="Hộp Văn bản 3">
            <a:extLst>
              <a:ext uri="{FF2B5EF4-FFF2-40B4-BE49-F238E27FC236}">
                <a16:creationId xmlns:a16="http://schemas.microsoft.com/office/drawing/2014/main" id="{B4EFC82F-D982-63DE-F6A1-BE1087CEC021}"/>
              </a:ext>
            </a:extLst>
          </p:cNvPr>
          <p:cNvSpPr txBox="1"/>
          <p:nvPr/>
        </p:nvSpPr>
        <p:spPr>
          <a:xfrm>
            <a:off x="916938" y="1930746"/>
            <a:ext cx="8608062" cy="369332"/>
          </a:xfrm>
          <a:prstGeom prst="rect">
            <a:avLst/>
          </a:prstGeom>
          <a:noFill/>
        </p:spPr>
        <p:txBody>
          <a:bodyPr wrap="square" rtlCol="0">
            <a:spAutoFit/>
          </a:bodyPr>
          <a:lstStyle/>
          <a:p>
            <a:r>
              <a:rPr lang="en-US" dirty="0"/>
              <a:t>N-grams: </a:t>
            </a:r>
            <a:r>
              <a:rPr lang="en-US" dirty="0" err="1"/>
              <a:t>là</a:t>
            </a:r>
            <a:r>
              <a:rPr lang="en-US" dirty="0"/>
              <a:t> </a:t>
            </a:r>
            <a:r>
              <a:rPr lang="en-US" dirty="0" err="1"/>
              <a:t>một</a:t>
            </a:r>
            <a:r>
              <a:rPr lang="en-US" dirty="0"/>
              <a:t> </a:t>
            </a:r>
            <a:r>
              <a:rPr lang="en-US" dirty="0" err="1"/>
              <a:t>chuỗi</a:t>
            </a:r>
            <a:r>
              <a:rPr lang="en-US" dirty="0"/>
              <a:t> </a:t>
            </a:r>
            <a:r>
              <a:rPr lang="en-US" dirty="0" err="1"/>
              <a:t>liên</a:t>
            </a:r>
            <a:r>
              <a:rPr lang="en-US" dirty="0"/>
              <a:t> tục </a:t>
            </a:r>
            <a:r>
              <a:rPr lang="en-US" dirty="0" err="1"/>
              <a:t>gồm</a:t>
            </a:r>
            <a:r>
              <a:rPr lang="en-US" dirty="0"/>
              <a:t> N </a:t>
            </a:r>
            <a:r>
              <a:rPr lang="en-US" dirty="0" err="1"/>
              <a:t>đơn</a:t>
            </a:r>
            <a:r>
              <a:rPr lang="en-US" dirty="0"/>
              <a:t> </a:t>
            </a:r>
            <a:r>
              <a:rPr lang="en-US" dirty="0" err="1"/>
              <a:t>vị</a:t>
            </a:r>
            <a:r>
              <a:rPr lang="en-US" dirty="0"/>
              <a:t> (</a:t>
            </a:r>
            <a:r>
              <a:rPr lang="en-US" dirty="0" err="1"/>
              <a:t>thường</a:t>
            </a:r>
            <a:r>
              <a:rPr lang="en-US" dirty="0"/>
              <a:t> </a:t>
            </a:r>
            <a:r>
              <a:rPr lang="en-US" dirty="0" err="1"/>
              <a:t>là</a:t>
            </a:r>
            <a:r>
              <a:rPr lang="en-US" dirty="0"/>
              <a:t> </a:t>
            </a:r>
            <a:r>
              <a:rPr lang="en-US" dirty="0" err="1"/>
              <a:t>từ</a:t>
            </a:r>
            <a:r>
              <a:rPr lang="en-US" dirty="0"/>
              <a:t>) </a:t>
            </a:r>
            <a:r>
              <a:rPr lang="en-US" dirty="0" err="1"/>
              <a:t>từ</a:t>
            </a:r>
            <a:r>
              <a:rPr lang="en-US" dirty="0"/>
              <a:t> </a:t>
            </a:r>
            <a:r>
              <a:rPr lang="en-US" dirty="0" err="1"/>
              <a:t>một</a:t>
            </a:r>
            <a:r>
              <a:rPr lang="en-US" dirty="0"/>
              <a:t> </a:t>
            </a:r>
            <a:r>
              <a:rPr lang="en-US" dirty="0" err="1"/>
              <a:t>văn</a:t>
            </a:r>
            <a:r>
              <a:rPr lang="en-US" dirty="0"/>
              <a:t> </a:t>
            </a:r>
            <a:r>
              <a:rPr lang="en-US" dirty="0" err="1"/>
              <a:t>bản</a:t>
            </a:r>
            <a:endParaRPr lang="vi-VN" dirty="0"/>
          </a:p>
        </p:txBody>
      </p:sp>
      <p:sp>
        <p:nvSpPr>
          <p:cNvPr id="5" name="Hộp Văn bản 4">
            <a:extLst>
              <a:ext uri="{FF2B5EF4-FFF2-40B4-BE49-F238E27FC236}">
                <a16:creationId xmlns:a16="http://schemas.microsoft.com/office/drawing/2014/main" id="{018C8579-3647-4D62-DEA2-A131DE0A0620}"/>
              </a:ext>
            </a:extLst>
          </p:cNvPr>
          <p:cNvSpPr txBox="1"/>
          <p:nvPr/>
        </p:nvSpPr>
        <p:spPr>
          <a:xfrm>
            <a:off x="916938" y="2407339"/>
            <a:ext cx="6626862" cy="1200329"/>
          </a:xfrm>
          <a:prstGeom prst="rect">
            <a:avLst/>
          </a:prstGeom>
          <a:noFill/>
        </p:spPr>
        <p:txBody>
          <a:bodyPr wrap="square" rtlCol="0">
            <a:spAutoFit/>
          </a:bodyPr>
          <a:lstStyle/>
          <a:p>
            <a:r>
              <a:rPr lang="en-US" dirty="0"/>
              <a:t>Các </a:t>
            </a:r>
            <a:r>
              <a:rPr lang="en-US" dirty="0" err="1"/>
              <a:t>loại</a:t>
            </a:r>
            <a:r>
              <a:rPr lang="en-US" dirty="0"/>
              <a:t> N-grams </a:t>
            </a:r>
            <a:r>
              <a:rPr lang="en-US" dirty="0" err="1"/>
              <a:t>phổ</a:t>
            </a:r>
            <a:r>
              <a:rPr lang="en-US" dirty="0"/>
              <a:t> </a:t>
            </a:r>
            <a:r>
              <a:rPr lang="en-US" dirty="0" err="1"/>
              <a:t>biến</a:t>
            </a:r>
            <a:r>
              <a:rPr lang="en-US" dirty="0"/>
              <a:t>:</a:t>
            </a:r>
            <a:br>
              <a:rPr lang="en-US" dirty="0"/>
            </a:br>
            <a:r>
              <a:rPr lang="en-US" dirty="0"/>
              <a:t>- Unigrams (N=1): </a:t>
            </a:r>
            <a:r>
              <a:rPr lang="en-US" dirty="0" err="1"/>
              <a:t>Từng</a:t>
            </a:r>
            <a:r>
              <a:rPr lang="en-US" dirty="0"/>
              <a:t> </a:t>
            </a:r>
            <a:r>
              <a:rPr lang="en-US" dirty="0" err="1"/>
              <a:t>từ</a:t>
            </a:r>
            <a:r>
              <a:rPr lang="en-US" dirty="0"/>
              <a:t> </a:t>
            </a:r>
            <a:r>
              <a:rPr lang="en-US" dirty="0" err="1"/>
              <a:t>riêng</a:t>
            </a:r>
            <a:r>
              <a:rPr lang="en-US" dirty="0"/>
              <a:t> </a:t>
            </a:r>
            <a:r>
              <a:rPr lang="en-US" dirty="0" err="1"/>
              <a:t>lẻ</a:t>
            </a:r>
            <a:br>
              <a:rPr lang="en-US" dirty="0"/>
            </a:br>
            <a:r>
              <a:rPr lang="en-US" dirty="0"/>
              <a:t>- Bigrams (N=2): </a:t>
            </a:r>
            <a:r>
              <a:rPr lang="en-US" dirty="0" err="1"/>
              <a:t>Chuỗi</a:t>
            </a:r>
            <a:r>
              <a:rPr lang="en-US" dirty="0"/>
              <a:t> </a:t>
            </a:r>
            <a:r>
              <a:rPr lang="en-US" dirty="0" err="1"/>
              <a:t>gồm</a:t>
            </a:r>
            <a:r>
              <a:rPr lang="en-US" dirty="0"/>
              <a:t> 2 </a:t>
            </a:r>
            <a:r>
              <a:rPr lang="en-US" dirty="0" err="1"/>
              <a:t>từ</a:t>
            </a:r>
            <a:r>
              <a:rPr lang="en-US" dirty="0"/>
              <a:t> </a:t>
            </a:r>
            <a:r>
              <a:rPr lang="en-US" dirty="0" err="1"/>
              <a:t>liên</a:t>
            </a:r>
            <a:r>
              <a:rPr lang="en-US" dirty="0"/>
              <a:t> </a:t>
            </a:r>
            <a:r>
              <a:rPr lang="en-US" dirty="0" err="1"/>
              <a:t>tiếp</a:t>
            </a:r>
            <a:br>
              <a:rPr lang="en-US" dirty="0"/>
            </a:br>
            <a:r>
              <a:rPr lang="en-US" dirty="0"/>
              <a:t>- Trigrams (N=3): </a:t>
            </a:r>
            <a:r>
              <a:rPr lang="en-US" dirty="0" err="1"/>
              <a:t>Chuỗi</a:t>
            </a:r>
            <a:r>
              <a:rPr lang="en-US" dirty="0"/>
              <a:t> </a:t>
            </a:r>
            <a:r>
              <a:rPr lang="en-US" dirty="0" err="1"/>
              <a:t>gồm</a:t>
            </a:r>
            <a:r>
              <a:rPr lang="en-US" dirty="0"/>
              <a:t> 3 </a:t>
            </a:r>
            <a:r>
              <a:rPr lang="en-US" dirty="0" err="1"/>
              <a:t>từ</a:t>
            </a:r>
            <a:r>
              <a:rPr lang="en-US" dirty="0"/>
              <a:t> </a:t>
            </a:r>
            <a:r>
              <a:rPr lang="en-US" dirty="0" err="1"/>
              <a:t>liên</a:t>
            </a:r>
            <a:r>
              <a:rPr lang="en-US" dirty="0"/>
              <a:t> </a:t>
            </a:r>
            <a:r>
              <a:rPr lang="en-US" dirty="0" err="1"/>
              <a:t>tiếp</a:t>
            </a:r>
            <a:endParaRPr lang="vi-VN" dirty="0"/>
          </a:p>
        </p:txBody>
      </p:sp>
      <p:sp>
        <p:nvSpPr>
          <p:cNvPr id="9" name="Hộp Văn bản 8">
            <a:extLst>
              <a:ext uri="{FF2B5EF4-FFF2-40B4-BE49-F238E27FC236}">
                <a16:creationId xmlns:a16="http://schemas.microsoft.com/office/drawing/2014/main" id="{F9EC849C-6D09-69AD-896E-C647E441F01A}"/>
              </a:ext>
            </a:extLst>
          </p:cNvPr>
          <p:cNvSpPr txBox="1"/>
          <p:nvPr/>
        </p:nvSpPr>
        <p:spPr>
          <a:xfrm>
            <a:off x="916938" y="3714929"/>
            <a:ext cx="11049000" cy="2585323"/>
          </a:xfrm>
          <a:prstGeom prst="rect">
            <a:avLst/>
          </a:prstGeom>
          <a:noFill/>
        </p:spPr>
        <p:txBody>
          <a:bodyPr wrap="square" rtlCol="0">
            <a:spAutoFit/>
          </a:bodyPr>
          <a:lstStyle/>
          <a:p>
            <a:r>
              <a:rPr lang="vi-VN" b="1" dirty="0">
                <a:latin typeface="Calibri" panose="020F0502020204030204" pitchFamily="34" charset="0"/>
                <a:ea typeface="Calibri" panose="020F0502020204030204" pitchFamily="34" charset="0"/>
                <a:cs typeface="Calibri" panose="020F0502020204030204" pitchFamily="34" charset="0"/>
              </a:rPr>
              <a:t>Nắm bắt ngữ cảnh:</a:t>
            </a:r>
            <a:endParaRPr lang="vi-VN"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vi-VN" dirty="0">
                <a:latin typeface="Calibri" panose="020F0502020204030204" pitchFamily="34" charset="0"/>
                <a:ea typeface="Calibri" panose="020F0502020204030204" pitchFamily="34" charset="0"/>
                <a:cs typeface="Calibri" panose="020F0502020204030204" pitchFamily="34" charset="0"/>
              </a:rPr>
              <a:t>Việc chỉ xem xét từng từ riêng lẻ (</a:t>
            </a:r>
            <a:r>
              <a:rPr lang="vi-VN" dirty="0" err="1">
                <a:latin typeface="Calibri" panose="020F0502020204030204" pitchFamily="34" charset="0"/>
                <a:ea typeface="Calibri" panose="020F0502020204030204" pitchFamily="34" charset="0"/>
                <a:cs typeface="Calibri" panose="020F0502020204030204" pitchFamily="34" charset="0"/>
              </a:rPr>
              <a:t>unigram</a:t>
            </a:r>
            <a:r>
              <a:rPr lang="vi-VN" dirty="0">
                <a:latin typeface="Calibri" panose="020F0502020204030204" pitchFamily="34" charset="0"/>
                <a:ea typeface="Calibri" panose="020F0502020204030204" pitchFamily="34" charset="0"/>
                <a:cs typeface="Calibri" panose="020F0502020204030204" pitchFamily="34" charset="0"/>
              </a:rPr>
              <a:t>) có thể bỏ lỡ thông tin về mối quan hệ giữa các từ.</a:t>
            </a:r>
          </a:p>
          <a:p>
            <a:pPr marL="742950" lvl="1" indent="-285750">
              <a:buFont typeface="Arial" panose="020B0604020202020204" pitchFamily="34" charset="0"/>
              <a:buChar char="•"/>
            </a:pPr>
            <a:r>
              <a:rPr lang="vi-VN" dirty="0">
                <a:latin typeface="Calibri" panose="020F0502020204030204" pitchFamily="34" charset="0"/>
                <a:ea typeface="Calibri" panose="020F0502020204030204" pitchFamily="34" charset="0"/>
                <a:cs typeface="Calibri" panose="020F0502020204030204" pitchFamily="34" charset="0"/>
              </a:rPr>
              <a:t>N-</a:t>
            </a:r>
            <a:r>
              <a:rPr lang="vi-VN" dirty="0" err="1">
                <a:latin typeface="Calibri" panose="020F0502020204030204" pitchFamily="34" charset="0"/>
                <a:ea typeface="Calibri" panose="020F0502020204030204" pitchFamily="34" charset="0"/>
                <a:cs typeface="Calibri" panose="020F0502020204030204" pitchFamily="34" charset="0"/>
              </a:rPr>
              <a:t>grams</a:t>
            </a:r>
            <a:r>
              <a:rPr lang="vi-VN" dirty="0">
                <a:latin typeface="Calibri" panose="020F0502020204030204" pitchFamily="34" charset="0"/>
                <a:ea typeface="Calibri" panose="020F0502020204030204" pitchFamily="34" charset="0"/>
                <a:cs typeface="Calibri" panose="020F0502020204030204" pitchFamily="34" charset="0"/>
              </a:rPr>
              <a:t> giúp giữ lại một phần ngữ cảnh xung quanh các từ, điều này rất quan trọng trong việc hiểu ý nghĩa của văn bản.</a:t>
            </a:r>
          </a:p>
          <a:p>
            <a:pPr marL="742950" lvl="1" indent="-285750">
              <a:buFont typeface="Arial" panose="020B0604020202020204" pitchFamily="34" charset="0"/>
              <a:buChar char="•"/>
            </a:pPr>
            <a:r>
              <a:rPr lang="vi-VN" dirty="0">
                <a:latin typeface="Calibri" panose="020F0502020204030204" pitchFamily="34" charset="0"/>
                <a:ea typeface="Calibri" panose="020F0502020204030204" pitchFamily="34" charset="0"/>
                <a:cs typeface="Calibri" panose="020F0502020204030204" pitchFamily="34" charset="0"/>
              </a:rPr>
              <a:t>Ví dụ: "không tốt" mang ý nghĩa khác với "tốt". </a:t>
            </a:r>
            <a:r>
              <a:rPr lang="vi-VN" dirty="0" err="1">
                <a:latin typeface="Calibri" panose="020F0502020204030204" pitchFamily="34" charset="0"/>
                <a:ea typeface="Calibri" panose="020F0502020204030204" pitchFamily="34" charset="0"/>
                <a:cs typeface="Calibri" panose="020F0502020204030204" pitchFamily="34" charset="0"/>
              </a:rPr>
              <a:t>Bigram</a:t>
            </a:r>
            <a:r>
              <a:rPr lang="vi-VN" dirty="0">
                <a:latin typeface="Calibri" panose="020F0502020204030204" pitchFamily="34" charset="0"/>
                <a:ea typeface="Calibri" panose="020F0502020204030204" pitchFamily="34" charset="0"/>
                <a:cs typeface="Calibri" panose="020F0502020204030204" pitchFamily="34" charset="0"/>
              </a:rPr>
              <a:t> "không tốt" thể hiện rõ điều này hơn là chỉ xem xét </a:t>
            </a:r>
            <a:r>
              <a:rPr lang="vi-VN" dirty="0" err="1">
                <a:latin typeface="Calibri" panose="020F0502020204030204" pitchFamily="34" charset="0"/>
                <a:ea typeface="Calibri" panose="020F0502020204030204" pitchFamily="34" charset="0"/>
                <a:cs typeface="Calibri" panose="020F0502020204030204" pitchFamily="34" charset="0"/>
              </a:rPr>
              <a:t>unigrams</a:t>
            </a:r>
            <a:r>
              <a:rPr lang="vi-VN" dirty="0">
                <a:latin typeface="Calibri" panose="020F0502020204030204" pitchFamily="34" charset="0"/>
                <a:ea typeface="Calibri" panose="020F0502020204030204" pitchFamily="34" charset="0"/>
                <a:cs typeface="Calibri" panose="020F0502020204030204" pitchFamily="34" charset="0"/>
              </a:rPr>
              <a:t> "không" và "tốt".</a:t>
            </a:r>
          </a:p>
          <a:p>
            <a:r>
              <a:rPr lang="vi-VN" b="1" dirty="0">
                <a:latin typeface="Calibri" panose="020F0502020204030204" pitchFamily="34" charset="0"/>
                <a:ea typeface="Calibri" panose="020F0502020204030204" pitchFamily="34" charset="0"/>
                <a:cs typeface="Calibri" panose="020F0502020204030204" pitchFamily="34" charset="0"/>
              </a:rPr>
              <a:t>Xử lý đa nghĩa:</a:t>
            </a:r>
            <a:r>
              <a:rPr lang="vi-VN" dirty="0">
                <a:latin typeface="Calibri" panose="020F0502020204030204" pitchFamily="34" charset="0"/>
                <a:ea typeface="Calibri" panose="020F0502020204030204" pitchFamily="34" charset="0"/>
                <a:cs typeface="Calibri" panose="020F0502020204030204" pitchFamily="34" charset="0"/>
              </a:rPr>
              <a:t> Một từ có thể có nhiều nghĩa tùy thuộc vào các từ đi kèm. N-</a:t>
            </a:r>
            <a:r>
              <a:rPr lang="vi-VN" dirty="0" err="1">
                <a:latin typeface="Calibri" panose="020F0502020204030204" pitchFamily="34" charset="0"/>
                <a:ea typeface="Calibri" panose="020F0502020204030204" pitchFamily="34" charset="0"/>
                <a:cs typeface="Calibri" panose="020F0502020204030204" pitchFamily="34" charset="0"/>
              </a:rPr>
              <a:t>grams</a:t>
            </a:r>
            <a:r>
              <a:rPr lang="vi-VN" dirty="0">
                <a:latin typeface="Calibri" panose="020F0502020204030204" pitchFamily="34" charset="0"/>
                <a:ea typeface="Calibri" panose="020F0502020204030204" pitchFamily="34" charset="0"/>
                <a:cs typeface="Calibri" panose="020F0502020204030204" pitchFamily="34" charset="0"/>
              </a:rPr>
              <a:t> giúp phân biệt các ngữ nghĩa này.</a:t>
            </a:r>
          </a:p>
          <a:p>
            <a:r>
              <a:rPr lang="vi-VN" b="1" dirty="0">
                <a:latin typeface="Calibri" panose="020F0502020204030204" pitchFamily="34" charset="0"/>
                <a:ea typeface="Calibri" panose="020F0502020204030204" pitchFamily="34" charset="0"/>
                <a:cs typeface="Calibri" panose="020F0502020204030204" pitchFamily="34" charset="0"/>
              </a:rPr>
              <a:t>Tăng cường đặc trưng:</a:t>
            </a:r>
            <a:r>
              <a:rPr lang="vi-VN" dirty="0">
                <a:latin typeface="Calibri" panose="020F0502020204030204" pitchFamily="34" charset="0"/>
                <a:ea typeface="Calibri" panose="020F0502020204030204" pitchFamily="34" charset="0"/>
                <a:cs typeface="Calibri" panose="020F0502020204030204" pitchFamily="34" charset="0"/>
              </a:rPr>
              <a:t> Các cụm từ (</a:t>
            </a:r>
            <a:r>
              <a:rPr lang="vi-VN" dirty="0" err="1">
                <a:latin typeface="Calibri" panose="020F0502020204030204" pitchFamily="34" charset="0"/>
                <a:ea typeface="Calibri" panose="020F0502020204030204" pitchFamily="34" charset="0"/>
                <a:cs typeface="Calibri" panose="020F0502020204030204" pitchFamily="34" charset="0"/>
              </a:rPr>
              <a:t>phrases</a:t>
            </a:r>
            <a:r>
              <a:rPr lang="vi-VN" dirty="0">
                <a:latin typeface="Calibri" panose="020F0502020204030204" pitchFamily="34" charset="0"/>
                <a:ea typeface="Calibri" panose="020F0502020204030204" pitchFamily="34" charset="0"/>
                <a:cs typeface="Calibri" panose="020F0502020204030204" pitchFamily="34" charset="0"/>
              </a:rPr>
              <a:t>) thường mang ý nghĩa đặc trưng cho một chủ đề hơn là các từ đơn lẻ. N-</a:t>
            </a:r>
            <a:r>
              <a:rPr lang="vi-VN" dirty="0" err="1">
                <a:latin typeface="Calibri" panose="020F0502020204030204" pitchFamily="34" charset="0"/>
                <a:ea typeface="Calibri" panose="020F0502020204030204" pitchFamily="34" charset="0"/>
                <a:cs typeface="Calibri" panose="020F0502020204030204" pitchFamily="34" charset="0"/>
              </a:rPr>
              <a:t>grams</a:t>
            </a:r>
            <a:r>
              <a:rPr lang="vi-VN" dirty="0">
                <a:latin typeface="Calibri" panose="020F0502020204030204" pitchFamily="34" charset="0"/>
                <a:ea typeface="Calibri" panose="020F0502020204030204" pitchFamily="34" charset="0"/>
                <a:cs typeface="Calibri" panose="020F0502020204030204" pitchFamily="34" charset="0"/>
              </a:rPr>
              <a:t> giúp biến các cụm từ này thành các đặc trưng hữu ích.</a:t>
            </a:r>
          </a:p>
        </p:txBody>
      </p:sp>
    </p:spTree>
    <p:extLst>
      <p:ext uri="{BB962C8B-B14F-4D97-AF65-F5344CB8AC3E}">
        <p14:creationId xmlns:p14="http://schemas.microsoft.com/office/powerpoint/2010/main" val="3423242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B2D4B-6F7D-6AAA-D8E0-EE6A2CB5F7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709A0AB-67F6-A952-0BDE-A081FAD8AC4A}"/>
              </a:ext>
            </a:extLst>
          </p:cNvPr>
          <p:cNvSpPr txBox="1">
            <a:spLocks noGrp="1"/>
          </p:cNvSpPr>
          <p:nvPr>
            <p:ph type="title"/>
          </p:nvPr>
        </p:nvSpPr>
        <p:spPr>
          <a:xfrm>
            <a:off x="916939" y="604837"/>
            <a:ext cx="5264785" cy="696595"/>
          </a:xfrm>
          <a:prstGeom prst="rect">
            <a:avLst/>
          </a:prstGeom>
        </p:spPr>
        <p:txBody>
          <a:bodyPr vert="horz" wrap="square" lIns="0" tIns="13335" rIns="0" bIns="0" rtlCol="0">
            <a:spAutoFit/>
          </a:bodyPr>
          <a:lstStyle/>
          <a:p>
            <a:pPr marL="12700">
              <a:lnSpc>
                <a:spcPct val="100000"/>
              </a:lnSpc>
              <a:spcBef>
                <a:spcPts val="105"/>
              </a:spcBef>
            </a:pPr>
            <a:r>
              <a:rPr sz="4400" spc="55" dirty="0"/>
              <a:t>2. </a:t>
            </a:r>
            <a:r>
              <a:rPr sz="4400" spc="20" dirty="0"/>
              <a:t>Trích xuất </a:t>
            </a:r>
            <a:r>
              <a:rPr sz="4400" spc="110" dirty="0"/>
              <a:t>đặc</a:t>
            </a:r>
            <a:r>
              <a:rPr sz="4400" spc="-710" dirty="0"/>
              <a:t> </a:t>
            </a:r>
            <a:r>
              <a:rPr sz="4400" spc="-55" dirty="0"/>
              <a:t>trưng</a:t>
            </a:r>
            <a:endParaRPr sz="4400" dirty="0"/>
          </a:p>
        </p:txBody>
      </p:sp>
      <p:sp>
        <p:nvSpPr>
          <p:cNvPr id="3" name="object 3">
            <a:extLst>
              <a:ext uri="{FF2B5EF4-FFF2-40B4-BE49-F238E27FC236}">
                <a16:creationId xmlns:a16="http://schemas.microsoft.com/office/drawing/2014/main" id="{281AC60A-8A0C-B09E-1A5A-B643B739AF9D}"/>
              </a:ext>
            </a:extLst>
          </p:cNvPr>
          <p:cNvSpPr txBox="1"/>
          <p:nvPr/>
        </p:nvSpPr>
        <p:spPr>
          <a:xfrm>
            <a:off x="916938" y="1379378"/>
            <a:ext cx="2776477" cy="505908"/>
          </a:xfrm>
          <a:prstGeom prst="rect">
            <a:avLst/>
          </a:prstGeom>
        </p:spPr>
        <p:txBody>
          <a:bodyPr vert="horz" wrap="square" lIns="0" tIns="13335" rIns="0" bIns="0" rtlCol="0">
            <a:spAutoFit/>
          </a:bodyPr>
          <a:lstStyle/>
          <a:p>
            <a:pPr marL="12700">
              <a:lnSpc>
                <a:spcPct val="100000"/>
              </a:lnSpc>
              <a:spcBef>
                <a:spcPts val="105"/>
              </a:spcBef>
            </a:pPr>
            <a:r>
              <a:rPr sz="3200" b="1" spc="40" dirty="0">
                <a:solidFill>
                  <a:srgbClr val="205F9A"/>
                </a:solidFill>
                <a:latin typeface="Calibri"/>
                <a:cs typeface="Calibri"/>
              </a:rPr>
              <a:t>2.1.</a:t>
            </a:r>
            <a:r>
              <a:rPr sz="3200" b="1" spc="-180" dirty="0">
                <a:solidFill>
                  <a:srgbClr val="205F9A"/>
                </a:solidFill>
                <a:latin typeface="Calibri"/>
                <a:cs typeface="Calibri"/>
              </a:rPr>
              <a:t> </a:t>
            </a:r>
            <a:r>
              <a:rPr lang="en-US" sz="3200" b="1" spc="114" dirty="0" err="1">
                <a:solidFill>
                  <a:srgbClr val="205F9A"/>
                </a:solidFill>
                <a:latin typeface="Calibri"/>
                <a:cs typeface="Calibri"/>
              </a:rPr>
              <a:t>Ngrams</a:t>
            </a:r>
            <a:r>
              <a:rPr lang="en-US" sz="3200" b="1" spc="114" dirty="0">
                <a:solidFill>
                  <a:srgbClr val="205F9A"/>
                </a:solidFill>
                <a:latin typeface="Calibri"/>
                <a:cs typeface="Calibri"/>
              </a:rPr>
              <a:t>:</a:t>
            </a:r>
            <a:endParaRPr sz="3200" dirty="0">
              <a:latin typeface="Calibri"/>
              <a:cs typeface="Calibri"/>
            </a:endParaRPr>
          </a:p>
        </p:txBody>
      </p:sp>
      <p:sp>
        <p:nvSpPr>
          <p:cNvPr id="6" name="Hộp Văn bản 5">
            <a:extLst>
              <a:ext uri="{FF2B5EF4-FFF2-40B4-BE49-F238E27FC236}">
                <a16:creationId xmlns:a16="http://schemas.microsoft.com/office/drawing/2014/main" id="{82F93BCB-AAD6-85C1-2BD3-D3EC77C6543C}"/>
              </a:ext>
            </a:extLst>
          </p:cNvPr>
          <p:cNvSpPr txBox="1"/>
          <p:nvPr/>
        </p:nvSpPr>
        <p:spPr>
          <a:xfrm>
            <a:off x="916938" y="2012000"/>
            <a:ext cx="7388862" cy="369332"/>
          </a:xfrm>
          <a:prstGeom prst="rect">
            <a:avLst/>
          </a:prstGeom>
          <a:noFill/>
        </p:spPr>
        <p:txBody>
          <a:bodyPr wrap="square" rtlCol="0">
            <a:spAutoFit/>
          </a:bodyPr>
          <a:lstStyle/>
          <a:p>
            <a:r>
              <a:rPr lang="vi-VN" b="1" dirty="0"/>
              <a:t>Ví dụ với câu:</a:t>
            </a:r>
            <a:r>
              <a:rPr lang="vi-VN" dirty="0"/>
              <a:t> "Khoa học dữ liệu là một lĩnh vực thú vị."</a:t>
            </a:r>
          </a:p>
        </p:txBody>
      </p:sp>
      <p:sp>
        <p:nvSpPr>
          <p:cNvPr id="7" name="Hộp Văn bản 6">
            <a:extLst>
              <a:ext uri="{FF2B5EF4-FFF2-40B4-BE49-F238E27FC236}">
                <a16:creationId xmlns:a16="http://schemas.microsoft.com/office/drawing/2014/main" id="{03F645F8-3EF2-1FCF-48A6-FF518180D26C}"/>
              </a:ext>
            </a:extLst>
          </p:cNvPr>
          <p:cNvSpPr txBox="1"/>
          <p:nvPr/>
        </p:nvSpPr>
        <p:spPr>
          <a:xfrm>
            <a:off x="806383" y="2667000"/>
            <a:ext cx="2013018" cy="3139321"/>
          </a:xfrm>
          <a:prstGeom prst="rect">
            <a:avLst/>
          </a:prstGeom>
          <a:noFill/>
        </p:spPr>
        <p:txBody>
          <a:bodyPr wrap="square" rtlCol="0">
            <a:spAutoFit/>
          </a:bodyPr>
          <a:lstStyle/>
          <a:p>
            <a:pPr>
              <a:buNone/>
            </a:pPr>
            <a:r>
              <a:rPr lang="vi-VN" b="1" dirty="0" err="1"/>
              <a:t>Unigrams</a:t>
            </a:r>
            <a:r>
              <a:rPr lang="vi-VN" b="1" dirty="0"/>
              <a:t> (N=1):</a:t>
            </a:r>
            <a:endParaRPr lang="vi-VN" dirty="0"/>
          </a:p>
          <a:p>
            <a:pPr>
              <a:buFont typeface="Arial" panose="020B0604020202020204" pitchFamily="34" charset="0"/>
              <a:buChar char="•"/>
            </a:pPr>
            <a:r>
              <a:rPr lang="vi-VN" dirty="0"/>
              <a:t>"Khoa"</a:t>
            </a:r>
          </a:p>
          <a:p>
            <a:pPr>
              <a:buFont typeface="Arial" panose="020B0604020202020204" pitchFamily="34" charset="0"/>
              <a:buChar char="•"/>
            </a:pPr>
            <a:r>
              <a:rPr lang="vi-VN" dirty="0"/>
              <a:t>"học"</a:t>
            </a:r>
          </a:p>
          <a:p>
            <a:pPr>
              <a:buFont typeface="Arial" panose="020B0604020202020204" pitchFamily="34" charset="0"/>
              <a:buChar char="•"/>
            </a:pPr>
            <a:r>
              <a:rPr lang="vi-VN" dirty="0"/>
              <a:t>"dữ"</a:t>
            </a:r>
          </a:p>
          <a:p>
            <a:pPr>
              <a:buFont typeface="Arial" panose="020B0604020202020204" pitchFamily="34" charset="0"/>
              <a:buChar char="•"/>
            </a:pPr>
            <a:r>
              <a:rPr lang="vi-VN" dirty="0"/>
              <a:t>"liệu"</a:t>
            </a:r>
          </a:p>
          <a:p>
            <a:pPr>
              <a:buFont typeface="Arial" panose="020B0604020202020204" pitchFamily="34" charset="0"/>
              <a:buChar char="•"/>
            </a:pPr>
            <a:r>
              <a:rPr lang="vi-VN" dirty="0"/>
              <a:t>"là"</a:t>
            </a:r>
          </a:p>
          <a:p>
            <a:pPr>
              <a:buFont typeface="Arial" panose="020B0604020202020204" pitchFamily="34" charset="0"/>
              <a:buChar char="•"/>
            </a:pPr>
            <a:r>
              <a:rPr lang="vi-VN" dirty="0"/>
              <a:t>"một"</a:t>
            </a:r>
          </a:p>
          <a:p>
            <a:pPr>
              <a:buFont typeface="Arial" panose="020B0604020202020204" pitchFamily="34" charset="0"/>
              <a:buChar char="•"/>
            </a:pPr>
            <a:r>
              <a:rPr lang="vi-VN" dirty="0"/>
              <a:t>"lĩnh"</a:t>
            </a:r>
          </a:p>
          <a:p>
            <a:pPr>
              <a:buFont typeface="Arial" panose="020B0604020202020204" pitchFamily="34" charset="0"/>
              <a:buChar char="•"/>
            </a:pPr>
            <a:r>
              <a:rPr lang="vi-VN" dirty="0"/>
              <a:t>"vực"</a:t>
            </a:r>
          </a:p>
          <a:p>
            <a:pPr>
              <a:buFont typeface="Arial" panose="020B0604020202020204" pitchFamily="34" charset="0"/>
              <a:buChar char="•"/>
            </a:pPr>
            <a:r>
              <a:rPr lang="vi-VN" dirty="0"/>
              <a:t>"thú"</a:t>
            </a:r>
          </a:p>
          <a:p>
            <a:pPr>
              <a:buFont typeface="Arial" panose="020B0604020202020204" pitchFamily="34" charset="0"/>
              <a:buChar char="•"/>
            </a:pPr>
            <a:r>
              <a:rPr lang="vi-VN" dirty="0"/>
              <a:t>"vị"</a:t>
            </a:r>
          </a:p>
        </p:txBody>
      </p:sp>
      <p:sp>
        <p:nvSpPr>
          <p:cNvPr id="8" name="Hộp Văn bản 7">
            <a:extLst>
              <a:ext uri="{FF2B5EF4-FFF2-40B4-BE49-F238E27FC236}">
                <a16:creationId xmlns:a16="http://schemas.microsoft.com/office/drawing/2014/main" id="{FD8B7772-AF47-F923-6A98-301A98BE9686}"/>
              </a:ext>
            </a:extLst>
          </p:cNvPr>
          <p:cNvSpPr txBox="1"/>
          <p:nvPr/>
        </p:nvSpPr>
        <p:spPr>
          <a:xfrm>
            <a:off x="3163569" y="2667000"/>
            <a:ext cx="1865631" cy="2862322"/>
          </a:xfrm>
          <a:prstGeom prst="rect">
            <a:avLst/>
          </a:prstGeom>
          <a:noFill/>
        </p:spPr>
        <p:txBody>
          <a:bodyPr wrap="square" rtlCol="0">
            <a:spAutoFit/>
          </a:bodyPr>
          <a:lstStyle/>
          <a:p>
            <a:pPr>
              <a:buNone/>
            </a:pPr>
            <a:r>
              <a:rPr lang="vi-VN" b="1" dirty="0" err="1"/>
              <a:t>Bigrams</a:t>
            </a:r>
            <a:r>
              <a:rPr lang="vi-VN" b="1" dirty="0"/>
              <a:t> (N=2):</a:t>
            </a:r>
            <a:endParaRPr lang="vi-VN" dirty="0"/>
          </a:p>
          <a:p>
            <a:pPr>
              <a:buFont typeface="Arial" panose="020B0604020202020204" pitchFamily="34" charset="0"/>
              <a:buChar char="•"/>
            </a:pPr>
            <a:r>
              <a:rPr lang="vi-VN" dirty="0"/>
              <a:t>"Khoa học"</a:t>
            </a:r>
          </a:p>
          <a:p>
            <a:pPr>
              <a:buFont typeface="Arial" panose="020B0604020202020204" pitchFamily="34" charset="0"/>
              <a:buChar char="•"/>
            </a:pPr>
            <a:r>
              <a:rPr lang="vi-VN" dirty="0"/>
              <a:t>"học dữ"</a:t>
            </a:r>
          </a:p>
          <a:p>
            <a:pPr>
              <a:buFont typeface="Arial" panose="020B0604020202020204" pitchFamily="34" charset="0"/>
              <a:buChar char="•"/>
            </a:pPr>
            <a:r>
              <a:rPr lang="vi-VN" dirty="0"/>
              <a:t>"dữ liệu"</a:t>
            </a:r>
          </a:p>
          <a:p>
            <a:pPr>
              <a:buFont typeface="Arial" panose="020B0604020202020204" pitchFamily="34" charset="0"/>
              <a:buChar char="•"/>
            </a:pPr>
            <a:r>
              <a:rPr lang="vi-VN" dirty="0"/>
              <a:t>"liệu là"</a:t>
            </a:r>
          </a:p>
          <a:p>
            <a:pPr>
              <a:buFont typeface="Arial" panose="020B0604020202020204" pitchFamily="34" charset="0"/>
              <a:buChar char="•"/>
            </a:pPr>
            <a:r>
              <a:rPr lang="vi-VN" dirty="0"/>
              <a:t>"là một"</a:t>
            </a:r>
          </a:p>
          <a:p>
            <a:pPr>
              <a:buFont typeface="Arial" panose="020B0604020202020204" pitchFamily="34" charset="0"/>
              <a:buChar char="•"/>
            </a:pPr>
            <a:r>
              <a:rPr lang="vi-VN" dirty="0"/>
              <a:t>"một lĩnh"</a:t>
            </a:r>
          </a:p>
          <a:p>
            <a:pPr>
              <a:buFont typeface="Arial" panose="020B0604020202020204" pitchFamily="34" charset="0"/>
              <a:buChar char="•"/>
            </a:pPr>
            <a:r>
              <a:rPr lang="vi-VN" dirty="0"/>
              <a:t>"lĩnh vực"</a:t>
            </a:r>
          </a:p>
          <a:p>
            <a:pPr>
              <a:buFont typeface="Arial" panose="020B0604020202020204" pitchFamily="34" charset="0"/>
              <a:buChar char="•"/>
            </a:pPr>
            <a:r>
              <a:rPr lang="vi-VN" dirty="0"/>
              <a:t>"vực thú"</a:t>
            </a:r>
          </a:p>
          <a:p>
            <a:pPr>
              <a:buFont typeface="Arial" panose="020B0604020202020204" pitchFamily="34" charset="0"/>
              <a:buChar char="•"/>
            </a:pPr>
            <a:r>
              <a:rPr lang="vi-VN" dirty="0"/>
              <a:t>"thú vị"</a:t>
            </a:r>
          </a:p>
        </p:txBody>
      </p:sp>
      <p:sp>
        <p:nvSpPr>
          <p:cNvPr id="10" name="Hộp Văn bản 9">
            <a:extLst>
              <a:ext uri="{FF2B5EF4-FFF2-40B4-BE49-F238E27FC236}">
                <a16:creationId xmlns:a16="http://schemas.microsoft.com/office/drawing/2014/main" id="{D642F548-567C-4E4F-F929-CAA41E078CEA}"/>
              </a:ext>
            </a:extLst>
          </p:cNvPr>
          <p:cNvSpPr txBox="1"/>
          <p:nvPr/>
        </p:nvSpPr>
        <p:spPr>
          <a:xfrm>
            <a:off x="5334000" y="2667000"/>
            <a:ext cx="2057400" cy="2585323"/>
          </a:xfrm>
          <a:prstGeom prst="rect">
            <a:avLst/>
          </a:prstGeom>
          <a:noFill/>
        </p:spPr>
        <p:txBody>
          <a:bodyPr wrap="square" rtlCol="0">
            <a:spAutoFit/>
          </a:bodyPr>
          <a:lstStyle/>
          <a:p>
            <a:pPr>
              <a:buNone/>
            </a:pPr>
            <a:r>
              <a:rPr lang="vi-VN" b="1" dirty="0" err="1"/>
              <a:t>Trigrams</a:t>
            </a:r>
            <a:r>
              <a:rPr lang="vi-VN" b="1" dirty="0"/>
              <a:t> (N=3):</a:t>
            </a:r>
            <a:endParaRPr lang="vi-VN" dirty="0"/>
          </a:p>
          <a:p>
            <a:pPr>
              <a:buFont typeface="Arial" panose="020B0604020202020204" pitchFamily="34" charset="0"/>
              <a:buChar char="•"/>
            </a:pPr>
            <a:r>
              <a:rPr lang="vi-VN" dirty="0"/>
              <a:t>"Khoa học dữ"</a:t>
            </a:r>
          </a:p>
          <a:p>
            <a:pPr>
              <a:buFont typeface="Arial" panose="020B0604020202020204" pitchFamily="34" charset="0"/>
              <a:buChar char="•"/>
            </a:pPr>
            <a:r>
              <a:rPr lang="vi-VN" dirty="0"/>
              <a:t>"học dữ liệu"</a:t>
            </a:r>
          </a:p>
          <a:p>
            <a:pPr>
              <a:buFont typeface="Arial" panose="020B0604020202020204" pitchFamily="34" charset="0"/>
              <a:buChar char="•"/>
            </a:pPr>
            <a:r>
              <a:rPr lang="vi-VN" dirty="0"/>
              <a:t>"dữ liệu là"</a:t>
            </a:r>
          </a:p>
          <a:p>
            <a:pPr>
              <a:buFont typeface="Arial" panose="020B0604020202020204" pitchFamily="34" charset="0"/>
              <a:buChar char="•"/>
            </a:pPr>
            <a:r>
              <a:rPr lang="vi-VN" dirty="0"/>
              <a:t>"liệu là một"</a:t>
            </a:r>
          </a:p>
          <a:p>
            <a:pPr>
              <a:buFont typeface="Arial" panose="020B0604020202020204" pitchFamily="34" charset="0"/>
              <a:buChar char="•"/>
            </a:pPr>
            <a:r>
              <a:rPr lang="vi-VN" dirty="0"/>
              <a:t>"là một lĩnh"</a:t>
            </a:r>
          </a:p>
          <a:p>
            <a:pPr>
              <a:buFont typeface="Arial" panose="020B0604020202020204" pitchFamily="34" charset="0"/>
              <a:buChar char="•"/>
            </a:pPr>
            <a:r>
              <a:rPr lang="vi-VN" dirty="0"/>
              <a:t>"một lĩnh vực"</a:t>
            </a:r>
          </a:p>
          <a:p>
            <a:pPr>
              <a:buFont typeface="Arial" panose="020B0604020202020204" pitchFamily="34" charset="0"/>
              <a:buChar char="•"/>
            </a:pPr>
            <a:r>
              <a:rPr lang="vi-VN" dirty="0"/>
              <a:t>"lĩnh vực thú"</a:t>
            </a:r>
          </a:p>
          <a:p>
            <a:pPr>
              <a:buFont typeface="Arial" panose="020B0604020202020204" pitchFamily="34" charset="0"/>
              <a:buChar char="•"/>
            </a:pPr>
            <a:r>
              <a:rPr lang="vi-VN" dirty="0"/>
              <a:t>"vực thú vị"</a:t>
            </a:r>
          </a:p>
        </p:txBody>
      </p:sp>
    </p:spTree>
    <p:extLst>
      <p:ext uri="{BB962C8B-B14F-4D97-AF65-F5344CB8AC3E}">
        <p14:creationId xmlns:p14="http://schemas.microsoft.com/office/powerpoint/2010/main" val="2426555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4837"/>
            <a:ext cx="5264785" cy="696595"/>
          </a:xfrm>
          <a:prstGeom prst="rect">
            <a:avLst/>
          </a:prstGeom>
        </p:spPr>
        <p:txBody>
          <a:bodyPr vert="horz" wrap="square" lIns="0" tIns="13335" rIns="0" bIns="0" rtlCol="0">
            <a:spAutoFit/>
          </a:bodyPr>
          <a:lstStyle/>
          <a:p>
            <a:pPr marL="12700">
              <a:lnSpc>
                <a:spcPct val="100000"/>
              </a:lnSpc>
              <a:spcBef>
                <a:spcPts val="105"/>
              </a:spcBef>
            </a:pPr>
            <a:r>
              <a:rPr sz="4400" spc="55" dirty="0"/>
              <a:t>2. </a:t>
            </a:r>
            <a:r>
              <a:rPr sz="4400" spc="20" dirty="0"/>
              <a:t>Trích xuất </a:t>
            </a:r>
            <a:r>
              <a:rPr sz="4400" spc="110" dirty="0"/>
              <a:t>đặc</a:t>
            </a:r>
            <a:r>
              <a:rPr sz="4400" spc="-710" dirty="0"/>
              <a:t> </a:t>
            </a:r>
            <a:r>
              <a:rPr sz="4400" spc="-55" dirty="0"/>
              <a:t>trưng</a:t>
            </a:r>
            <a:endParaRPr sz="4400"/>
          </a:p>
        </p:txBody>
      </p:sp>
      <p:sp>
        <p:nvSpPr>
          <p:cNvPr id="3" name="object 3"/>
          <p:cNvSpPr txBox="1"/>
          <p:nvPr/>
        </p:nvSpPr>
        <p:spPr>
          <a:xfrm>
            <a:off x="916939" y="1379378"/>
            <a:ext cx="1908810" cy="513715"/>
          </a:xfrm>
          <a:prstGeom prst="rect">
            <a:avLst/>
          </a:prstGeom>
        </p:spPr>
        <p:txBody>
          <a:bodyPr vert="horz" wrap="square" lIns="0" tIns="13335" rIns="0" bIns="0" rtlCol="0">
            <a:spAutoFit/>
          </a:bodyPr>
          <a:lstStyle/>
          <a:p>
            <a:pPr marL="12700">
              <a:lnSpc>
                <a:spcPct val="100000"/>
              </a:lnSpc>
              <a:spcBef>
                <a:spcPts val="105"/>
              </a:spcBef>
            </a:pPr>
            <a:r>
              <a:rPr sz="3200" b="1" spc="40" dirty="0">
                <a:solidFill>
                  <a:srgbClr val="205F9A"/>
                </a:solidFill>
                <a:latin typeface="Calibri"/>
                <a:cs typeface="Calibri"/>
              </a:rPr>
              <a:t>2.</a:t>
            </a:r>
            <a:r>
              <a:rPr lang="en-US" sz="3200" b="1" spc="40" dirty="0">
                <a:solidFill>
                  <a:srgbClr val="205F9A"/>
                </a:solidFill>
                <a:latin typeface="Calibri"/>
                <a:cs typeface="Calibri"/>
              </a:rPr>
              <a:t>2</a:t>
            </a:r>
            <a:r>
              <a:rPr sz="3200" b="1" spc="40" dirty="0">
                <a:solidFill>
                  <a:srgbClr val="205F9A"/>
                </a:solidFill>
                <a:latin typeface="Calibri"/>
                <a:cs typeface="Calibri"/>
              </a:rPr>
              <a:t>.</a:t>
            </a:r>
            <a:r>
              <a:rPr sz="3200" b="1" spc="-180" dirty="0">
                <a:solidFill>
                  <a:srgbClr val="205F9A"/>
                </a:solidFill>
                <a:latin typeface="Calibri"/>
                <a:cs typeface="Calibri"/>
              </a:rPr>
              <a:t> </a:t>
            </a:r>
            <a:r>
              <a:rPr sz="3200" b="1" spc="114" dirty="0">
                <a:solidFill>
                  <a:srgbClr val="205F9A"/>
                </a:solidFill>
                <a:latin typeface="Calibri"/>
                <a:cs typeface="Calibri"/>
              </a:rPr>
              <a:t>TF-IDF</a:t>
            </a:r>
            <a:endParaRPr sz="3200" dirty="0">
              <a:latin typeface="Calibri"/>
              <a:cs typeface="Calibri"/>
            </a:endParaRPr>
          </a:p>
        </p:txBody>
      </p:sp>
      <p:sp>
        <p:nvSpPr>
          <p:cNvPr id="4" name="object 4"/>
          <p:cNvSpPr/>
          <p:nvPr/>
        </p:nvSpPr>
        <p:spPr>
          <a:xfrm>
            <a:off x="3736847" y="2212848"/>
            <a:ext cx="1775459" cy="166725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530851" y="2212847"/>
            <a:ext cx="1240535" cy="166725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789932" y="2212848"/>
            <a:ext cx="2153411" cy="1667255"/>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4203100" y="2391130"/>
            <a:ext cx="2251075" cy="939800"/>
          </a:xfrm>
          <a:prstGeom prst="rect">
            <a:avLst/>
          </a:prstGeom>
        </p:spPr>
        <p:txBody>
          <a:bodyPr vert="horz" wrap="square" lIns="0" tIns="12700" rIns="0" bIns="0" rtlCol="0">
            <a:spAutoFit/>
          </a:bodyPr>
          <a:lstStyle/>
          <a:p>
            <a:pPr marL="12700">
              <a:lnSpc>
                <a:spcPct val="100000"/>
              </a:lnSpc>
              <a:spcBef>
                <a:spcPts val="100"/>
              </a:spcBef>
            </a:pPr>
            <a:r>
              <a:rPr sz="6000" b="1" spc="-540" dirty="0">
                <a:latin typeface="Arial"/>
                <a:cs typeface="Arial"/>
              </a:rPr>
              <a:t>T</a:t>
            </a:r>
            <a:r>
              <a:rPr sz="6000" b="1" spc="-545" dirty="0">
                <a:latin typeface="Arial"/>
                <a:cs typeface="Arial"/>
              </a:rPr>
              <a:t>F</a:t>
            </a:r>
            <a:r>
              <a:rPr sz="6000" b="1" spc="35" dirty="0">
                <a:latin typeface="Arial"/>
                <a:cs typeface="Arial"/>
              </a:rPr>
              <a:t>-</a:t>
            </a:r>
            <a:r>
              <a:rPr sz="6000" b="1" dirty="0">
                <a:latin typeface="Arial"/>
                <a:cs typeface="Arial"/>
              </a:rPr>
              <a:t>I</a:t>
            </a:r>
            <a:r>
              <a:rPr sz="6000" b="1" spc="5" dirty="0">
                <a:latin typeface="Arial"/>
                <a:cs typeface="Arial"/>
              </a:rPr>
              <a:t>D</a:t>
            </a:r>
            <a:r>
              <a:rPr sz="6000" b="1" spc="-450" dirty="0">
                <a:latin typeface="Arial"/>
                <a:cs typeface="Arial"/>
              </a:rPr>
              <a:t>F</a:t>
            </a:r>
            <a:endParaRPr sz="6000" dirty="0">
              <a:latin typeface="Arial"/>
              <a:cs typeface="Arial"/>
            </a:endParaRPr>
          </a:p>
        </p:txBody>
      </p:sp>
      <p:sp>
        <p:nvSpPr>
          <p:cNvPr id="8" name="object 8"/>
          <p:cNvSpPr/>
          <p:nvPr/>
        </p:nvSpPr>
        <p:spPr>
          <a:xfrm>
            <a:off x="3744300" y="3249929"/>
            <a:ext cx="598170" cy="446405"/>
          </a:xfrm>
          <a:custGeom>
            <a:avLst/>
            <a:gdLst/>
            <a:ahLst/>
            <a:cxnLst/>
            <a:rect l="l" t="t" r="r" b="b"/>
            <a:pathLst>
              <a:path w="598170" h="446404">
                <a:moveTo>
                  <a:pt x="598042" y="0"/>
                </a:moveTo>
                <a:lnTo>
                  <a:pt x="0" y="446265"/>
                </a:lnTo>
              </a:path>
            </a:pathLst>
          </a:custGeom>
          <a:ln w="19050">
            <a:solidFill>
              <a:srgbClr val="145F82"/>
            </a:solidFill>
          </a:ln>
        </p:spPr>
        <p:txBody>
          <a:bodyPr wrap="square" lIns="0" tIns="0" rIns="0" bIns="0" rtlCol="0"/>
          <a:lstStyle/>
          <a:p>
            <a:endParaRPr/>
          </a:p>
        </p:txBody>
      </p:sp>
      <p:sp>
        <p:nvSpPr>
          <p:cNvPr id="9" name="object 9"/>
          <p:cNvSpPr/>
          <p:nvPr/>
        </p:nvSpPr>
        <p:spPr>
          <a:xfrm>
            <a:off x="3693416" y="3658059"/>
            <a:ext cx="84455" cy="76200"/>
          </a:xfrm>
          <a:custGeom>
            <a:avLst/>
            <a:gdLst/>
            <a:ahLst/>
            <a:cxnLst/>
            <a:rect l="l" t="t" r="r" b="b"/>
            <a:pathLst>
              <a:path w="84454" h="76200">
                <a:moveTo>
                  <a:pt x="38277" y="0"/>
                </a:moveTo>
                <a:lnTo>
                  <a:pt x="0" y="76111"/>
                </a:lnTo>
                <a:lnTo>
                  <a:pt x="83858" y="61074"/>
                </a:lnTo>
                <a:lnTo>
                  <a:pt x="38277" y="0"/>
                </a:lnTo>
                <a:close/>
              </a:path>
            </a:pathLst>
          </a:custGeom>
          <a:solidFill>
            <a:srgbClr val="145F82"/>
          </a:solidFill>
        </p:spPr>
        <p:txBody>
          <a:bodyPr wrap="square" lIns="0" tIns="0" rIns="0" bIns="0" rtlCol="0"/>
          <a:lstStyle/>
          <a:p>
            <a:endParaRPr/>
          </a:p>
        </p:txBody>
      </p:sp>
      <p:sp>
        <p:nvSpPr>
          <p:cNvPr id="10" name="object 10"/>
          <p:cNvSpPr/>
          <p:nvPr/>
        </p:nvSpPr>
        <p:spPr>
          <a:xfrm>
            <a:off x="6317741" y="3236214"/>
            <a:ext cx="598805" cy="459740"/>
          </a:xfrm>
          <a:custGeom>
            <a:avLst/>
            <a:gdLst/>
            <a:ahLst/>
            <a:cxnLst/>
            <a:rect l="l" t="t" r="r" b="b"/>
            <a:pathLst>
              <a:path w="598804" h="459739">
                <a:moveTo>
                  <a:pt x="0" y="0"/>
                </a:moveTo>
                <a:lnTo>
                  <a:pt x="598551" y="459359"/>
                </a:lnTo>
              </a:path>
            </a:pathLst>
          </a:custGeom>
          <a:ln w="19050">
            <a:solidFill>
              <a:srgbClr val="145F82"/>
            </a:solidFill>
          </a:ln>
        </p:spPr>
        <p:txBody>
          <a:bodyPr wrap="square" lIns="0" tIns="0" rIns="0" bIns="0" rtlCol="0"/>
          <a:lstStyle/>
          <a:p>
            <a:endParaRPr/>
          </a:p>
        </p:txBody>
      </p:sp>
      <p:sp>
        <p:nvSpPr>
          <p:cNvPr id="11" name="object 11"/>
          <p:cNvSpPr/>
          <p:nvPr/>
        </p:nvSpPr>
        <p:spPr>
          <a:xfrm>
            <a:off x="6883025" y="3657612"/>
            <a:ext cx="83820" cy="76835"/>
          </a:xfrm>
          <a:custGeom>
            <a:avLst/>
            <a:gdLst/>
            <a:ahLst/>
            <a:cxnLst/>
            <a:rect l="l" t="t" r="r" b="b"/>
            <a:pathLst>
              <a:path w="83820" h="76835">
                <a:moveTo>
                  <a:pt x="46393" y="0"/>
                </a:moveTo>
                <a:lnTo>
                  <a:pt x="0" y="60452"/>
                </a:lnTo>
                <a:lnTo>
                  <a:pt x="83642" y="76619"/>
                </a:lnTo>
                <a:lnTo>
                  <a:pt x="46393" y="0"/>
                </a:lnTo>
                <a:close/>
              </a:path>
            </a:pathLst>
          </a:custGeom>
          <a:solidFill>
            <a:srgbClr val="145F82"/>
          </a:solidFill>
        </p:spPr>
        <p:txBody>
          <a:bodyPr wrap="square" lIns="0" tIns="0" rIns="0" bIns="0" rtlCol="0"/>
          <a:lstStyle/>
          <a:p>
            <a:endParaRPr/>
          </a:p>
        </p:txBody>
      </p:sp>
      <p:sp>
        <p:nvSpPr>
          <p:cNvPr id="12" name="object 12"/>
          <p:cNvSpPr txBox="1"/>
          <p:nvPr/>
        </p:nvSpPr>
        <p:spPr>
          <a:xfrm>
            <a:off x="2913409" y="3833207"/>
            <a:ext cx="1543685" cy="299720"/>
          </a:xfrm>
          <a:prstGeom prst="rect">
            <a:avLst/>
          </a:prstGeom>
        </p:spPr>
        <p:txBody>
          <a:bodyPr vert="horz" wrap="square" lIns="0" tIns="12700" rIns="0" bIns="0" rtlCol="0">
            <a:spAutoFit/>
          </a:bodyPr>
          <a:lstStyle/>
          <a:p>
            <a:pPr marL="12700">
              <a:lnSpc>
                <a:spcPct val="100000"/>
              </a:lnSpc>
              <a:spcBef>
                <a:spcPts val="100"/>
              </a:spcBef>
            </a:pPr>
            <a:r>
              <a:rPr sz="1800" spc="-105" dirty="0">
                <a:latin typeface="Arial"/>
                <a:cs typeface="Arial"/>
              </a:rPr>
              <a:t>Term</a:t>
            </a:r>
            <a:r>
              <a:rPr sz="1800" spc="-175" dirty="0">
                <a:latin typeface="Arial"/>
                <a:cs typeface="Arial"/>
              </a:rPr>
              <a:t> </a:t>
            </a:r>
            <a:r>
              <a:rPr sz="1800" spc="-20" dirty="0">
                <a:latin typeface="Arial"/>
                <a:cs typeface="Arial"/>
              </a:rPr>
              <a:t>frequency</a:t>
            </a:r>
            <a:endParaRPr sz="1800">
              <a:latin typeface="Arial"/>
              <a:cs typeface="Arial"/>
            </a:endParaRPr>
          </a:p>
        </p:txBody>
      </p:sp>
      <p:sp>
        <p:nvSpPr>
          <p:cNvPr id="13" name="object 13"/>
          <p:cNvSpPr txBox="1"/>
          <p:nvPr/>
        </p:nvSpPr>
        <p:spPr>
          <a:xfrm>
            <a:off x="6186504" y="3833207"/>
            <a:ext cx="2834640" cy="299720"/>
          </a:xfrm>
          <a:prstGeom prst="rect">
            <a:avLst/>
          </a:prstGeom>
        </p:spPr>
        <p:txBody>
          <a:bodyPr vert="horz" wrap="square" lIns="0" tIns="12700" rIns="0" bIns="0" rtlCol="0">
            <a:spAutoFit/>
          </a:bodyPr>
          <a:lstStyle/>
          <a:p>
            <a:pPr marL="12700">
              <a:lnSpc>
                <a:spcPct val="100000"/>
              </a:lnSpc>
              <a:spcBef>
                <a:spcPts val="100"/>
              </a:spcBef>
            </a:pPr>
            <a:r>
              <a:rPr sz="1800" spc="-45" dirty="0">
                <a:latin typeface="Arial"/>
                <a:cs typeface="Arial"/>
              </a:rPr>
              <a:t>Inverse </a:t>
            </a:r>
            <a:r>
              <a:rPr sz="1800" spc="10" dirty="0">
                <a:latin typeface="Arial"/>
                <a:cs typeface="Arial"/>
              </a:rPr>
              <a:t>document</a:t>
            </a:r>
            <a:r>
              <a:rPr sz="1800" spc="-285" dirty="0">
                <a:latin typeface="Arial"/>
                <a:cs typeface="Arial"/>
              </a:rPr>
              <a:t> </a:t>
            </a:r>
            <a:r>
              <a:rPr sz="1800" spc="-20" dirty="0">
                <a:latin typeface="Arial"/>
                <a:cs typeface="Arial"/>
              </a:rPr>
              <a:t>frequency</a:t>
            </a:r>
            <a:endParaRPr sz="1800">
              <a:latin typeface="Arial"/>
              <a:cs typeface="Arial"/>
            </a:endParaRPr>
          </a:p>
        </p:txBody>
      </p:sp>
      <p:sp>
        <p:nvSpPr>
          <p:cNvPr id="14" name="object 14"/>
          <p:cNvSpPr txBox="1"/>
          <p:nvPr/>
        </p:nvSpPr>
        <p:spPr>
          <a:xfrm>
            <a:off x="916939" y="4895804"/>
            <a:ext cx="9514205" cy="1259840"/>
          </a:xfrm>
          <a:prstGeom prst="rect">
            <a:avLst/>
          </a:prstGeom>
        </p:spPr>
        <p:txBody>
          <a:bodyPr vert="horz" wrap="square" lIns="0" tIns="149860" rIns="0" bIns="0" rtlCol="0">
            <a:spAutoFit/>
          </a:bodyPr>
          <a:lstStyle/>
          <a:p>
            <a:pPr marL="299085" indent="-287020">
              <a:lnSpc>
                <a:spcPct val="100000"/>
              </a:lnSpc>
              <a:spcBef>
                <a:spcPts val="1180"/>
              </a:spcBef>
              <a:buChar char="•"/>
              <a:tabLst>
                <a:tab pos="299085" algn="l"/>
                <a:tab pos="299720" algn="l"/>
              </a:tabLst>
            </a:pPr>
            <a:r>
              <a:rPr sz="1800" spc="-110" dirty="0">
                <a:latin typeface="Arial"/>
                <a:cs typeface="Arial"/>
              </a:rPr>
              <a:t>TF-IDF</a:t>
            </a:r>
            <a:r>
              <a:rPr sz="1800" spc="-140" dirty="0">
                <a:latin typeface="Arial"/>
                <a:cs typeface="Arial"/>
              </a:rPr>
              <a:t> </a:t>
            </a:r>
            <a:r>
              <a:rPr sz="1800" spc="5" dirty="0">
                <a:latin typeface="Arial"/>
                <a:cs typeface="Arial"/>
              </a:rPr>
              <a:t>là</a:t>
            </a:r>
            <a:r>
              <a:rPr sz="1800" spc="-145" dirty="0">
                <a:latin typeface="Arial"/>
                <a:cs typeface="Arial"/>
              </a:rPr>
              <a:t> </a:t>
            </a:r>
            <a:r>
              <a:rPr sz="1800" spc="35" dirty="0">
                <a:latin typeface="Arial"/>
                <a:cs typeface="Arial"/>
              </a:rPr>
              <a:t>một</a:t>
            </a:r>
            <a:r>
              <a:rPr sz="1800" spc="-135" dirty="0">
                <a:latin typeface="Arial"/>
                <a:cs typeface="Arial"/>
              </a:rPr>
              <a:t> </a:t>
            </a:r>
            <a:r>
              <a:rPr sz="1800" spc="-50" dirty="0">
                <a:latin typeface="Arial"/>
                <a:cs typeface="Arial"/>
              </a:rPr>
              <a:t>kĩ</a:t>
            </a:r>
            <a:r>
              <a:rPr sz="1800" spc="-150" dirty="0">
                <a:latin typeface="Arial"/>
                <a:cs typeface="Arial"/>
              </a:rPr>
              <a:t> </a:t>
            </a:r>
            <a:r>
              <a:rPr sz="1800" spc="20" dirty="0">
                <a:latin typeface="Arial"/>
                <a:cs typeface="Arial"/>
              </a:rPr>
              <a:t>thuật</a:t>
            </a:r>
            <a:r>
              <a:rPr sz="1800" spc="-135" dirty="0">
                <a:latin typeface="Arial"/>
                <a:cs typeface="Arial"/>
              </a:rPr>
              <a:t> </a:t>
            </a:r>
            <a:r>
              <a:rPr sz="1800" spc="5" dirty="0">
                <a:latin typeface="Arial"/>
                <a:cs typeface="Arial"/>
              </a:rPr>
              <a:t>trích</a:t>
            </a:r>
            <a:r>
              <a:rPr sz="1800" spc="-140" dirty="0">
                <a:latin typeface="Arial"/>
                <a:cs typeface="Arial"/>
              </a:rPr>
              <a:t> </a:t>
            </a:r>
            <a:r>
              <a:rPr sz="1800" spc="-25" dirty="0">
                <a:latin typeface="Arial"/>
                <a:cs typeface="Arial"/>
              </a:rPr>
              <a:t>xuất</a:t>
            </a:r>
            <a:r>
              <a:rPr sz="1800" spc="-125" dirty="0">
                <a:latin typeface="Arial"/>
                <a:cs typeface="Arial"/>
              </a:rPr>
              <a:t> </a:t>
            </a:r>
            <a:r>
              <a:rPr sz="1800" dirty="0">
                <a:latin typeface="Arial"/>
                <a:cs typeface="Arial"/>
              </a:rPr>
              <a:t>đặc</a:t>
            </a:r>
            <a:r>
              <a:rPr sz="1800" spc="-130" dirty="0">
                <a:latin typeface="Arial"/>
                <a:cs typeface="Arial"/>
              </a:rPr>
              <a:t> </a:t>
            </a:r>
            <a:r>
              <a:rPr sz="1800" spc="-40" dirty="0">
                <a:latin typeface="Arial"/>
                <a:cs typeface="Arial"/>
              </a:rPr>
              <a:t>trưng</a:t>
            </a:r>
            <a:r>
              <a:rPr sz="1800" spc="-140" dirty="0">
                <a:latin typeface="Arial"/>
                <a:cs typeface="Arial"/>
              </a:rPr>
              <a:t> </a:t>
            </a:r>
            <a:r>
              <a:rPr sz="1800" spc="-30" dirty="0">
                <a:latin typeface="Arial"/>
                <a:cs typeface="Arial"/>
              </a:rPr>
              <a:t>từ</a:t>
            </a:r>
            <a:r>
              <a:rPr sz="1800" spc="-140" dirty="0">
                <a:latin typeface="Arial"/>
                <a:cs typeface="Arial"/>
              </a:rPr>
              <a:t> </a:t>
            </a:r>
            <a:r>
              <a:rPr sz="1800" spc="10" dirty="0">
                <a:latin typeface="Arial"/>
                <a:cs typeface="Arial"/>
              </a:rPr>
              <a:t>các</a:t>
            </a:r>
            <a:r>
              <a:rPr sz="1800" spc="-130" dirty="0">
                <a:latin typeface="Arial"/>
                <a:cs typeface="Arial"/>
              </a:rPr>
              <a:t> </a:t>
            </a:r>
            <a:r>
              <a:rPr sz="1800" spc="-65" dirty="0">
                <a:latin typeface="Arial"/>
                <a:cs typeface="Arial"/>
              </a:rPr>
              <a:t>dữ</a:t>
            </a:r>
            <a:r>
              <a:rPr sz="1800" spc="-140" dirty="0">
                <a:latin typeface="Arial"/>
                <a:cs typeface="Arial"/>
              </a:rPr>
              <a:t> </a:t>
            </a:r>
            <a:r>
              <a:rPr sz="1800" spc="10" dirty="0">
                <a:latin typeface="Arial"/>
                <a:cs typeface="Arial"/>
              </a:rPr>
              <a:t>liệu</a:t>
            </a:r>
            <a:r>
              <a:rPr sz="1800" spc="-150" dirty="0">
                <a:latin typeface="Arial"/>
                <a:cs typeface="Arial"/>
              </a:rPr>
              <a:t> </a:t>
            </a:r>
            <a:r>
              <a:rPr sz="1800" spc="-50" dirty="0">
                <a:latin typeface="Arial"/>
                <a:cs typeface="Arial"/>
              </a:rPr>
              <a:t>văn</a:t>
            </a:r>
            <a:r>
              <a:rPr sz="1800" spc="-150" dirty="0">
                <a:latin typeface="Arial"/>
                <a:cs typeface="Arial"/>
              </a:rPr>
              <a:t> </a:t>
            </a:r>
            <a:r>
              <a:rPr sz="1800" spc="-10" dirty="0">
                <a:latin typeface="Arial"/>
                <a:cs typeface="Arial"/>
              </a:rPr>
              <a:t>bản.</a:t>
            </a:r>
            <a:endParaRPr sz="1800" dirty="0">
              <a:latin typeface="Arial"/>
              <a:cs typeface="Arial"/>
            </a:endParaRPr>
          </a:p>
          <a:p>
            <a:pPr marL="299085" marR="5080" indent="-287020">
              <a:lnSpc>
                <a:spcPct val="150000"/>
              </a:lnSpc>
              <a:buChar char="•"/>
              <a:tabLst>
                <a:tab pos="299085" algn="l"/>
                <a:tab pos="299720" algn="l"/>
              </a:tabLst>
            </a:pPr>
            <a:r>
              <a:rPr sz="1800" spc="-110" dirty="0">
                <a:latin typeface="Arial"/>
                <a:cs typeface="Arial"/>
              </a:rPr>
              <a:t>TF-IDF</a:t>
            </a:r>
            <a:r>
              <a:rPr sz="1800" spc="-135" dirty="0">
                <a:latin typeface="Arial"/>
                <a:cs typeface="Arial"/>
              </a:rPr>
              <a:t> </a:t>
            </a:r>
            <a:r>
              <a:rPr sz="1800" spc="-25" dirty="0">
                <a:latin typeface="Arial"/>
                <a:cs typeface="Arial"/>
              </a:rPr>
              <a:t>giúp</a:t>
            </a:r>
            <a:r>
              <a:rPr sz="1800" spc="-150" dirty="0">
                <a:latin typeface="Arial"/>
                <a:cs typeface="Arial"/>
              </a:rPr>
              <a:t> </a:t>
            </a:r>
            <a:r>
              <a:rPr sz="1800" spc="-45" dirty="0">
                <a:latin typeface="Arial"/>
                <a:cs typeface="Arial"/>
              </a:rPr>
              <a:t>xác</a:t>
            </a:r>
            <a:r>
              <a:rPr sz="1800" spc="-110" dirty="0">
                <a:latin typeface="Arial"/>
                <a:cs typeface="Arial"/>
              </a:rPr>
              <a:t> </a:t>
            </a:r>
            <a:r>
              <a:rPr sz="1800" dirty="0">
                <a:latin typeface="Arial"/>
                <a:cs typeface="Arial"/>
              </a:rPr>
              <a:t>định</a:t>
            </a:r>
            <a:r>
              <a:rPr sz="1800" spc="-160" dirty="0">
                <a:latin typeface="Arial"/>
                <a:cs typeface="Arial"/>
              </a:rPr>
              <a:t> </a:t>
            </a:r>
            <a:r>
              <a:rPr sz="1800" spc="-20" dirty="0">
                <a:latin typeface="Arial"/>
                <a:cs typeface="Arial"/>
              </a:rPr>
              <a:t>mức</a:t>
            </a:r>
            <a:r>
              <a:rPr sz="1800" spc="-130" dirty="0">
                <a:latin typeface="Arial"/>
                <a:cs typeface="Arial"/>
              </a:rPr>
              <a:t> </a:t>
            </a:r>
            <a:r>
              <a:rPr sz="1800" spc="-5" dirty="0">
                <a:latin typeface="Arial"/>
                <a:cs typeface="Arial"/>
              </a:rPr>
              <a:t>độ</a:t>
            </a:r>
            <a:r>
              <a:rPr sz="1800" spc="-135" dirty="0">
                <a:latin typeface="Arial"/>
                <a:cs typeface="Arial"/>
              </a:rPr>
              <a:t> </a:t>
            </a:r>
            <a:r>
              <a:rPr sz="1800" spc="-15" dirty="0">
                <a:latin typeface="Arial"/>
                <a:cs typeface="Arial"/>
              </a:rPr>
              <a:t>quan</a:t>
            </a:r>
            <a:r>
              <a:rPr sz="1800" spc="-135" dirty="0">
                <a:latin typeface="Arial"/>
                <a:cs typeface="Arial"/>
              </a:rPr>
              <a:t> </a:t>
            </a:r>
            <a:r>
              <a:rPr sz="1800" spc="-20" dirty="0">
                <a:latin typeface="Arial"/>
                <a:cs typeface="Arial"/>
              </a:rPr>
              <a:t>trọng</a:t>
            </a:r>
            <a:r>
              <a:rPr sz="1800" spc="-145" dirty="0">
                <a:latin typeface="Arial"/>
                <a:cs typeface="Arial"/>
              </a:rPr>
              <a:t> </a:t>
            </a:r>
            <a:r>
              <a:rPr sz="1800" dirty="0">
                <a:latin typeface="Arial"/>
                <a:cs typeface="Arial"/>
              </a:rPr>
              <a:t>của</a:t>
            </a:r>
            <a:r>
              <a:rPr sz="1800" spc="-130" dirty="0">
                <a:latin typeface="Arial"/>
                <a:cs typeface="Arial"/>
              </a:rPr>
              <a:t> </a:t>
            </a:r>
            <a:r>
              <a:rPr sz="1800" spc="35" dirty="0">
                <a:latin typeface="Arial"/>
                <a:cs typeface="Arial"/>
              </a:rPr>
              <a:t>một</a:t>
            </a:r>
            <a:r>
              <a:rPr sz="1800" spc="-130" dirty="0">
                <a:latin typeface="Arial"/>
                <a:cs typeface="Arial"/>
              </a:rPr>
              <a:t> </a:t>
            </a:r>
            <a:r>
              <a:rPr sz="1800" spc="-30" dirty="0">
                <a:latin typeface="Arial"/>
                <a:cs typeface="Arial"/>
              </a:rPr>
              <a:t>từ</a:t>
            </a:r>
            <a:r>
              <a:rPr sz="1800" spc="-120" dirty="0">
                <a:latin typeface="Arial"/>
                <a:cs typeface="Arial"/>
              </a:rPr>
              <a:t> </a:t>
            </a:r>
            <a:r>
              <a:rPr sz="1800" spc="-25" dirty="0">
                <a:latin typeface="Arial"/>
                <a:cs typeface="Arial"/>
              </a:rPr>
              <a:t>khóa</a:t>
            </a:r>
            <a:r>
              <a:rPr sz="1800" spc="-145" dirty="0">
                <a:latin typeface="Arial"/>
                <a:cs typeface="Arial"/>
              </a:rPr>
              <a:t> </a:t>
            </a:r>
            <a:r>
              <a:rPr sz="1800" spc="-20" dirty="0">
                <a:latin typeface="Arial"/>
                <a:cs typeface="Arial"/>
              </a:rPr>
              <a:t>(term)</a:t>
            </a:r>
            <a:r>
              <a:rPr sz="1800" spc="-120" dirty="0">
                <a:latin typeface="Arial"/>
                <a:cs typeface="Arial"/>
              </a:rPr>
              <a:t> </a:t>
            </a:r>
            <a:r>
              <a:rPr sz="1800" spc="5" dirty="0">
                <a:latin typeface="Arial"/>
                <a:cs typeface="Arial"/>
              </a:rPr>
              <a:t>đối</a:t>
            </a:r>
            <a:r>
              <a:rPr sz="1800" spc="-145" dirty="0">
                <a:latin typeface="Arial"/>
                <a:cs typeface="Arial"/>
              </a:rPr>
              <a:t> </a:t>
            </a:r>
            <a:r>
              <a:rPr sz="1800" spc="-80" dirty="0">
                <a:latin typeface="Arial"/>
                <a:cs typeface="Arial"/>
              </a:rPr>
              <a:t>với</a:t>
            </a:r>
            <a:r>
              <a:rPr sz="1800" spc="-135" dirty="0">
                <a:latin typeface="Arial"/>
                <a:cs typeface="Arial"/>
              </a:rPr>
              <a:t> </a:t>
            </a:r>
            <a:r>
              <a:rPr sz="1800" spc="35" dirty="0">
                <a:latin typeface="Arial"/>
                <a:cs typeface="Arial"/>
              </a:rPr>
              <a:t>một</a:t>
            </a:r>
            <a:r>
              <a:rPr sz="1800" spc="-145" dirty="0">
                <a:latin typeface="Arial"/>
                <a:cs typeface="Arial"/>
              </a:rPr>
              <a:t> </a:t>
            </a:r>
            <a:r>
              <a:rPr sz="1800" spc="15" dirty="0">
                <a:latin typeface="Arial"/>
                <a:cs typeface="Arial"/>
              </a:rPr>
              <a:t>tài</a:t>
            </a:r>
            <a:r>
              <a:rPr sz="1800" spc="-105" dirty="0">
                <a:latin typeface="Arial"/>
                <a:cs typeface="Arial"/>
              </a:rPr>
              <a:t> </a:t>
            </a:r>
            <a:r>
              <a:rPr sz="1800" spc="10" dirty="0">
                <a:latin typeface="Arial"/>
                <a:cs typeface="Arial"/>
              </a:rPr>
              <a:t>liệu</a:t>
            </a:r>
            <a:r>
              <a:rPr sz="1800" spc="-160" dirty="0">
                <a:latin typeface="Arial"/>
                <a:cs typeface="Arial"/>
              </a:rPr>
              <a:t> </a:t>
            </a:r>
            <a:r>
              <a:rPr sz="1800" spc="-10" dirty="0">
                <a:latin typeface="Arial"/>
                <a:cs typeface="Arial"/>
              </a:rPr>
              <a:t>(document)  </a:t>
            </a:r>
            <a:r>
              <a:rPr sz="1800" spc="20" dirty="0">
                <a:latin typeface="Arial"/>
                <a:cs typeface="Arial"/>
              </a:rPr>
              <a:t>cụ</a:t>
            </a:r>
            <a:r>
              <a:rPr sz="1800" spc="-145" dirty="0">
                <a:latin typeface="Arial"/>
                <a:cs typeface="Arial"/>
              </a:rPr>
              <a:t> </a:t>
            </a:r>
            <a:r>
              <a:rPr sz="1800" dirty="0">
                <a:latin typeface="Arial"/>
                <a:cs typeface="Arial"/>
              </a:rPr>
              <a:t>thể</a:t>
            </a:r>
            <a:r>
              <a:rPr sz="1800" spc="-145" dirty="0">
                <a:latin typeface="Arial"/>
                <a:cs typeface="Arial"/>
              </a:rPr>
              <a:t> </a:t>
            </a:r>
            <a:r>
              <a:rPr sz="1800" spc="-25" dirty="0">
                <a:latin typeface="Arial"/>
                <a:cs typeface="Arial"/>
              </a:rPr>
              <a:t>trong</a:t>
            </a:r>
            <a:r>
              <a:rPr sz="1800" spc="-140" dirty="0">
                <a:latin typeface="Arial"/>
                <a:cs typeface="Arial"/>
              </a:rPr>
              <a:t> </a:t>
            </a:r>
            <a:r>
              <a:rPr sz="1800" spc="35" dirty="0">
                <a:latin typeface="Arial"/>
                <a:cs typeface="Arial"/>
              </a:rPr>
              <a:t>một</a:t>
            </a:r>
            <a:r>
              <a:rPr sz="1800" spc="-135" dirty="0">
                <a:latin typeface="Arial"/>
                <a:cs typeface="Arial"/>
              </a:rPr>
              <a:t> </a:t>
            </a:r>
            <a:r>
              <a:rPr sz="1800" spc="10" dirty="0">
                <a:latin typeface="Arial"/>
                <a:cs typeface="Arial"/>
              </a:rPr>
              <a:t>tập</a:t>
            </a:r>
            <a:r>
              <a:rPr sz="1800" spc="-135" dirty="0">
                <a:latin typeface="Arial"/>
                <a:cs typeface="Arial"/>
              </a:rPr>
              <a:t> </a:t>
            </a:r>
            <a:r>
              <a:rPr sz="1800" spc="-60" dirty="0">
                <a:latin typeface="Arial"/>
                <a:cs typeface="Arial"/>
              </a:rPr>
              <a:t>hợp</a:t>
            </a:r>
            <a:r>
              <a:rPr sz="1800" spc="-130" dirty="0">
                <a:latin typeface="Arial"/>
                <a:cs typeface="Arial"/>
              </a:rPr>
              <a:t> </a:t>
            </a:r>
            <a:r>
              <a:rPr sz="1800" spc="10" dirty="0">
                <a:latin typeface="Arial"/>
                <a:cs typeface="Arial"/>
              </a:rPr>
              <a:t>các</a:t>
            </a:r>
            <a:r>
              <a:rPr sz="1800" spc="-140" dirty="0">
                <a:latin typeface="Arial"/>
                <a:cs typeface="Arial"/>
              </a:rPr>
              <a:t> </a:t>
            </a:r>
            <a:r>
              <a:rPr sz="1800" spc="15" dirty="0">
                <a:latin typeface="Arial"/>
                <a:cs typeface="Arial"/>
              </a:rPr>
              <a:t>tài</a:t>
            </a:r>
            <a:r>
              <a:rPr sz="1800" spc="-114" dirty="0">
                <a:latin typeface="Arial"/>
                <a:cs typeface="Arial"/>
              </a:rPr>
              <a:t> </a:t>
            </a:r>
            <a:r>
              <a:rPr sz="1800" spc="10" dirty="0">
                <a:latin typeface="Arial"/>
                <a:cs typeface="Arial"/>
              </a:rPr>
              <a:t>liệu</a:t>
            </a:r>
            <a:endParaRPr sz="1800" dirty="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4837"/>
            <a:ext cx="5264785" cy="696595"/>
          </a:xfrm>
          <a:prstGeom prst="rect">
            <a:avLst/>
          </a:prstGeom>
        </p:spPr>
        <p:txBody>
          <a:bodyPr vert="horz" wrap="square" lIns="0" tIns="13335" rIns="0" bIns="0" rtlCol="0">
            <a:spAutoFit/>
          </a:bodyPr>
          <a:lstStyle/>
          <a:p>
            <a:pPr marL="12700">
              <a:lnSpc>
                <a:spcPct val="100000"/>
              </a:lnSpc>
              <a:spcBef>
                <a:spcPts val="105"/>
              </a:spcBef>
            </a:pPr>
            <a:r>
              <a:rPr sz="4400" spc="55" dirty="0"/>
              <a:t>2. </a:t>
            </a:r>
            <a:r>
              <a:rPr sz="4400" spc="20" dirty="0"/>
              <a:t>Trích xuất </a:t>
            </a:r>
            <a:r>
              <a:rPr sz="4400" spc="110" dirty="0"/>
              <a:t>đặc</a:t>
            </a:r>
            <a:r>
              <a:rPr sz="4400" spc="-710" dirty="0"/>
              <a:t> </a:t>
            </a:r>
            <a:r>
              <a:rPr sz="4400" spc="-55" dirty="0"/>
              <a:t>trưng</a:t>
            </a:r>
            <a:endParaRPr sz="4400"/>
          </a:p>
        </p:txBody>
      </p:sp>
      <p:sp>
        <p:nvSpPr>
          <p:cNvPr id="3" name="object 3"/>
          <p:cNvSpPr txBox="1"/>
          <p:nvPr/>
        </p:nvSpPr>
        <p:spPr>
          <a:xfrm>
            <a:off x="916939" y="1379378"/>
            <a:ext cx="5266690" cy="1153160"/>
          </a:xfrm>
          <a:prstGeom prst="rect">
            <a:avLst/>
          </a:prstGeom>
        </p:spPr>
        <p:txBody>
          <a:bodyPr vert="horz" wrap="square" lIns="0" tIns="13335" rIns="0" bIns="0" rtlCol="0">
            <a:spAutoFit/>
          </a:bodyPr>
          <a:lstStyle/>
          <a:p>
            <a:pPr marL="12700">
              <a:lnSpc>
                <a:spcPct val="100000"/>
              </a:lnSpc>
              <a:spcBef>
                <a:spcPts val="105"/>
              </a:spcBef>
            </a:pPr>
            <a:r>
              <a:rPr sz="3200" b="1" spc="40" dirty="0">
                <a:solidFill>
                  <a:srgbClr val="205F9A"/>
                </a:solidFill>
                <a:latin typeface="Calibri"/>
                <a:cs typeface="Calibri"/>
              </a:rPr>
              <a:t>2.</a:t>
            </a:r>
            <a:r>
              <a:rPr lang="en-US" sz="3200" b="1" spc="40" dirty="0">
                <a:solidFill>
                  <a:srgbClr val="205F9A"/>
                </a:solidFill>
                <a:latin typeface="Calibri"/>
                <a:cs typeface="Calibri"/>
              </a:rPr>
              <a:t>2</a:t>
            </a:r>
            <a:r>
              <a:rPr sz="3200" b="1" spc="40" dirty="0">
                <a:solidFill>
                  <a:srgbClr val="205F9A"/>
                </a:solidFill>
                <a:latin typeface="Calibri"/>
                <a:cs typeface="Calibri"/>
              </a:rPr>
              <a:t>.</a:t>
            </a:r>
            <a:r>
              <a:rPr sz="3200" b="1" spc="-125" dirty="0">
                <a:solidFill>
                  <a:srgbClr val="205F9A"/>
                </a:solidFill>
                <a:latin typeface="Calibri"/>
                <a:cs typeface="Calibri"/>
              </a:rPr>
              <a:t> </a:t>
            </a:r>
            <a:r>
              <a:rPr sz="3200" b="1" spc="114" dirty="0">
                <a:solidFill>
                  <a:srgbClr val="205F9A"/>
                </a:solidFill>
                <a:latin typeface="Calibri"/>
                <a:cs typeface="Calibri"/>
              </a:rPr>
              <a:t>TF-IDF</a:t>
            </a:r>
            <a:endParaRPr sz="3200" dirty="0">
              <a:latin typeface="Calibri"/>
              <a:cs typeface="Calibri"/>
            </a:endParaRPr>
          </a:p>
          <a:p>
            <a:pPr marL="836930">
              <a:lnSpc>
                <a:spcPct val="100000"/>
              </a:lnSpc>
              <a:spcBef>
                <a:spcPts val="2870"/>
              </a:spcBef>
            </a:pPr>
            <a:r>
              <a:rPr sz="1800" spc="-50" dirty="0">
                <a:latin typeface="Arial"/>
                <a:cs typeface="Arial"/>
              </a:rPr>
              <a:t>Công</a:t>
            </a:r>
            <a:r>
              <a:rPr sz="1800" spc="-150" dirty="0">
                <a:latin typeface="Arial"/>
                <a:cs typeface="Arial"/>
              </a:rPr>
              <a:t> </a:t>
            </a:r>
            <a:r>
              <a:rPr sz="1800" spc="-10" dirty="0">
                <a:latin typeface="Arial"/>
                <a:cs typeface="Arial"/>
              </a:rPr>
              <a:t>thức</a:t>
            </a:r>
            <a:r>
              <a:rPr sz="1800" spc="-140" dirty="0">
                <a:latin typeface="Arial"/>
                <a:cs typeface="Arial"/>
              </a:rPr>
              <a:t> </a:t>
            </a:r>
            <a:r>
              <a:rPr sz="1800" spc="-5" dirty="0">
                <a:latin typeface="Arial"/>
                <a:cs typeface="Arial"/>
              </a:rPr>
              <a:t>tính</a:t>
            </a:r>
            <a:r>
              <a:rPr sz="1800" spc="-145" dirty="0">
                <a:latin typeface="Arial"/>
                <a:cs typeface="Arial"/>
              </a:rPr>
              <a:t> </a:t>
            </a:r>
            <a:r>
              <a:rPr sz="1800" spc="-50" dirty="0">
                <a:latin typeface="Arial"/>
                <a:cs typeface="Arial"/>
              </a:rPr>
              <a:t>giá</a:t>
            </a:r>
            <a:r>
              <a:rPr sz="1800" spc="-140" dirty="0">
                <a:latin typeface="Arial"/>
                <a:cs typeface="Arial"/>
              </a:rPr>
              <a:t> </a:t>
            </a:r>
            <a:r>
              <a:rPr sz="1800" spc="30" dirty="0">
                <a:latin typeface="Arial"/>
                <a:cs typeface="Arial"/>
              </a:rPr>
              <a:t>trị</a:t>
            </a:r>
            <a:r>
              <a:rPr sz="1800" spc="-125" dirty="0">
                <a:latin typeface="Arial"/>
                <a:cs typeface="Arial"/>
              </a:rPr>
              <a:t> </a:t>
            </a:r>
            <a:r>
              <a:rPr sz="1800" spc="-110" dirty="0">
                <a:latin typeface="Arial"/>
                <a:cs typeface="Arial"/>
              </a:rPr>
              <a:t>TF-IDF</a:t>
            </a:r>
            <a:r>
              <a:rPr sz="1800" spc="-140" dirty="0">
                <a:latin typeface="Arial"/>
                <a:cs typeface="Arial"/>
              </a:rPr>
              <a:t> </a:t>
            </a:r>
            <a:r>
              <a:rPr sz="1800" spc="5" dirty="0">
                <a:latin typeface="Arial"/>
                <a:cs typeface="Arial"/>
              </a:rPr>
              <a:t>cho</a:t>
            </a:r>
            <a:r>
              <a:rPr sz="1800" spc="-150" dirty="0">
                <a:latin typeface="Arial"/>
                <a:cs typeface="Arial"/>
              </a:rPr>
              <a:t> </a:t>
            </a:r>
            <a:r>
              <a:rPr sz="1800" spc="15" dirty="0">
                <a:latin typeface="Arial"/>
                <a:cs typeface="Arial"/>
              </a:rPr>
              <a:t>mỗi</a:t>
            </a:r>
            <a:r>
              <a:rPr sz="1800" spc="-145" dirty="0">
                <a:latin typeface="Arial"/>
                <a:cs typeface="Arial"/>
              </a:rPr>
              <a:t> </a:t>
            </a:r>
            <a:r>
              <a:rPr sz="1800" spc="-30" dirty="0">
                <a:latin typeface="Arial"/>
                <a:cs typeface="Arial"/>
              </a:rPr>
              <a:t>từ</a:t>
            </a:r>
            <a:r>
              <a:rPr sz="1800" spc="-140" dirty="0">
                <a:latin typeface="Arial"/>
                <a:cs typeface="Arial"/>
              </a:rPr>
              <a:t> </a:t>
            </a:r>
            <a:r>
              <a:rPr sz="1800" spc="-20" dirty="0">
                <a:latin typeface="Arial"/>
                <a:cs typeface="Arial"/>
              </a:rPr>
              <a:t>khóa:</a:t>
            </a:r>
            <a:endParaRPr sz="1800" dirty="0">
              <a:latin typeface="Arial"/>
              <a:cs typeface="Arial"/>
            </a:endParaRPr>
          </a:p>
        </p:txBody>
      </p:sp>
      <p:sp>
        <p:nvSpPr>
          <p:cNvPr id="4" name="object 4"/>
          <p:cNvSpPr txBox="1"/>
          <p:nvPr/>
        </p:nvSpPr>
        <p:spPr>
          <a:xfrm>
            <a:off x="4253457" y="4820333"/>
            <a:ext cx="424561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giá trị </a:t>
            </a:r>
            <a:r>
              <a:rPr sz="1800" dirty="0">
                <a:latin typeface="Cambria Math"/>
                <a:cs typeface="Cambria Math"/>
              </a:rPr>
              <a:t>TF − </a:t>
            </a:r>
            <a:r>
              <a:rPr sz="1800" spc="-5" dirty="0">
                <a:latin typeface="Cambria Math"/>
                <a:cs typeface="Cambria Math"/>
              </a:rPr>
              <a:t>IDF của </a:t>
            </a:r>
            <a:r>
              <a:rPr sz="1800" dirty="0">
                <a:latin typeface="Cambria Math"/>
                <a:cs typeface="Cambria Math"/>
              </a:rPr>
              <a:t>từ </a:t>
            </a:r>
            <a:r>
              <a:rPr sz="1800" spc="-5" dirty="0">
                <a:latin typeface="Cambria Math"/>
                <a:cs typeface="Cambria Math"/>
              </a:rPr>
              <a:t>khóa </a:t>
            </a:r>
            <a:r>
              <a:rPr sz="1800" dirty="0">
                <a:latin typeface="Cambria Math"/>
                <a:cs typeface="Cambria Math"/>
              </a:rPr>
              <a:t>i </a:t>
            </a:r>
            <a:r>
              <a:rPr sz="1800" spc="-5" dirty="0">
                <a:latin typeface="Cambria Math"/>
                <a:cs typeface="Cambria Math"/>
              </a:rPr>
              <a:t>trong tài liệu</a:t>
            </a:r>
            <a:r>
              <a:rPr sz="1800" spc="10" dirty="0">
                <a:latin typeface="Cambria Math"/>
                <a:cs typeface="Cambria Math"/>
              </a:rPr>
              <a:t> </a:t>
            </a:r>
            <a:r>
              <a:rPr sz="1800" dirty="0">
                <a:latin typeface="Cambria Math"/>
                <a:cs typeface="Cambria Math"/>
              </a:rPr>
              <a:t>j</a:t>
            </a:r>
            <a:endParaRPr sz="1800">
              <a:latin typeface="Cambria Math"/>
              <a:cs typeface="Cambria Math"/>
            </a:endParaRPr>
          </a:p>
        </p:txBody>
      </p:sp>
      <p:sp>
        <p:nvSpPr>
          <p:cNvPr id="5" name="object 5"/>
          <p:cNvSpPr txBox="1"/>
          <p:nvPr/>
        </p:nvSpPr>
        <p:spPr>
          <a:xfrm>
            <a:off x="2666535" y="4293479"/>
            <a:ext cx="1421130" cy="1282700"/>
          </a:xfrm>
          <a:prstGeom prst="rect">
            <a:avLst/>
          </a:prstGeom>
        </p:spPr>
        <p:txBody>
          <a:bodyPr vert="horz" wrap="square" lIns="0" tIns="162560" rIns="0" bIns="0" rtlCol="0">
            <a:spAutoFit/>
          </a:bodyPr>
          <a:lstStyle/>
          <a:p>
            <a:pPr marL="38100">
              <a:lnSpc>
                <a:spcPct val="100000"/>
              </a:lnSpc>
              <a:spcBef>
                <a:spcPts val="1280"/>
              </a:spcBef>
            </a:pPr>
            <a:r>
              <a:rPr sz="1800" spc="-100" dirty="0">
                <a:latin typeface="Arial"/>
                <a:cs typeface="Arial"/>
              </a:rPr>
              <a:t>Trong</a:t>
            </a:r>
            <a:r>
              <a:rPr sz="1800" spc="-160" dirty="0">
                <a:latin typeface="Arial"/>
                <a:cs typeface="Arial"/>
              </a:rPr>
              <a:t> </a:t>
            </a:r>
            <a:r>
              <a:rPr sz="1800" dirty="0">
                <a:latin typeface="Arial"/>
                <a:cs typeface="Arial"/>
              </a:rPr>
              <a:t>đó:</a:t>
            </a:r>
          </a:p>
          <a:p>
            <a:pPr marL="898525">
              <a:lnSpc>
                <a:spcPct val="100000"/>
              </a:lnSpc>
              <a:spcBef>
                <a:spcPts val="1180"/>
              </a:spcBef>
            </a:pPr>
            <a:r>
              <a:rPr sz="2700" spc="-517" baseline="10802" dirty="0">
                <a:latin typeface="Cambria Math"/>
                <a:cs typeface="Cambria Math"/>
              </a:rPr>
              <a:t>𝒘</a:t>
            </a:r>
            <a:r>
              <a:rPr sz="1300" spc="-345" dirty="0">
                <a:latin typeface="Cambria Math"/>
                <a:cs typeface="Cambria Math"/>
              </a:rPr>
              <a:t>𝒊𝒊,𝒋</a:t>
            </a:r>
            <a:r>
              <a:rPr sz="1300" spc="200" dirty="0">
                <a:latin typeface="Cambria Math"/>
                <a:cs typeface="Cambria Math"/>
              </a:rPr>
              <a:t> </a:t>
            </a:r>
            <a:r>
              <a:rPr sz="2700" baseline="10802" dirty="0">
                <a:latin typeface="Cambria Math"/>
                <a:cs typeface="Cambria Math"/>
              </a:rPr>
              <a:t>∶</a:t>
            </a:r>
          </a:p>
          <a:p>
            <a:pPr marL="848994">
              <a:lnSpc>
                <a:spcPct val="100000"/>
              </a:lnSpc>
              <a:spcBef>
                <a:spcPts val="1060"/>
              </a:spcBef>
            </a:pPr>
            <a:r>
              <a:rPr sz="1800" spc="-220" dirty="0">
                <a:latin typeface="Cambria Math"/>
                <a:cs typeface="Cambria Math"/>
              </a:rPr>
              <a:t>𝒕</a:t>
            </a:r>
            <a:r>
              <a:rPr lang="en-US" sz="1800" spc="-220" dirty="0">
                <a:latin typeface="Cambria Math"/>
                <a:cs typeface="Cambria Math"/>
              </a:rPr>
              <a:t>f</a:t>
            </a:r>
            <a:r>
              <a:rPr sz="1950" spc="-330" baseline="-14957" dirty="0">
                <a:latin typeface="Cambria Math"/>
                <a:cs typeface="Cambria Math"/>
              </a:rPr>
              <a:t>𝒊,𝒋</a:t>
            </a:r>
            <a:r>
              <a:rPr sz="1800" spc="-220" dirty="0">
                <a:latin typeface="Cambria Math"/>
                <a:cs typeface="Cambria Math"/>
              </a:rPr>
              <a:t>:</a:t>
            </a:r>
            <a:endParaRPr sz="1800" dirty="0">
              <a:latin typeface="Cambria Math"/>
              <a:cs typeface="Cambria Math"/>
            </a:endParaRPr>
          </a:p>
        </p:txBody>
      </p:sp>
      <p:sp>
        <p:nvSpPr>
          <p:cNvPr id="6" name="object 6"/>
          <p:cNvSpPr txBox="1"/>
          <p:nvPr/>
        </p:nvSpPr>
        <p:spPr>
          <a:xfrm>
            <a:off x="4148916" y="5276500"/>
            <a:ext cx="447992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tần suất </a:t>
            </a:r>
            <a:r>
              <a:rPr sz="1800" dirty="0">
                <a:latin typeface="Cambria Math"/>
                <a:cs typeface="Cambria Math"/>
              </a:rPr>
              <a:t>xuất </a:t>
            </a:r>
            <a:r>
              <a:rPr sz="1800" spc="-5" dirty="0">
                <a:latin typeface="Cambria Math"/>
                <a:cs typeface="Cambria Math"/>
              </a:rPr>
              <a:t>hiện của </a:t>
            </a:r>
            <a:r>
              <a:rPr sz="1800" dirty="0">
                <a:latin typeface="Cambria Math"/>
                <a:cs typeface="Cambria Math"/>
              </a:rPr>
              <a:t>từ khóa i </a:t>
            </a:r>
            <a:r>
              <a:rPr sz="1800" spc="-5" dirty="0">
                <a:latin typeface="Cambria Math"/>
                <a:cs typeface="Cambria Math"/>
              </a:rPr>
              <a:t>trong tài liệu</a:t>
            </a:r>
            <a:r>
              <a:rPr sz="1800" dirty="0">
                <a:latin typeface="Cambria Math"/>
                <a:cs typeface="Cambria Math"/>
              </a:rPr>
              <a:t> j</a:t>
            </a:r>
            <a:endParaRPr sz="1800">
              <a:latin typeface="Cambria Math"/>
              <a:cs typeface="Cambria Math"/>
            </a:endParaRPr>
          </a:p>
        </p:txBody>
      </p:sp>
      <p:sp>
        <p:nvSpPr>
          <p:cNvPr id="7" name="object 7"/>
          <p:cNvSpPr txBox="1"/>
          <p:nvPr/>
        </p:nvSpPr>
        <p:spPr>
          <a:xfrm>
            <a:off x="3452092" y="5759605"/>
            <a:ext cx="3658870" cy="767080"/>
          </a:xfrm>
          <a:prstGeom prst="rect">
            <a:avLst/>
          </a:prstGeom>
        </p:spPr>
        <p:txBody>
          <a:bodyPr vert="horz" wrap="square" lIns="0" tIns="12700" rIns="0" bIns="0" rtlCol="0">
            <a:spAutoFit/>
          </a:bodyPr>
          <a:lstStyle/>
          <a:p>
            <a:pPr marL="51435">
              <a:lnSpc>
                <a:spcPct val="100000"/>
              </a:lnSpc>
              <a:spcBef>
                <a:spcPts val="100"/>
              </a:spcBef>
              <a:tabLst>
                <a:tab pos="525780" algn="l"/>
              </a:tabLst>
            </a:pPr>
            <a:r>
              <a:rPr sz="1800" spc="-459" dirty="0">
                <a:latin typeface="Cambria Math"/>
                <a:cs typeface="Cambria Math"/>
              </a:rPr>
              <a:t>𝑵:	</a:t>
            </a:r>
            <a:r>
              <a:rPr sz="1800" dirty="0">
                <a:latin typeface="Cambria Math"/>
                <a:cs typeface="Cambria Math"/>
              </a:rPr>
              <a:t>tổng </a:t>
            </a:r>
            <a:r>
              <a:rPr sz="1800" spc="-5" dirty="0">
                <a:latin typeface="Cambria Math"/>
                <a:cs typeface="Cambria Math"/>
              </a:rPr>
              <a:t>số tài liệu trong tập tài</a:t>
            </a:r>
            <a:r>
              <a:rPr sz="1800" spc="-15" dirty="0">
                <a:latin typeface="Cambria Math"/>
                <a:cs typeface="Cambria Math"/>
              </a:rPr>
              <a:t> </a:t>
            </a:r>
            <a:r>
              <a:rPr sz="1800" spc="-5" dirty="0">
                <a:latin typeface="Cambria Math"/>
                <a:cs typeface="Cambria Math"/>
              </a:rPr>
              <a:t>liệu</a:t>
            </a:r>
            <a:endParaRPr sz="1800" dirty="0">
              <a:latin typeface="Cambria Math"/>
              <a:cs typeface="Cambria Math"/>
            </a:endParaRPr>
          </a:p>
          <a:p>
            <a:pPr marL="63500">
              <a:lnSpc>
                <a:spcPct val="100000"/>
              </a:lnSpc>
              <a:spcBef>
                <a:spcPts val="1515"/>
              </a:spcBef>
              <a:tabLst>
                <a:tab pos="661670" algn="l"/>
              </a:tabLst>
            </a:pPr>
            <a:r>
              <a:rPr sz="1800" spc="-295" dirty="0">
                <a:latin typeface="Cambria Math"/>
                <a:cs typeface="Cambria Math"/>
              </a:rPr>
              <a:t>𝒅𝒕</a:t>
            </a:r>
            <a:r>
              <a:rPr sz="1950" spc="-442" baseline="-14957" dirty="0">
                <a:latin typeface="Cambria Math"/>
                <a:cs typeface="Cambria Math"/>
              </a:rPr>
              <a:t>𝒊</a:t>
            </a:r>
            <a:r>
              <a:rPr sz="1800" spc="-295" dirty="0">
                <a:latin typeface="Cambria Math"/>
                <a:cs typeface="Cambria Math"/>
              </a:rPr>
              <a:t>:	</a:t>
            </a:r>
            <a:r>
              <a:rPr sz="1800" spc="-5" dirty="0">
                <a:latin typeface="Cambria Math"/>
                <a:cs typeface="Cambria Math"/>
              </a:rPr>
              <a:t>số tài liệu chứa </a:t>
            </a:r>
            <a:r>
              <a:rPr sz="1800" dirty="0">
                <a:latin typeface="Cambria Math"/>
                <a:cs typeface="Cambria Math"/>
              </a:rPr>
              <a:t>từ </a:t>
            </a:r>
            <a:r>
              <a:rPr sz="1800" spc="-5" dirty="0">
                <a:latin typeface="Cambria Math"/>
                <a:cs typeface="Cambria Math"/>
              </a:rPr>
              <a:t>khóa </a:t>
            </a:r>
            <a:r>
              <a:rPr sz="1800" dirty="0">
                <a:latin typeface="Cambria Math"/>
                <a:cs typeface="Cambria Math"/>
              </a:rPr>
              <a:t>i</a:t>
            </a:r>
          </a:p>
        </p:txBody>
      </p:sp>
      <p:sp>
        <p:nvSpPr>
          <p:cNvPr id="8" name="object 8"/>
          <p:cNvSpPr/>
          <p:nvPr/>
        </p:nvSpPr>
        <p:spPr>
          <a:xfrm>
            <a:off x="3880103" y="2959607"/>
            <a:ext cx="4293235" cy="1134110"/>
          </a:xfrm>
          <a:custGeom>
            <a:avLst/>
            <a:gdLst/>
            <a:ahLst/>
            <a:cxnLst/>
            <a:rect l="l" t="t" r="r" b="b"/>
            <a:pathLst>
              <a:path w="4293234" h="1134110">
                <a:moveTo>
                  <a:pt x="0" y="0"/>
                </a:moveTo>
                <a:lnTo>
                  <a:pt x="4293108" y="0"/>
                </a:lnTo>
                <a:lnTo>
                  <a:pt x="4293108" y="1133856"/>
                </a:lnTo>
                <a:lnTo>
                  <a:pt x="0" y="1133856"/>
                </a:lnTo>
                <a:lnTo>
                  <a:pt x="0" y="0"/>
                </a:lnTo>
                <a:close/>
              </a:path>
            </a:pathLst>
          </a:custGeom>
          <a:ln w="9525">
            <a:solidFill>
              <a:srgbClr val="000000"/>
            </a:solidFill>
          </a:ln>
        </p:spPr>
        <p:txBody>
          <a:bodyPr wrap="square" lIns="0" tIns="0" rIns="0" bIns="0" rtlCol="0"/>
          <a:lstStyle/>
          <a:p>
            <a:endParaRPr/>
          </a:p>
        </p:txBody>
      </p:sp>
      <p:sp>
        <p:nvSpPr>
          <p:cNvPr id="9" name="object 9"/>
          <p:cNvSpPr/>
          <p:nvPr/>
        </p:nvSpPr>
        <p:spPr>
          <a:xfrm>
            <a:off x="3958755" y="3463597"/>
            <a:ext cx="319405" cy="217170"/>
          </a:xfrm>
          <a:custGeom>
            <a:avLst/>
            <a:gdLst/>
            <a:ahLst/>
            <a:cxnLst/>
            <a:rect l="l" t="t" r="r" b="b"/>
            <a:pathLst>
              <a:path w="319404" h="217170">
                <a:moveTo>
                  <a:pt x="312978" y="0"/>
                </a:moveTo>
                <a:lnTo>
                  <a:pt x="255384" y="0"/>
                </a:lnTo>
                <a:lnTo>
                  <a:pt x="253149" y="10934"/>
                </a:lnTo>
                <a:lnTo>
                  <a:pt x="260299" y="11379"/>
                </a:lnTo>
                <a:lnTo>
                  <a:pt x="265353" y="12877"/>
                </a:lnTo>
                <a:lnTo>
                  <a:pt x="271310" y="17932"/>
                </a:lnTo>
                <a:lnTo>
                  <a:pt x="272795" y="22694"/>
                </a:lnTo>
                <a:lnTo>
                  <a:pt x="272795" y="29692"/>
                </a:lnTo>
                <a:lnTo>
                  <a:pt x="262562" y="72240"/>
                </a:lnTo>
                <a:lnTo>
                  <a:pt x="244462" y="109117"/>
                </a:lnTo>
                <a:lnTo>
                  <a:pt x="217958" y="152371"/>
                </a:lnTo>
                <a:lnTo>
                  <a:pt x="201587" y="176364"/>
                </a:lnTo>
                <a:lnTo>
                  <a:pt x="185280" y="0"/>
                </a:lnTo>
                <a:lnTo>
                  <a:pt x="153136" y="0"/>
                </a:lnTo>
                <a:lnTo>
                  <a:pt x="150685" y="10934"/>
                </a:lnTo>
                <a:lnTo>
                  <a:pt x="148701" y="21438"/>
                </a:lnTo>
                <a:lnTo>
                  <a:pt x="146329" y="31729"/>
                </a:lnTo>
                <a:lnTo>
                  <a:pt x="131905" y="73031"/>
                </a:lnTo>
                <a:lnTo>
                  <a:pt x="111691" y="112933"/>
                </a:lnTo>
                <a:lnTo>
                  <a:pt x="88975" y="152000"/>
                </a:lnTo>
                <a:lnTo>
                  <a:pt x="74333" y="176136"/>
                </a:lnTo>
                <a:lnTo>
                  <a:pt x="60934" y="0"/>
                </a:lnTo>
                <a:lnTo>
                  <a:pt x="2451" y="0"/>
                </a:lnTo>
                <a:lnTo>
                  <a:pt x="0" y="10934"/>
                </a:lnTo>
                <a:lnTo>
                  <a:pt x="7137" y="11531"/>
                </a:lnTo>
                <a:lnTo>
                  <a:pt x="12268" y="13169"/>
                </a:lnTo>
                <a:lnTo>
                  <a:pt x="42405" y="216992"/>
                </a:lnTo>
                <a:lnTo>
                  <a:pt x="72326" y="216992"/>
                </a:lnTo>
                <a:lnTo>
                  <a:pt x="100452" y="172731"/>
                </a:lnTo>
                <a:lnTo>
                  <a:pt x="123672" y="133718"/>
                </a:lnTo>
                <a:lnTo>
                  <a:pt x="142257" y="99007"/>
                </a:lnTo>
                <a:lnTo>
                  <a:pt x="156489" y="67640"/>
                </a:lnTo>
                <a:lnTo>
                  <a:pt x="158940" y="67868"/>
                </a:lnTo>
                <a:lnTo>
                  <a:pt x="161820" y="111061"/>
                </a:lnTo>
                <a:lnTo>
                  <a:pt x="172110" y="216992"/>
                </a:lnTo>
                <a:lnTo>
                  <a:pt x="198678" y="216992"/>
                </a:lnTo>
                <a:lnTo>
                  <a:pt x="232384" y="169557"/>
                </a:lnTo>
                <a:lnTo>
                  <a:pt x="258178" y="130479"/>
                </a:lnTo>
                <a:lnTo>
                  <a:pt x="286413" y="82567"/>
                </a:lnTo>
                <a:lnTo>
                  <a:pt x="306501" y="41744"/>
                </a:lnTo>
                <a:lnTo>
                  <a:pt x="319011" y="11163"/>
                </a:lnTo>
                <a:lnTo>
                  <a:pt x="312978" y="0"/>
                </a:lnTo>
                <a:close/>
              </a:path>
            </a:pathLst>
          </a:custGeom>
          <a:solidFill>
            <a:srgbClr val="000000"/>
          </a:solidFill>
        </p:spPr>
        <p:txBody>
          <a:bodyPr wrap="square" lIns="0" tIns="0" rIns="0" bIns="0" rtlCol="0"/>
          <a:lstStyle/>
          <a:p>
            <a:endParaRPr/>
          </a:p>
        </p:txBody>
      </p:sp>
      <p:sp>
        <p:nvSpPr>
          <p:cNvPr id="10" name="object 10"/>
          <p:cNvSpPr/>
          <p:nvPr/>
        </p:nvSpPr>
        <p:spPr>
          <a:xfrm>
            <a:off x="3958755" y="3463597"/>
            <a:ext cx="319405" cy="217170"/>
          </a:xfrm>
          <a:custGeom>
            <a:avLst/>
            <a:gdLst/>
            <a:ahLst/>
            <a:cxnLst/>
            <a:rect l="l" t="t" r="r" b="b"/>
            <a:pathLst>
              <a:path w="319404" h="217170">
                <a:moveTo>
                  <a:pt x="2451" y="0"/>
                </a:moveTo>
                <a:lnTo>
                  <a:pt x="60934" y="0"/>
                </a:lnTo>
                <a:lnTo>
                  <a:pt x="74333" y="176136"/>
                </a:lnTo>
                <a:lnTo>
                  <a:pt x="88975" y="152000"/>
                </a:lnTo>
                <a:lnTo>
                  <a:pt x="111691" y="112933"/>
                </a:lnTo>
                <a:lnTo>
                  <a:pt x="131905" y="73031"/>
                </a:lnTo>
                <a:lnTo>
                  <a:pt x="146329" y="31729"/>
                </a:lnTo>
                <a:lnTo>
                  <a:pt x="150685" y="10934"/>
                </a:lnTo>
                <a:lnTo>
                  <a:pt x="153136" y="0"/>
                </a:lnTo>
                <a:lnTo>
                  <a:pt x="185280" y="0"/>
                </a:lnTo>
                <a:lnTo>
                  <a:pt x="201587" y="176364"/>
                </a:lnTo>
                <a:lnTo>
                  <a:pt x="217958" y="152371"/>
                </a:lnTo>
                <a:lnTo>
                  <a:pt x="244462" y="109117"/>
                </a:lnTo>
                <a:lnTo>
                  <a:pt x="262562" y="72240"/>
                </a:lnTo>
                <a:lnTo>
                  <a:pt x="272795" y="29692"/>
                </a:lnTo>
                <a:lnTo>
                  <a:pt x="272795" y="22694"/>
                </a:lnTo>
                <a:lnTo>
                  <a:pt x="253149" y="10934"/>
                </a:lnTo>
                <a:lnTo>
                  <a:pt x="255384" y="0"/>
                </a:lnTo>
                <a:lnTo>
                  <a:pt x="312978" y="0"/>
                </a:lnTo>
                <a:lnTo>
                  <a:pt x="319011" y="11163"/>
                </a:lnTo>
                <a:lnTo>
                  <a:pt x="303977" y="47376"/>
                </a:lnTo>
                <a:lnTo>
                  <a:pt x="286413" y="82567"/>
                </a:lnTo>
                <a:lnTo>
                  <a:pt x="263735" y="121685"/>
                </a:lnTo>
                <a:lnTo>
                  <a:pt x="239354" y="159201"/>
                </a:lnTo>
                <a:lnTo>
                  <a:pt x="216817" y="191960"/>
                </a:lnTo>
                <a:lnTo>
                  <a:pt x="198678" y="216992"/>
                </a:lnTo>
                <a:lnTo>
                  <a:pt x="172110" y="216992"/>
                </a:lnTo>
                <a:lnTo>
                  <a:pt x="162966" y="123672"/>
                </a:lnTo>
                <a:lnTo>
                  <a:pt x="159588" y="79473"/>
                </a:lnTo>
                <a:lnTo>
                  <a:pt x="158940" y="67868"/>
                </a:lnTo>
                <a:lnTo>
                  <a:pt x="156489" y="67640"/>
                </a:lnTo>
                <a:lnTo>
                  <a:pt x="133509" y="115944"/>
                </a:lnTo>
                <a:lnTo>
                  <a:pt x="112676" y="152568"/>
                </a:lnTo>
                <a:lnTo>
                  <a:pt x="87001" y="194206"/>
                </a:lnTo>
                <a:lnTo>
                  <a:pt x="72326" y="216992"/>
                </a:lnTo>
                <a:lnTo>
                  <a:pt x="42405" y="216992"/>
                </a:lnTo>
                <a:lnTo>
                  <a:pt x="25450" y="48895"/>
                </a:lnTo>
                <a:lnTo>
                  <a:pt x="24549" y="40259"/>
                </a:lnTo>
                <a:lnTo>
                  <a:pt x="0" y="10934"/>
                </a:lnTo>
                <a:lnTo>
                  <a:pt x="2451" y="0"/>
                </a:lnTo>
                <a:close/>
              </a:path>
            </a:pathLst>
          </a:custGeom>
          <a:ln w="9144">
            <a:solidFill>
              <a:srgbClr val="000000"/>
            </a:solidFill>
          </a:ln>
        </p:spPr>
        <p:txBody>
          <a:bodyPr wrap="square" lIns="0" tIns="0" rIns="0" bIns="0" rtlCol="0"/>
          <a:lstStyle/>
          <a:p>
            <a:endParaRPr/>
          </a:p>
        </p:txBody>
      </p:sp>
      <p:sp>
        <p:nvSpPr>
          <p:cNvPr id="11" name="object 11"/>
          <p:cNvSpPr/>
          <p:nvPr/>
        </p:nvSpPr>
        <p:spPr>
          <a:xfrm>
            <a:off x="4292043" y="3534977"/>
            <a:ext cx="164263" cy="284557"/>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4471759" y="3539549"/>
            <a:ext cx="140970" cy="295910"/>
          </a:xfrm>
          <a:custGeom>
            <a:avLst/>
            <a:gdLst/>
            <a:ahLst/>
            <a:cxnLst/>
            <a:rect l="l" t="t" r="r" b="b"/>
            <a:pathLst>
              <a:path w="140970" h="295910">
                <a:moveTo>
                  <a:pt x="4064" y="276707"/>
                </a:moveTo>
                <a:lnTo>
                  <a:pt x="0" y="293827"/>
                </a:lnTo>
                <a:lnTo>
                  <a:pt x="2057" y="294373"/>
                </a:lnTo>
                <a:lnTo>
                  <a:pt x="4394" y="294779"/>
                </a:lnTo>
                <a:lnTo>
                  <a:pt x="9613" y="295313"/>
                </a:lnTo>
                <a:lnTo>
                  <a:pt x="12331" y="295452"/>
                </a:lnTo>
                <a:lnTo>
                  <a:pt x="15151" y="295452"/>
                </a:lnTo>
                <a:lnTo>
                  <a:pt x="58991" y="284645"/>
                </a:lnTo>
                <a:lnTo>
                  <a:pt x="66139" y="278015"/>
                </a:lnTo>
                <a:lnTo>
                  <a:pt x="13957" y="278015"/>
                </a:lnTo>
                <a:lnTo>
                  <a:pt x="11455" y="277939"/>
                </a:lnTo>
                <a:lnTo>
                  <a:pt x="7112" y="277609"/>
                </a:lnTo>
                <a:lnTo>
                  <a:pt x="5372" y="277253"/>
                </a:lnTo>
                <a:lnTo>
                  <a:pt x="4064" y="276707"/>
                </a:lnTo>
                <a:close/>
              </a:path>
              <a:path w="140970" h="295910">
                <a:moveTo>
                  <a:pt x="125310" y="65671"/>
                </a:moveTo>
                <a:lnTo>
                  <a:pt x="114071" y="65671"/>
                </a:lnTo>
                <a:lnTo>
                  <a:pt x="70396" y="67462"/>
                </a:lnTo>
                <a:lnTo>
                  <a:pt x="67957" y="78549"/>
                </a:lnTo>
                <a:lnTo>
                  <a:pt x="75234" y="78765"/>
                </a:lnTo>
                <a:lnTo>
                  <a:pt x="80314" y="79768"/>
                </a:lnTo>
                <a:lnTo>
                  <a:pt x="86067" y="83350"/>
                </a:lnTo>
                <a:lnTo>
                  <a:pt x="87503" y="86156"/>
                </a:lnTo>
                <a:lnTo>
                  <a:pt x="87452" y="91960"/>
                </a:lnTo>
                <a:lnTo>
                  <a:pt x="76352" y="148116"/>
                </a:lnTo>
                <a:lnTo>
                  <a:pt x="66944" y="190382"/>
                </a:lnTo>
                <a:lnTo>
                  <a:pt x="64246" y="202564"/>
                </a:lnTo>
                <a:lnTo>
                  <a:pt x="55095" y="241938"/>
                </a:lnTo>
                <a:lnTo>
                  <a:pt x="35217" y="274485"/>
                </a:lnTo>
                <a:lnTo>
                  <a:pt x="22098" y="278015"/>
                </a:lnTo>
                <a:lnTo>
                  <a:pt x="66139" y="278015"/>
                </a:lnTo>
                <a:lnTo>
                  <a:pt x="86753" y="242635"/>
                </a:lnTo>
                <a:lnTo>
                  <a:pt x="91414" y="225374"/>
                </a:lnTo>
                <a:lnTo>
                  <a:pt x="125310" y="65671"/>
                </a:lnTo>
                <a:close/>
              </a:path>
              <a:path w="140970" h="295910">
                <a:moveTo>
                  <a:pt x="140792" y="0"/>
                </a:moveTo>
                <a:lnTo>
                  <a:pt x="108038" y="0"/>
                </a:lnTo>
                <a:lnTo>
                  <a:pt x="100050" y="35039"/>
                </a:lnTo>
                <a:lnTo>
                  <a:pt x="132816" y="35039"/>
                </a:lnTo>
                <a:lnTo>
                  <a:pt x="140792" y="0"/>
                </a:lnTo>
                <a:close/>
              </a:path>
            </a:pathLst>
          </a:custGeom>
          <a:solidFill>
            <a:srgbClr val="000000"/>
          </a:solidFill>
        </p:spPr>
        <p:txBody>
          <a:bodyPr wrap="square" lIns="0" tIns="0" rIns="0" bIns="0" rtlCol="0"/>
          <a:lstStyle/>
          <a:p>
            <a:endParaRPr/>
          </a:p>
        </p:txBody>
      </p:sp>
      <p:sp>
        <p:nvSpPr>
          <p:cNvPr id="13" name="object 13"/>
          <p:cNvSpPr/>
          <p:nvPr/>
        </p:nvSpPr>
        <p:spPr>
          <a:xfrm>
            <a:off x="4467188" y="3600649"/>
            <a:ext cx="134454" cy="238925"/>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4571810" y="3539549"/>
            <a:ext cx="41275" cy="35560"/>
          </a:xfrm>
          <a:custGeom>
            <a:avLst/>
            <a:gdLst/>
            <a:ahLst/>
            <a:cxnLst/>
            <a:rect l="l" t="t" r="r" b="b"/>
            <a:pathLst>
              <a:path w="41275" h="35560">
                <a:moveTo>
                  <a:pt x="7988" y="0"/>
                </a:moveTo>
                <a:lnTo>
                  <a:pt x="40741" y="0"/>
                </a:lnTo>
                <a:lnTo>
                  <a:pt x="32765" y="35039"/>
                </a:lnTo>
                <a:lnTo>
                  <a:pt x="0" y="35039"/>
                </a:lnTo>
                <a:lnTo>
                  <a:pt x="7988" y="0"/>
                </a:lnTo>
                <a:close/>
              </a:path>
            </a:pathLst>
          </a:custGeom>
          <a:ln w="9144">
            <a:solidFill>
              <a:srgbClr val="000000"/>
            </a:solidFill>
          </a:ln>
        </p:spPr>
        <p:txBody>
          <a:bodyPr wrap="square" lIns="0" tIns="0" rIns="0" bIns="0" rtlCol="0"/>
          <a:lstStyle/>
          <a:p>
            <a:endParaRPr/>
          </a:p>
        </p:txBody>
      </p:sp>
      <p:sp>
        <p:nvSpPr>
          <p:cNvPr id="15" name="object 15"/>
          <p:cNvSpPr/>
          <p:nvPr/>
        </p:nvSpPr>
        <p:spPr>
          <a:xfrm>
            <a:off x="4814887" y="3592741"/>
            <a:ext cx="275590" cy="0"/>
          </a:xfrm>
          <a:custGeom>
            <a:avLst/>
            <a:gdLst/>
            <a:ahLst/>
            <a:cxnLst/>
            <a:rect l="l" t="t" r="r" b="b"/>
            <a:pathLst>
              <a:path w="275589">
                <a:moveTo>
                  <a:pt x="0" y="0"/>
                </a:moveTo>
                <a:lnTo>
                  <a:pt x="275031" y="0"/>
                </a:lnTo>
              </a:path>
            </a:pathLst>
          </a:custGeom>
          <a:ln w="29692">
            <a:solidFill>
              <a:srgbClr val="000000"/>
            </a:solidFill>
          </a:ln>
        </p:spPr>
        <p:txBody>
          <a:bodyPr wrap="square" lIns="0" tIns="0" rIns="0" bIns="0" rtlCol="0"/>
          <a:lstStyle/>
          <a:p>
            <a:endParaRPr/>
          </a:p>
        </p:txBody>
      </p:sp>
      <p:sp>
        <p:nvSpPr>
          <p:cNvPr id="16" name="object 16"/>
          <p:cNvSpPr/>
          <p:nvPr/>
        </p:nvSpPr>
        <p:spPr>
          <a:xfrm>
            <a:off x="4814887" y="3500094"/>
            <a:ext cx="275590" cy="0"/>
          </a:xfrm>
          <a:custGeom>
            <a:avLst/>
            <a:gdLst/>
            <a:ahLst/>
            <a:cxnLst/>
            <a:rect l="l" t="t" r="r" b="b"/>
            <a:pathLst>
              <a:path w="275589">
                <a:moveTo>
                  <a:pt x="0" y="0"/>
                </a:moveTo>
                <a:lnTo>
                  <a:pt x="275031" y="0"/>
                </a:lnTo>
              </a:path>
            </a:pathLst>
          </a:custGeom>
          <a:ln w="29692">
            <a:solidFill>
              <a:srgbClr val="000000"/>
            </a:solidFill>
          </a:ln>
        </p:spPr>
        <p:txBody>
          <a:bodyPr wrap="square" lIns="0" tIns="0" rIns="0" bIns="0" rtlCol="0"/>
          <a:lstStyle/>
          <a:p>
            <a:endParaRPr/>
          </a:p>
        </p:txBody>
      </p:sp>
      <p:sp>
        <p:nvSpPr>
          <p:cNvPr id="17" name="object 17"/>
          <p:cNvSpPr/>
          <p:nvPr/>
        </p:nvSpPr>
        <p:spPr>
          <a:xfrm>
            <a:off x="5271044" y="3351865"/>
            <a:ext cx="685674" cy="487709"/>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6137019" y="3424084"/>
            <a:ext cx="246240" cy="246240"/>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6137019" y="3424084"/>
            <a:ext cx="246379" cy="246379"/>
          </a:xfrm>
          <a:custGeom>
            <a:avLst/>
            <a:gdLst/>
            <a:ahLst/>
            <a:cxnLst/>
            <a:rect l="l" t="t" r="r" b="b"/>
            <a:pathLst>
              <a:path w="246379" h="246379">
                <a:moveTo>
                  <a:pt x="22771" y="0"/>
                </a:moveTo>
                <a:lnTo>
                  <a:pt x="123901" y="100901"/>
                </a:lnTo>
                <a:lnTo>
                  <a:pt x="225031" y="0"/>
                </a:lnTo>
                <a:lnTo>
                  <a:pt x="246011" y="20764"/>
                </a:lnTo>
                <a:lnTo>
                  <a:pt x="145999" y="122555"/>
                </a:lnTo>
                <a:lnTo>
                  <a:pt x="246240" y="223913"/>
                </a:lnTo>
                <a:lnTo>
                  <a:pt x="223913" y="246240"/>
                </a:lnTo>
                <a:lnTo>
                  <a:pt x="123901" y="144208"/>
                </a:lnTo>
                <a:lnTo>
                  <a:pt x="20764" y="245338"/>
                </a:lnTo>
                <a:lnTo>
                  <a:pt x="0" y="224358"/>
                </a:lnTo>
                <a:lnTo>
                  <a:pt x="102019" y="122555"/>
                </a:lnTo>
                <a:lnTo>
                  <a:pt x="444" y="22326"/>
                </a:lnTo>
                <a:lnTo>
                  <a:pt x="22771" y="0"/>
                </a:lnTo>
                <a:close/>
              </a:path>
            </a:pathLst>
          </a:custGeom>
          <a:ln w="9144">
            <a:solidFill>
              <a:srgbClr val="000000"/>
            </a:solidFill>
          </a:ln>
        </p:spPr>
        <p:txBody>
          <a:bodyPr wrap="square" lIns="0" tIns="0" rIns="0" bIns="0" rtlCol="0"/>
          <a:lstStyle/>
          <a:p>
            <a:endParaRPr/>
          </a:p>
        </p:txBody>
      </p:sp>
      <p:sp>
        <p:nvSpPr>
          <p:cNvPr id="20" name="object 20"/>
          <p:cNvSpPr/>
          <p:nvPr/>
        </p:nvSpPr>
        <p:spPr>
          <a:xfrm>
            <a:off x="6534577" y="3349859"/>
            <a:ext cx="1534537" cy="737847"/>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7448715" y="3026342"/>
            <a:ext cx="309880" cy="304800"/>
          </a:xfrm>
          <a:custGeom>
            <a:avLst/>
            <a:gdLst/>
            <a:ahLst/>
            <a:cxnLst/>
            <a:rect l="l" t="t" r="r" b="b"/>
            <a:pathLst>
              <a:path w="309879" h="304800">
                <a:moveTo>
                  <a:pt x="309854" y="0"/>
                </a:moveTo>
                <a:lnTo>
                  <a:pt x="231724" y="0"/>
                </a:lnTo>
                <a:lnTo>
                  <a:pt x="229260" y="10934"/>
                </a:lnTo>
                <a:lnTo>
                  <a:pt x="236855" y="11379"/>
                </a:lnTo>
                <a:lnTo>
                  <a:pt x="242392" y="12979"/>
                </a:lnTo>
                <a:lnTo>
                  <a:pt x="249389" y="18491"/>
                </a:lnTo>
                <a:lnTo>
                  <a:pt x="251142" y="23368"/>
                </a:lnTo>
                <a:lnTo>
                  <a:pt x="251142" y="30365"/>
                </a:lnTo>
                <a:lnTo>
                  <a:pt x="230606" y="136626"/>
                </a:lnTo>
                <a:lnTo>
                  <a:pt x="222001" y="176638"/>
                </a:lnTo>
                <a:lnTo>
                  <a:pt x="213664" y="219168"/>
                </a:lnTo>
                <a:lnTo>
                  <a:pt x="210731" y="237312"/>
                </a:lnTo>
                <a:lnTo>
                  <a:pt x="208280" y="237312"/>
                </a:lnTo>
                <a:lnTo>
                  <a:pt x="204458" y="223634"/>
                </a:lnTo>
                <a:lnTo>
                  <a:pt x="199909" y="208507"/>
                </a:lnTo>
                <a:lnTo>
                  <a:pt x="194633" y="191929"/>
                </a:lnTo>
                <a:lnTo>
                  <a:pt x="129692" y="0"/>
                </a:lnTo>
                <a:lnTo>
                  <a:pt x="58483" y="0"/>
                </a:lnTo>
                <a:lnTo>
                  <a:pt x="56032" y="10934"/>
                </a:lnTo>
                <a:lnTo>
                  <a:pt x="63614" y="11379"/>
                </a:lnTo>
                <a:lnTo>
                  <a:pt x="69164" y="12979"/>
                </a:lnTo>
                <a:lnTo>
                  <a:pt x="76161" y="18491"/>
                </a:lnTo>
                <a:lnTo>
                  <a:pt x="77901" y="23368"/>
                </a:lnTo>
                <a:lnTo>
                  <a:pt x="77901" y="36309"/>
                </a:lnTo>
                <a:lnTo>
                  <a:pt x="35039" y="238201"/>
                </a:lnTo>
                <a:lnTo>
                  <a:pt x="24257" y="277495"/>
                </a:lnTo>
                <a:lnTo>
                  <a:pt x="2451" y="293789"/>
                </a:lnTo>
                <a:lnTo>
                  <a:pt x="0" y="304723"/>
                </a:lnTo>
                <a:lnTo>
                  <a:pt x="78130" y="304723"/>
                </a:lnTo>
                <a:lnTo>
                  <a:pt x="80581" y="293789"/>
                </a:lnTo>
                <a:lnTo>
                  <a:pt x="72694" y="293192"/>
                </a:lnTo>
                <a:lnTo>
                  <a:pt x="67081" y="291515"/>
                </a:lnTo>
                <a:lnTo>
                  <a:pt x="60375" y="286016"/>
                </a:lnTo>
                <a:lnTo>
                  <a:pt x="58712" y="281279"/>
                </a:lnTo>
                <a:lnTo>
                  <a:pt x="58712" y="274586"/>
                </a:lnTo>
                <a:lnTo>
                  <a:pt x="83045" y="150685"/>
                </a:lnTo>
                <a:lnTo>
                  <a:pt x="92710" y="103997"/>
                </a:lnTo>
                <a:lnTo>
                  <a:pt x="100620" y="61196"/>
                </a:lnTo>
                <a:lnTo>
                  <a:pt x="103136" y="44653"/>
                </a:lnTo>
                <a:lnTo>
                  <a:pt x="106032" y="44653"/>
                </a:lnTo>
                <a:lnTo>
                  <a:pt x="110680" y="61743"/>
                </a:lnTo>
                <a:lnTo>
                  <a:pt x="115690" y="78860"/>
                </a:lnTo>
                <a:lnTo>
                  <a:pt x="121062" y="96006"/>
                </a:lnTo>
                <a:lnTo>
                  <a:pt x="191985" y="304723"/>
                </a:lnTo>
                <a:lnTo>
                  <a:pt x="222338" y="304723"/>
                </a:lnTo>
                <a:lnTo>
                  <a:pt x="277048" y="56554"/>
                </a:lnTo>
                <a:lnTo>
                  <a:pt x="280953" y="41099"/>
                </a:lnTo>
                <a:lnTo>
                  <a:pt x="307403" y="10934"/>
                </a:lnTo>
                <a:lnTo>
                  <a:pt x="309854" y="0"/>
                </a:lnTo>
                <a:close/>
              </a:path>
            </a:pathLst>
          </a:custGeom>
          <a:solidFill>
            <a:srgbClr val="000000"/>
          </a:solidFill>
        </p:spPr>
        <p:txBody>
          <a:bodyPr wrap="square" lIns="0" tIns="0" rIns="0" bIns="0" rtlCol="0"/>
          <a:lstStyle/>
          <a:p>
            <a:endParaRPr/>
          </a:p>
        </p:txBody>
      </p:sp>
      <p:sp>
        <p:nvSpPr>
          <p:cNvPr id="22" name="object 22"/>
          <p:cNvSpPr/>
          <p:nvPr/>
        </p:nvSpPr>
        <p:spPr>
          <a:xfrm>
            <a:off x="7448715" y="3026342"/>
            <a:ext cx="309880" cy="304800"/>
          </a:xfrm>
          <a:custGeom>
            <a:avLst/>
            <a:gdLst/>
            <a:ahLst/>
            <a:cxnLst/>
            <a:rect l="l" t="t" r="r" b="b"/>
            <a:pathLst>
              <a:path w="309879" h="304800">
                <a:moveTo>
                  <a:pt x="58483" y="0"/>
                </a:moveTo>
                <a:lnTo>
                  <a:pt x="129692" y="0"/>
                </a:lnTo>
                <a:lnTo>
                  <a:pt x="188633" y="173901"/>
                </a:lnTo>
                <a:lnTo>
                  <a:pt x="194633" y="191929"/>
                </a:lnTo>
                <a:lnTo>
                  <a:pt x="199909" y="208507"/>
                </a:lnTo>
                <a:lnTo>
                  <a:pt x="204458" y="223634"/>
                </a:lnTo>
                <a:lnTo>
                  <a:pt x="208280" y="237312"/>
                </a:lnTo>
                <a:lnTo>
                  <a:pt x="210731" y="237312"/>
                </a:lnTo>
                <a:lnTo>
                  <a:pt x="218884" y="191985"/>
                </a:lnTo>
                <a:lnTo>
                  <a:pt x="227860" y="148959"/>
                </a:lnTo>
                <a:lnTo>
                  <a:pt x="230606" y="136626"/>
                </a:lnTo>
                <a:lnTo>
                  <a:pt x="246227" y="66306"/>
                </a:lnTo>
                <a:lnTo>
                  <a:pt x="248377" y="55772"/>
                </a:lnTo>
                <a:lnTo>
                  <a:pt x="249913" y="46269"/>
                </a:lnTo>
                <a:lnTo>
                  <a:pt x="250835" y="37799"/>
                </a:lnTo>
                <a:lnTo>
                  <a:pt x="251142" y="30365"/>
                </a:lnTo>
                <a:lnTo>
                  <a:pt x="251142" y="23368"/>
                </a:lnTo>
                <a:lnTo>
                  <a:pt x="229260" y="10934"/>
                </a:lnTo>
                <a:lnTo>
                  <a:pt x="231724" y="0"/>
                </a:lnTo>
                <a:lnTo>
                  <a:pt x="309854" y="0"/>
                </a:lnTo>
                <a:lnTo>
                  <a:pt x="307403" y="10934"/>
                </a:lnTo>
                <a:lnTo>
                  <a:pt x="301739" y="12128"/>
                </a:lnTo>
                <a:lnTo>
                  <a:pt x="297688" y="13474"/>
                </a:lnTo>
                <a:lnTo>
                  <a:pt x="295236" y="14960"/>
                </a:lnTo>
                <a:lnTo>
                  <a:pt x="292773" y="16446"/>
                </a:lnTo>
                <a:lnTo>
                  <a:pt x="290576" y="18681"/>
                </a:lnTo>
                <a:lnTo>
                  <a:pt x="288645" y="21653"/>
                </a:lnTo>
                <a:lnTo>
                  <a:pt x="286715" y="24625"/>
                </a:lnTo>
                <a:lnTo>
                  <a:pt x="284695" y="29286"/>
                </a:lnTo>
                <a:lnTo>
                  <a:pt x="274802" y="66522"/>
                </a:lnTo>
                <a:lnTo>
                  <a:pt x="222338" y="304723"/>
                </a:lnTo>
                <a:lnTo>
                  <a:pt x="191985" y="304723"/>
                </a:lnTo>
                <a:lnTo>
                  <a:pt x="126796" y="113182"/>
                </a:lnTo>
                <a:lnTo>
                  <a:pt x="110680" y="61743"/>
                </a:lnTo>
                <a:lnTo>
                  <a:pt x="106032" y="44653"/>
                </a:lnTo>
                <a:lnTo>
                  <a:pt x="103136" y="44653"/>
                </a:lnTo>
                <a:lnTo>
                  <a:pt x="95770" y="88074"/>
                </a:lnTo>
                <a:lnTo>
                  <a:pt x="86348" y="135305"/>
                </a:lnTo>
                <a:lnTo>
                  <a:pt x="63398" y="239763"/>
                </a:lnTo>
                <a:lnTo>
                  <a:pt x="61348" y="249890"/>
                </a:lnTo>
                <a:lnTo>
                  <a:pt x="59883" y="259070"/>
                </a:lnTo>
                <a:lnTo>
                  <a:pt x="59004" y="267302"/>
                </a:lnTo>
                <a:lnTo>
                  <a:pt x="58712" y="274586"/>
                </a:lnTo>
                <a:lnTo>
                  <a:pt x="58712" y="281279"/>
                </a:lnTo>
                <a:lnTo>
                  <a:pt x="60375" y="286016"/>
                </a:lnTo>
                <a:lnTo>
                  <a:pt x="63728" y="288759"/>
                </a:lnTo>
                <a:lnTo>
                  <a:pt x="67081" y="291515"/>
                </a:lnTo>
                <a:lnTo>
                  <a:pt x="72694" y="293192"/>
                </a:lnTo>
                <a:lnTo>
                  <a:pt x="80581" y="293789"/>
                </a:lnTo>
                <a:lnTo>
                  <a:pt x="78130" y="304723"/>
                </a:lnTo>
                <a:lnTo>
                  <a:pt x="0" y="304723"/>
                </a:lnTo>
                <a:lnTo>
                  <a:pt x="2451" y="293789"/>
                </a:lnTo>
                <a:lnTo>
                  <a:pt x="8102" y="292887"/>
                </a:lnTo>
                <a:lnTo>
                  <a:pt x="12344" y="291439"/>
                </a:lnTo>
                <a:lnTo>
                  <a:pt x="15176" y="289433"/>
                </a:lnTo>
                <a:lnTo>
                  <a:pt x="17995" y="287426"/>
                </a:lnTo>
                <a:lnTo>
                  <a:pt x="20383" y="284632"/>
                </a:lnTo>
                <a:lnTo>
                  <a:pt x="22313" y="281063"/>
                </a:lnTo>
                <a:lnTo>
                  <a:pt x="24257" y="277495"/>
                </a:lnTo>
                <a:lnTo>
                  <a:pt x="35039" y="238201"/>
                </a:lnTo>
                <a:lnTo>
                  <a:pt x="72999" y="66306"/>
                </a:lnTo>
                <a:lnTo>
                  <a:pt x="74485" y="59905"/>
                </a:lnTo>
                <a:lnTo>
                  <a:pt x="75679" y="53797"/>
                </a:lnTo>
                <a:lnTo>
                  <a:pt x="76568" y="47993"/>
                </a:lnTo>
                <a:lnTo>
                  <a:pt x="77457" y="42189"/>
                </a:lnTo>
                <a:lnTo>
                  <a:pt x="77901" y="36309"/>
                </a:lnTo>
                <a:lnTo>
                  <a:pt x="77901" y="30365"/>
                </a:lnTo>
                <a:lnTo>
                  <a:pt x="77901" y="23368"/>
                </a:lnTo>
                <a:lnTo>
                  <a:pt x="76161" y="18491"/>
                </a:lnTo>
                <a:lnTo>
                  <a:pt x="72656" y="15735"/>
                </a:lnTo>
                <a:lnTo>
                  <a:pt x="69164" y="12979"/>
                </a:lnTo>
                <a:lnTo>
                  <a:pt x="63614" y="11379"/>
                </a:lnTo>
                <a:lnTo>
                  <a:pt x="56032" y="10934"/>
                </a:lnTo>
                <a:lnTo>
                  <a:pt x="58483" y="0"/>
                </a:lnTo>
                <a:close/>
              </a:path>
            </a:pathLst>
          </a:custGeom>
          <a:ln w="9144">
            <a:solidFill>
              <a:srgbClr val="000000"/>
            </a:solidFill>
          </a:ln>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4837"/>
            <a:ext cx="5264785" cy="696595"/>
          </a:xfrm>
          <a:prstGeom prst="rect">
            <a:avLst/>
          </a:prstGeom>
        </p:spPr>
        <p:txBody>
          <a:bodyPr vert="horz" wrap="square" lIns="0" tIns="13335" rIns="0" bIns="0" rtlCol="0">
            <a:spAutoFit/>
          </a:bodyPr>
          <a:lstStyle/>
          <a:p>
            <a:pPr marL="12700">
              <a:lnSpc>
                <a:spcPct val="100000"/>
              </a:lnSpc>
              <a:spcBef>
                <a:spcPts val="105"/>
              </a:spcBef>
            </a:pPr>
            <a:r>
              <a:rPr sz="4400" spc="55" dirty="0"/>
              <a:t>2. </a:t>
            </a:r>
            <a:r>
              <a:rPr sz="4400" spc="20" dirty="0"/>
              <a:t>Trích xuất </a:t>
            </a:r>
            <a:r>
              <a:rPr sz="4400" spc="110" dirty="0"/>
              <a:t>đặc</a:t>
            </a:r>
            <a:r>
              <a:rPr sz="4400" spc="-710" dirty="0"/>
              <a:t> </a:t>
            </a:r>
            <a:r>
              <a:rPr sz="4400" spc="-55" dirty="0"/>
              <a:t>trưng</a:t>
            </a:r>
            <a:endParaRPr sz="4400"/>
          </a:p>
        </p:txBody>
      </p:sp>
      <p:sp>
        <p:nvSpPr>
          <p:cNvPr id="3" name="object 3"/>
          <p:cNvSpPr txBox="1"/>
          <p:nvPr/>
        </p:nvSpPr>
        <p:spPr>
          <a:xfrm>
            <a:off x="916939" y="1379378"/>
            <a:ext cx="10587355" cy="1614805"/>
          </a:xfrm>
          <a:prstGeom prst="rect">
            <a:avLst/>
          </a:prstGeom>
        </p:spPr>
        <p:txBody>
          <a:bodyPr vert="horz" wrap="square" lIns="0" tIns="13335" rIns="0" bIns="0" rtlCol="0">
            <a:spAutoFit/>
          </a:bodyPr>
          <a:lstStyle/>
          <a:p>
            <a:pPr marL="12700">
              <a:lnSpc>
                <a:spcPct val="100000"/>
              </a:lnSpc>
              <a:spcBef>
                <a:spcPts val="105"/>
              </a:spcBef>
            </a:pPr>
            <a:r>
              <a:rPr sz="3200" b="1" spc="40" dirty="0">
                <a:solidFill>
                  <a:srgbClr val="205F9A"/>
                </a:solidFill>
                <a:latin typeface="Calibri"/>
                <a:cs typeface="Calibri"/>
              </a:rPr>
              <a:t>2.</a:t>
            </a:r>
            <a:r>
              <a:rPr lang="en-US" sz="3200" b="1" spc="40" dirty="0">
                <a:solidFill>
                  <a:srgbClr val="205F9A"/>
                </a:solidFill>
                <a:latin typeface="Calibri"/>
                <a:cs typeface="Calibri"/>
              </a:rPr>
              <a:t>2</a:t>
            </a:r>
            <a:r>
              <a:rPr sz="3200" b="1" spc="40" dirty="0">
                <a:solidFill>
                  <a:srgbClr val="205F9A"/>
                </a:solidFill>
                <a:latin typeface="Calibri"/>
                <a:cs typeface="Calibri"/>
              </a:rPr>
              <a:t>.</a:t>
            </a:r>
            <a:r>
              <a:rPr sz="3200" b="1" spc="-125" dirty="0">
                <a:solidFill>
                  <a:srgbClr val="205F9A"/>
                </a:solidFill>
                <a:latin typeface="Calibri"/>
                <a:cs typeface="Calibri"/>
              </a:rPr>
              <a:t> </a:t>
            </a:r>
            <a:r>
              <a:rPr sz="3200" b="1" spc="114" dirty="0">
                <a:solidFill>
                  <a:srgbClr val="205F9A"/>
                </a:solidFill>
                <a:latin typeface="Calibri"/>
                <a:cs typeface="Calibri"/>
              </a:rPr>
              <a:t>TF-IDF</a:t>
            </a:r>
            <a:endParaRPr sz="3200" dirty="0">
              <a:latin typeface="Calibri"/>
              <a:cs typeface="Calibri"/>
            </a:endParaRPr>
          </a:p>
          <a:p>
            <a:pPr marL="12700" marR="5080">
              <a:lnSpc>
                <a:spcPct val="150000"/>
              </a:lnSpc>
              <a:spcBef>
                <a:spcPts val="2185"/>
              </a:spcBef>
            </a:pPr>
            <a:r>
              <a:rPr sz="1800" spc="-185" dirty="0">
                <a:latin typeface="Arial"/>
                <a:cs typeface="Arial"/>
              </a:rPr>
              <a:t>Từ</a:t>
            </a:r>
            <a:r>
              <a:rPr sz="1800" spc="-140" dirty="0">
                <a:latin typeface="Arial"/>
                <a:cs typeface="Arial"/>
              </a:rPr>
              <a:t> </a:t>
            </a:r>
            <a:r>
              <a:rPr sz="1800" spc="15" dirty="0">
                <a:latin typeface="Arial"/>
                <a:cs typeface="Arial"/>
              </a:rPr>
              <a:t>mỗi</a:t>
            </a:r>
            <a:r>
              <a:rPr sz="1800" spc="-145" dirty="0">
                <a:latin typeface="Arial"/>
                <a:cs typeface="Arial"/>
              </a:rPr>
              <a:t> </a:t>
            </a:r>
            <a:r>
              <a:rPr sz="1800" spc="15" dirty="0">
                <a:latin typeface="Arial"/>
                <a:cs typeface="Arial"/>
              </a:rPr>
              <a:t>tài</a:t>
            </a:r>
            <a:r>
              <a:rPr sz="1800" spc="-125" dirty="0">
                <a:latin typeface="Arial"/>
                <a:cs typeface="Arial"/>
              </a:rPr>
              <a:t> </a:t>
            </a:r>
            <a:r>
              <a:rPr sz="1800" spc="10" dirty="0">
                <a:latin typeface="Arial"/>
                <a:cs typeface="Arial"/>
              </a:rPr>
              <a:t>liệu,</a:t>
            </a:r>
            <a:r>
              <a:rPr sz="1800" spc="-160" dirty="0">
                <a:latin typeface="Arial"/>
                <a:cs typeface="Arial"/>
              </a:rPr>
              <a:t> </a:t>
            </a:r>
            <a:r>
              <a:rPr sz="1800" spc="5" dirty="0">
                <a:latin typeface="Arial"/>
                <a:cs typeface="Arial"/>
              </a:rPr>
              <a:t>ta</a:t>
            </a:r>
            <a:r>
              <a:rPr sz="1800" spc="-110" dirty="0">
                <a:latin typeface="Arial"/>
                <a:cs typeface="Arial"/>
              </a:rPr>
              <a:t> </a:t>
            </a:r>
            <a:r>
              <a:rPr sz="1800" spc="-80" dirty="0">
                <a:latin typeface="Arial"/>
                <a:cs typeface="Arial"/>
              </a:rPr>
              <a:t>xây</a:t>
            </a:r>
            <a:r>
              <a:rPr sz="1800" spc="-130" dirty="0">
                <a:latin typeface="Arial"/>
                <a:cs typeface="Arial"/>
              </a:rPr>
              <a:t> </a:t>
            </a:r>
            <a:r>
              <a:rPr sz="1800" spc="-70" dirty="0">
                <a:latin typeface="Arial"/>
                <a:cs typeface="Arial"/>
              </a:rPr>
              <a:t>dựng</a:t>
            </a:r>
            <a:r>
              <a:rPr sz="1800" spc="-145" dirty="0">
                <a:latin typeface="Arial"/>
                <a:cs typeface="Arial"/>
              </a:rPr>
              <a:t> </a:t>
            </a:r>
            <a:r>
              <a:rPr sz="1800" spc="35" dirty="0">
                <a:latin typeface="Arial"/>
                <a:cs typeface="Arial"/>
              </a:rPr>
              <a:t>một</a:t>
            </a:r>
            <a:r>
              <a:rPr sz="1800" spc="-130" dirty="0">
                <a:latin typeface="Arial"/>
                <a:cs typeface="Arial"/>
              </a:rPr>
              <a:t> </a:t>
            </a:r>
            <a:r>
              <a:rPr sz="1800" spc="-10" dirty="0">
                <a:latin typeface="Arial"/>
                <a:cs typeface="Arial"/>
              </a:rPr>
              <a:t>vector</a:t>
            </a:r>
            <a:r>
              <a:rPr sz="1800" spc="-140" dirty="0">
                <a:latin typeface="Arial"/>
                <a:cs typeface="Arial"/>
              </a:rPr>
              <a:t> </a:t>
            </a:r>
            <a:r>
              <a:rPr sz="1800" dirty="0">
                <a:latin typeface="Arial"/>
                <a:cs typeface="Arial"/>
              </a:rPr>
              <a:t>đặc</a:t>
            </a:r>
            <a:r>
              <a:rPr sz="1800" spc="-125" dirty="0">
                <a:latin typeface="Arial"/>
                <a:cs typeface="Arial"/>
              </a:rPr>
              <a:t> </a:t>
            </a:r>
            <a:r>
              <a:rPr sz="1800" spc="-35" dirty="0">
                <a:latin typeface="Arial"/>
                <a:cs typeface="Arial"/>
              </a:rPr>
              <a:t>trưng,</a:t>
            </a:r>
            <a:r>
              <a:rPr sz="1800" spc="-140" dirty="0">
                <a:latin typeface="Arial"/>
                <a:cs typeface="Arial"/>
              </a:rPr>
              <a:t> </a:t>
            </a:r>
            <a:r>
              <a:rPr sz="1800" spc="-80" dirty="0">
                <a:latin typeface="Arial"/>
                <a:cs typeface="Arial"/>
              </a:rPr>
              <a:t>với</a:t>
            </a:r>
            <a:r>
              <a:rPr sz="1800" spc="-145" dirty="0">
                <a:latin typeface="Arial"/>
                <a:cs typeface="Arial"/>
              </a:rPr>
              <a:t> </a:t>
            </a:r>
            <a:r>
              <a:rPr sz="1800" spc="-20" dirty="0">
                <a:latin typeface="Arial"/>
                <a:cs typeface="Arial"/>
              </a:rPr>
              <a:t>số</a:t>
            </a:r>
            <a:r>
              <a:rPr sz="1800" spc="-135" dirty="0">
                <a:latin typeface="Arial"/>
                <a:cs typeface="Arial"/>
              </a:rPr>
              <a:t> </a:t>
            </a:r>
            <a:r>
              <a:rPr sz="1800" dirty="0" err="1">
                <a:latin typeface="Arial"/>
                <a:cs typeface="Arial"/>
              </a:rPr>
              <a:t>chiều</a:t>
            </a:r>
            <a:r>
              <a:rPr sz="1800" spc="-155" dirty="0">
                <a:latin typeface="Arial"/>
                <a:cs typeface="Arial"/>
              </a:rPr>
              <a:t> </a:t>
            </a:r>
            <a:r>
              <a:rPr lang="en-US" sz="1800" spc="-155" dirty="0">
                <a:latin typeface="Arial"/>
                <a:cs typeface="Arial"/>
              </a:rPr>
              <a:t>K </a:t>
            </a:r>
            <a:r>
              <a:rPr lang="en-US" spc="40" dirty="0">
                <a:latin typeface="Cambria Math"/>
                <a:cs typeface="Arial"/>
              </a:rPr>
              <a:t> </a:t>
            </a:r>
            <a:r>
              <a:rPr sz="1800" spc="5" dirty="0" err="1">
                <a:latin typeface="Arial"/>
                <a:cs typeface="Arial"/>
              </a:rPr>
              <a:t>là</a:t>
            </a:r>
            <a:r>
              <a:rPr sz="1800" spc="-145" dirty="0">
                <a:latin typeface="Arial"/>
                <a:cs typeface="Arial"/>
              </a:rPr>
              <a:t> </a:t>
            </a:r>
            <a:r>
              <a:rPr sz="1800" spc="-20" dirty="0">
                <a:latin typeface="Arial"/>
                <a:cs typeface="Arial"/>
              </a:rPr>
              <a:t>số</a:t>
            </a:r>
            <a:r>
              <a:rPr sz="1800" spc="-140" dirty="0">
                <a:latin typeface="Arial"/>
                <a:cs typeface="Arial"/>
              </a:rPr>
              <a:t> </a:t>
            </a:r>
            <a:r>
              <a:rPr sz="1800" spc="-30" dirty="0">
                <a:latin typeface="Arial"/>
                <a:cs typeface="Arial"/>
              </a:rPr>
              <a:t>từ</a:t>
            </a:r>
            <a:r>
              <a:rPr sz="1800" spc="-125" dirty="0">
                <a:latin typeface="Arial"/>
                <a:cs typeface="Arial"/>
              </a:rPr>
              <a:t> </a:t>
            </a:r>
            <a:r>
              <a:rPr sz="1800" spc="-25" dirty="0">
                <a:latin typeface="Arial"/>
                <a:cs typeface="Arial"/>
              </a:rPr>
              <a:t>khóa</a:t>
            </a:r>
            <a:r>
              <a:rPr sz="1800" spc="-145" dirty="0">
                <a:latin typeface="Arial"/>
                <a:cs typeface="Arial"/>
              </a:rPr>
              <a:t> </a:t>
            </a:r>
            <a:r>
              <a:rPr sz="1800" spc="-65" dirty="0">
                <a:latin typeface="Arial"/>
                <a:cs typeface="Arial"/>
              </a:rPr>
              <a:t>được</a:t>
            </a:r>
            <a:r>
              <a:rPr sz="1800" spc="-135" dirty="0">
                <a:latin typeface="Arial"/>
                <a:cs typeface="Arial"/>
              </a:rPr>
              <a:t> </a:t>
            </a:r>
            <a:r>
              <a:rPr sz="1800" spc="-80" dirty="0">
                <a:latin typeface="Arial"/>
                <a:cs typeface="Arial"/>
              </a:rPr>
              <a:t>sử</a:t>
            </a:r>
            <a:r>
              <a:rPr sz="1800" spc="-135" dirty="0">
                <a:latin typeface="Arial"/>
                <a:cs typeface="Arial"/>
              </a:rPr>
              <a:t> </a:t>
            </a:r>
            <a:r>
              <a:rPr sz="1800" spc="-35" dirty="0">
                <a:latin typeface="Arial"/>
                <a:cs typeface="Arial"/>
              </a:rPr>
              <a:t>dụng</a:t>
            </a:r>
            <a:r>
              <a:rPr sz="1800" spc="-150" dirty="0">
                <a:latin typeface="Arial"/>
                <a:cs typeface="Arial"/>
              </a:rPr>
              <a:t> </a:t>
            </a:r>
            <a:r>
              <a:rPr sz="1800" spc="-25" dirty="0">
                <a:latin typeface="Arial"/>
                <a:cs typeface="Arial"/>
              </a:rPr>
              <a:t>trong</a:t>
            </a:r>
            <a:r>
              <a:rPr sz="1800" spc="-135" dirty="0">
                <a:latin typeface="Arial"/>
                <a:cs typeface="Arial"/>
              </a:rPr>
              <a:t> </a:t>
            </a:r>
            <a:r>
              <a:rPr sz="1800" spc="10" dirty="0">
                <a:latin typeface="Arial"/>
                <a:cs typeface="Arial"/>
              </a:rPr>
              <a:t>tập</a:t>
            </a:r>
            <a:r>
              <a:rPr sz="1800" spc="-130" dirty="0">
                <a:latin typeface="Arial"/>
                <a:cs typeface="Arial"/>
              </a:rPr>
              <a:t> </a:t>
            </a:r>
            <a:r>
              <a:rPr sz="1800" spc="15" dirty="0">
                <a:latin typeface="Arial"/>
                <a:cs typeface="Arial"/>
              </a:rPr>
              <a:t>tài</a:t>
            </a:r>
            <a:r>
              <a:rPr sz="1800" spc="-110" dirty="0">
                <a:latin typeface="Arial"/>
                <a:cs typeface="Arial"/>
              </a:rPr>
              <a:t> </a:t>
            </a:r>
            <a:r>
              <a:rPr sz="1800" spc="10" dirty="0">
                <a:latin typeface="Arial"/>
                <a:cs typeface="Arial"/>
              </a:rPr>
              <a:t>liệu.  </a:t>
            </a:r>
            <a:r>
              <a:rPr sz="1800" spc="-30" dirty="0">
                <a:latin typeface="Arial"/>
                <a:cs typeface="Arial"/>
              </a:rPr>
              <a:t>Vector</a:t>
            </a:r>
            <a:r>
              <a:rPr sz="1800" spc="-145" dirty="0">
                <a:latin typeface="Arial"/>
                <a:cs typeface="Arial"/>
              </a:rPr>
              <a:t> </a:t>
            </a:r>
            <a:r>
              <a:rPr sz="1800" spc="5" dirty="0">
                <a:latin typeface="Arial"/>
                <a:cs typeface="Arial"/>
              </a:rPr>
              <a:t>cho</a:t>
            </a:r>
            <a:r>
              <a:rPr sz="1800" spc="-150" dirty="0">
                <a:latin typeface="Arial"/>
                <a:cs typeface="Arial"/>
              </a:rPr>
              <a:t> </a:t>
            </a:r>
            <a:r>
              <a:rPr sz="1800" spc="15" dirty="0">
                <a:latin typeface="Arial"/>
                <a:cs typeface="Arial"/>
              </a:rPr>
              <a:t>mỗi</a:t>
            </a:r>
            <a:r>
              <a:rPr sz="1800" spc="-150" dirty="0">
                <a:latin typeface="Arial"/>
                <a:cs typeface="Arial"/>
              </a:rPr>
              <a:t> </a:t>
            </a:r>
            <a:r>
              <a:rPr sz="1800" spc="15" dirty="0">
                <a:latin typeface="Arial"/>
                <a:cs typeface="Arial"/>
              </a:rPr>
              <a:t>tài</a:t>
            </a:r>
            <a:r>
              <a:rPr sz="1800" spc="-130" dirty="0">
                <a:latin typeface="Arial"/>
                <a:cs typeface="Arial"/>
              </a:rPr>
              <a:t> </a:t>
            </a:r>
            <a:r>
              <a:rPr sz="1800" spc="10" dirty="0">
                <a:latin typeface="Arial"/>
                <a:cs typeface="Arial"/>
              </a:rPr>
              <a:t>liệu</a:t>
            </a:r>
            <a:r>
              <a:rPr sz="1800" spc="-150" dirty="0">
                <a:latin typeface="Arial"/>
                <a:cs typeface="Arial"/>
              </a:rPr>
              <a:t> </a:t>
            </a:r>
            <a:r>
              <a:rPr sz="1800" spc="5" dirty="0">
                <a:latin typeface="Arial"/>
                <a:cs typeface="Arial"/>
              </a:rPr>
              <a:t>là</a:t>
            </a:r>
            <a:r>
              <a:rPr sz="1800" spc="-140" dirty="0">
                <a:latin typeface="Arial"/>
                <a:cs typeface="Arial"/>
              </a:rPr>
              <a:t> </a:t>
            </a:r>
            <a:r>
              <a:rPr sz="1800" spc="35" dirty="0">
                <a:latin typeface="Arial"/>
                <a:cs typeface="Arial"/>
              </a:rPr>
              <a:t>một</a:t>
            </a:r>
            <a:r>
              <a:rPr sz="1800" spc="-135" dirty="0">
                <a:latin typeface="Arial"/>
                <a:cs typeface="Arial"/>
              </a:rPr>
              <a:t> </a:t>
            </a:r>
            <a:r>
              <a:rPr sz="1800" spc="-10" dirty="0">
                <a:latin typeface="Arial"/>
                <a:cs typeface="Arial"/>
              </a:rPr>
              <a:t>vector</a:t>
            </a:r>
            <a:r>
              <a:rPr sz="1800" spc="-145" dirty="0">
                <a:latin typeface="Arial"/>
                <a:cs typeface="Arial"/>
              </a:rPr>
              <a:t> </a:t>
            </a:r>
            <a:r>
              <a:rPr sz="1800" spc="-30" dirty="0">
                <a:latin typeface="Arial"/>
                <a:cs typeface="Arial"/>
              </a:rPr>
              <a:t>thưa</a:t>
            </a:r>
            <a:r>
              <a:rPr sz="1800" spc="-140" dirty="0">
                <a:latin typeface="Arial"/>
                <a:cs typeface="Arial"/>
              </a:rPr>
              <a:t> </a:t>
            </a:r>
            <a:r>
              <a:rPr sz="1800" spc="-35" dirty="0">
                <a:latin typeface="Arial"/>
                <a:cs typeface="Arial"/>
              </a:rPr>
              <a:t>(hầu</a:t>
            </a:r>
            <a:r>
              <a:rPr sz="1800" spc="-155" dirty="0">
                <a:latin typeface="Arial"/>
                <a:cs typeface="Arial"/>
              </a:rPr>
              <a:t> </a:t>
            </a:r>
            <a:r>
              <a:rPr sz="1800" spc="5" dirty="0">
                <a:latin typeface="Arial"/>
                <a:cs typeface="Arial"/>
              </a:rPr>
              <a:t>hết</a:t>
            </a:r>
            <a:r>
              <a:rPr sz="1800" spc="-135" dirty="0">
                <a:latin typeface="Arial"/>
                <a:cs typeface="Arial"/>
              </a:rPr>
              <a:t> </a:t>
            </a:r>
            <a:r>
              <a:rPr sz="1800" spc="10" dirty="0">
                <a:latin typeface="Arial"/>
                <a:cs typeface="Arial"/>
              </a:rPr>
              <a:t>các</a:t>
            </a:r>
            <a:r>
              <a:rPr sz="1800" spc="-140" dirty="0">
                <a:latin typeface="Arial"/>
                <a:cs typeface="Arial"/>
              </a:rPr>
              <a:t> </a:t>
            </a:r>
            <a:r>
              <a:rPr sz="1800" spc="-15" dirty="0">
                <a:latin typeface="Arial"/>
                <a:cs typeface="Arial"/>
              </a:rPr>
              <a:t>phần</a:t>
            </a:r>
            <a:r>
              <a:rPr sz="1800" spc="-140" dirty="0">
                <a:latin typeface="Arial"/>
                <a:cs typeface="Arial"/>
              </a:rPr>
              <a:t> </a:t>
            </a:r>
            <a:r>
              <a:rPr sz="1800" spc="-30" dirty="0">
                <a:latin typeface="Arial"/>
                <a:cs typeface="Arial"/>
              </a:rPr>
              <a:t>tử</a:t>
            </a:r>
            <a:r>
              <a:rPr sz="1800" spc="-125" dirty="0">
                <a:latin typeface="Arial"/>
                <a:cs typeface="Arial"/>
              </a:rPr>
              <a:t> </a:t>
            </a:r>
            <a:r>
              <a:rPr sz="1800" spc="15" dirty="0">
                <a:latin typeface="Arial"/>
                <a:cs typeface="Arial"/>
              </a:rPr>
              <a:t>có</a:t>
            </a:r>
            <a:r>
              <a:rPr sz="1800" spc="-150" dirty="0">
                <a:latin typeface="Arial"/>
                <a:cs typeface="Arial"/>
              </a:rPr>
              <a:t> </a:t>
            </a:r>
            <a:r>
              <a:rPr sz="1800" spc="-50" dirty="0">
                <a:latin typeface="Arial"/>
                <a:cs typeface="Arial"/>
              </a:rPr>
              <a:t>giá</a:t>
            </a:r>
            <a:r>
              <a:rPr sz="1800" spc="-140" dirty="0">
                <a:latin typeface="Arial"/>
                <a:cs typeface="Arial"/>
              </a:rPr>
              <a:t> </a:t>
            </a:r>
            <a:r>
              <a:rPr sz="1800" spc="30" dirty="0">
                <a:latin typeface="Arial"/>
                <a:cs typeface="Arial"/>
              </a:rPr>
              <a:t>trị</a:t>
            </a:r>
            <a:r>
              <a:rPr sz="1800" spc="-130" dirty="0">
                <a:latin typeface="Arial"/>
                <a:cs typeface="Arial"/>
              </a:rPr>
              <a:t> </a:t>
            </a:r>
            <a:r>
              <a:rPr sz="1800" spc="-45" dirty="0">
                <a:latin typeface="Arial"/>
                <a:cs typeface="Arial"/>
              </a:rPr>
              <a:t>bằng</a:t>
            </a:r>
            <a:r>
              <a:rPr sz="1800" spc="-140" dirty="0">
                <a:latin typeface="Arial"/>
                <a:cs typeface="Arial"/>
              </a:rPr>
              <a:t> </a:t>
            </a:r>
            <a:r>
              <a:rPr sz="1800" spc="-60" dirty="0">
                <a:latin typeface="Arial"/>
                <a:cs typeface="Arial"/>
              </a:rPr>
              <a:t>0)</a:t>
            </a:r>
            <a:endParaRPr sz="1800" dirty="0">
              <a:latin typeface="Arial"/>
              <a:cs typeface="Arial"/>
            </a:endParaRPr>
          </a:p>
        </p:txBody>
      </p:sp>
      <p:sp>
        <p:nvSpPr>
          <p:cNvPr id="4" name="object 4"/>
          <p:cNvSpPr/>
          <p:nvPr/>
        </p:nvSpPr>
        <p:spPr>
          <a:xfrm>
            <a:off x="9426840" y="6308495"/>
            <a:ext cx="67310" cy="10160"/>
          </a:xfrm>
          <a:custGeom>
            <a:avLst/>
            <a:gdLst/>
            <a:ahLst/>
            <a:cxnLst/>
            <a:rect l="l" t="t" r="r" b="b"/>
            <a:pathLst>
              <a:path w="67309" h="10160">
                <a:moveTo>
                  <a:pt x="0" y="10160"/>
                </a:moveTo>
                <a:lnTo>
                  <a:pt x="67195" y="10160"/>
                </a:lnTo>
                <a:lnTo>
                  <a:pt x="67195" y="0"/>
                </a:lnTo>
                <a:lnTo>
                  <a:pt x="0" y="0"/>
                </a:lnTo>
                <a:lnTo>
                  <a:pt x="0" y="10160"/>
                </a:lnTo>
                <a:close/>
              </a:path>
            </a:pathLst>
          </a:custGeom>
          <a:solidFill>
            <a:srgbClr val="000000"/>
          </a:solidFill>
        </p:spPr>
        <p:txBody>
          <a:bodyPr wrap="square" lIns="0" tIns="0" rIns="0" bIns="0" rtlCol="0"/>
          <a:lstStyle/>
          <a:p>
            <a:endParaRPr/>
          </a:p>
        </p:txBody>
      </p:sp>
      <p:sp>
        <p:nvSpPr>
          <p:cNvPr id="5" name="object 5"/>
          <p:cNvSpPr/>
          <p:nvPr/>
        </p:nvSpPr>
        <p:spPr>
          <a:xfrm>
            <a:off x="9482314" y="3572915"/>
            <a:ext cx="0" cy="2735580"/>
          </a:xfrm>
          <a:custGeom>
            <a:avLst/>
            <a:gdLst/>
            <a:ahLst/>
            <a:cxnLst/>
            <a:rect l="l" t="t" r="r" b="b"/>
            <a:pathLst>
              <a:path h="2735579">
                <a:moveTo>
                  <a:pt x="0" y="0"/>
                </a:moveTo>
                <a:lnTo>
                  <a:pt x="0" y="2735580"/>
                </a:lnTo>
              </a:path>
            </a:pathLst>
          </a:custGeom>
          <a:ln w="23444">
            <a:solidFill>
              <a:srgbClr val="000000"/>
            </a:solidFill>
          </a:ln>
        </p:spPr>
        <p:txBody>
          <a:bodyPr wrap="square" lIns="0" tIns="0" rIns="0" bIns="0" rtlCol="0"/>
          <a:lstStyle/>
          <a:p>
            <a:endParaRPr/>
          </a:p>
        </p:txBody>
      </p:sp>
      <p:sp>
        <p:nvSpPr>
          <p:cNvPr id="6" name="object 6"/>
          <p:cNvSpPr/>
          <p:nvPr/>
        </p:nvSpPr>
        <p:spPr>
          <a:xfrm>
            <a:off x="9426840" y="3562755"/>
            <a:ext cx="67310" cy="10160"/>
          </a:xfrm>
          <a:custGeom>
            <a:avLst/>
            <a:gdLst/>
            <a:ahLst/>
            <a:cxnLst/>
            <a:rect l="l" t="t" r="r" b="b"/>
            <a:pathLst>
              <a:path w="67309" h="10160">
                <a:moveTo>
                  <a:pt x="0" y="10160"/>
                </a:moveTo>
                <a:lnTo>
                  <a:pt x="67195" y="10160"/>
                </a:lnTo>
                <a:lnTo>
                  <a:pt x="67195" y="0"/>
                </a:lnTo>
                <a:lnTo>
                  <a:pt x="0" y="0"/>
                </a:lnTo>
                <a:lnTo>
                  <a:pt x="0" y="10160"/>
                </a:lnTo>
                <a:close/>
              </a:path>
            </a:pathLst>
          </a:custGeom>
          <a:solidFill>
            <a:srgbClr val="000000"/>
          </a:solidFill>
        </p:spPr>
        <p:txBody>
          <a:bodyPr wrap="square" lIns="0" tIns="0" rIns="0" bIns="0" rtlCol="0"/>
          <a:lstStyle/>
          <a:p>
            <a:endParaRPr/>
          </a:p>
        </p:txBody>
      </p:sp>
      <p:sp>
        <p:nvSpPr>
          <p:cNvPr id="7" name="object 7"/>
          <p:cNvSpPr/>
          <p:nvPr/>
        </p:nvSpPr>
        <p:spPr>
          <a:xfrm>
            <a:off x="8795904" y="6308495"/>
            <a:ext cx="67310" cy="10160"/>
          </a:xfrm>
          <a:custGeom>
            <a:avLst/>
            <a:gdLst/>
            <a:ahLst/>
            <a:cxnLst/>
            <a:rect l="l" t="t" r="r" b="b"/>
            <a:pathLst>
              <a:path w="67309" h="10160">
                <a:moveTo>
                  <a:pt x="0" y="10160"/>
                </a:moveTo>
                <a:lnTo>
                  <a:pt x="67195" y="10160"/>
                </a:lnTo>
                <a:lnTo>
                  <a:pt x="67195" y="0"/>
                </a:lnTo>
                <a:lnTo>
                  <a:pt x="0" y="0"/>
                </a:lnTo>
                <a:lnTo>
                  <a:pt x="0" y="10160"/>
                </a:lnTo>
                <a:close/>
              </a:path>
            </a:pathLst>
          </a:custGeom>
          <a:solidFill>
            <a:srgbClr val="000000"/>
          </a:solidFill>
        </p:spPr>
        <p:txBody>
          <a:bodyPr wrap="square" lIns="0" tIns="0" rIns="0" bIns="0" rtlCol="0"/>
          <a:lstStyle/>
          <a:p>
            <a:endParaRPr/>
          </a:p>
        </p:txBody>
      </p:sp>
      <p:sp>
        <p:nvSpPr>
          <p:cNvPr id="8" name="object 8"/>
          <p:cNvSpPr/>
          <p:nvPr/>
        </p:nvSpPr>
        <p:spPr>
          <a:xfrm>
            <a:off x="8807626" y="3572915"/>
            <a:ext cx="0" cy="2735580"/>
          </a:xfrm>
          <a:custGeom>
            <a:avLst/>
            <a:gdLst/>
            <a:ahLst/>
            <a:cxnLst/>
            <a:rect l="l" t="t" r="r" b="b"/>
            <a:pathLst>
              <a:path h="2735579">
                <a:moveTo>
                  <a:pt x="0" y="0"/>
                </a:moveTo>
                <a:lnTo>
                  <a:pt x="0" y="2735580"/>
                </a:lnTo>
              </a:path>
            </a:pathLst>
          </a:custGeom>
          <a:ln w="23444">
            <a:solidFill>
              <a:srgbClr val="000000"/>
            </a:solidFill>
          </a:ln>
        </p:spPr>
        <p:txBody>
          <a:bodyPr wrap="square" lIns="0" tIns="0" rIns="0" bIns="0" rtlCol="0"/>
          <a:lstStyle/>
          <a:p>
            <a:endParaRPr/>
          </a:p>
        </p:txBody>
      </p:sp>
      <p:sp>
        <p:nvSpPr>
          <p:cNvPr id="9" name="object 9"/>
          <p:cNvSpPr/>
          <p:nvPr/>
        </p:nvSpPr>
        <p:spPr>
          <a:xfrm>
            <a:off x="8795904" y="3562755"/>
            <a:ext cx="67310" cy="10160"/>
          </a:xfrm>
          <a:custGeom>
            <a:avLst/>
            <a:gdLst/>
            <a:ahLst/>
            <a:cxnLst/>
            <a:rect l="l" t="t" r="r" b="b"/>
            <a:pathLst>
              <a:path w="67309" h="10160">
                <a:moveTo>
                  <a:pt x="0" y="10160"/>
                </a:moveTo>
                <a:lnTo>
                  <a:pt x="67195" y="10160"/>
                </a:lnTo>
                <a:lnTo>
                  <a:pt x="67195" y="0"/>
                </a:lnTo>
                <a:lnTo>
                  <a:pt x="0" y="0"/>
                </a:lnTo>
                <a:lnTo>
                  <a:pt x="0" y="10160"/>
                </a:lnTo>
                <a:close/>
              </a:path>
            </a:pathLst>
          </a:custGeom>
          <a:solidFill>
            <a:srgbClr val="000000"/>
          </a:solidFill>
        </p:spPr>
        <p:txBody>
          <a:bodyPr wrap="square" lIns="0" tIns="0" rIns="0" bIns="0" rtlCol="0"/>
          <a:lstStyle/>
          <a:p>
            <a:endParaRPr/>
          </a:p>
        </p:txBody>
      </p:sp>
      <p:sp>
        <p:nvSpPr>
          <p:cNvPr id="10" name="object 10"/>
          <p:cNvSpPr txBox="1"/>
          <p:nvPr/>
        </p:nvSpPr>
        <p:spPr>
          <a:xfrm>
            <a:off x="8852608" y="3431824"/>
            <a:ext cx="581025" cy="2980055"/>
          </a:xfrm>
          <a:prstGeom prst="rect">
            <a:avLst/>
          </a:prstGeom>
        </p:spPr>
        <p:txBody>
          <a:bodyPr vert="horz" wrap="square" lIns="0" tIns="12700" rIns="0" bIns="0" rtlCol="0">
            <a:spAutoFit/>
          </a:bodyPr>
          <a:lstStyle/>
          <a:p>
            <a:pPr marL="2540" algn="ctr">
              <a:lnSpc>
                <a:spcPts val="2135"/>
              </a:lnSpc>
              <a:spcBef>
                <a:spcPts val="100"/>
              </a:spcBef>
            </a:pPr>
            <a:r>
              <a:rPr sz="1800" dirty="0">
                <a:latin typeface="Cambria Math"/>
                <a:cs typeface="Cambria Math"/>
              </a:rPr>
              <a:t>⋮</a:t>
            </a:r>
          </a:p>
          <a:p>
            <a:pPr marL="2540" algn="ctr">
              <a:lnSpc>
                <a:spcPts val="2110"/>
              </a:lnSpc>
            </a:pPr>
            <a:r>
              <a:rPr sz="1800" dirty="0">
                <a:latin typeface="Cambria Math"/>
                <a:cs typeface="Cambria Math"/>
              </a:rPr>
              <a:t>0.00</a:t>
            </a:r>
          </a:p>
          <a:p>
            <a:pPr marL="2540" algn="ctr">
              <a:lnSpc>
                <a:spcPts val="2110"/>
              </a:lnSpc>
            </a:pPr>
            <a:r>
              <a:rPr sz="1800" dirty="0">
                <a:latin typeface="Cambria Math"/>
                <a:cs typeface="Cambria Math"/>
              </a:rPr>
              <a:t>0.00</a:t>
            </a:r>
          </a:p>
          <a:p>
            <a:pPr marL="1270" algn="ctr">
              <a:lnSpc>
                <a:spcPts val="2110"/>
              </a:lnSpc>
            </a:pPr>
            <a:r>
              <a:rPr sz="1800" dirty="0">
                <a:latin typeface="Cambria Math"/>
                <a:cs typeface="Cambria Math"/>
              </a:rPr>
              <a:t>⋮</a:t>
            </a:r>
          </a:p>
          <a:p>
            <a:pPr marL="1905" algn="ctr">
              <a:lnSpc>
                <a:spcPts val="2105"/>
              </a:lnSpc>
            </a:pPr>
            <a:r>
              <a:rPr sz="1800" dirty="0">
                <a:latin typeface="Cambria Math"/>
                <a:cs typeface="Cambria Math"/>
              </a:rPr>
              <a:t>0.00</a:t>
            </a:r>
          </a:p>
          <a:p>
            <a:pPr algn="ctr">
              <a:lnSpc>
                <a:spcPts val="2105"/>
              </a:lnSpc>
            </a:pPr>
            <a:r>
              <a:rPr sz="1800" spc="10" dirty="0">
                <a:latin typeface="Cambria Math"/>
                <a:cs typeface="Cambria Math"/>
              </a:rPr>
              <a:t>0</a:t>
            </a:r>
            <a:r>
              <a:rPr sz="1800" dirty="0">
                <a:latin typeface="Cambria Math"/>
                <a:cs typeface="Cambria Math"/>
              </a:rPr>
              <a:t>.</a:t>
            </a:r>
            <a:r>
              <a:rPr sz="1800" spc="-5" dirty="0">
                <a:latin typeface="Cambria Math"/>
                <a:cs typeface="Cambria Math"/>
              </a:rPr>
              <a:t>01</a:t>
            </a:r>
            <a:r>
              <a:rPr sz="1800" dirty="0">
                <a:latin typeface="Cambria Math"/>
                <a:cs typeface="Cambria Math"/>
              </a:rPr>
              <a:t>2</a:t>
            </a:r>
          </a:p>
          <a:p>
            <a:pPr marL="1270" algn="ctr">
              <a:lnSpc>
                <a:spcPts val="2110"/>
              </a:lnSpc>
            </a:pPr>
            <a:r>
              <a:rPr sz="1800" dirty="0">
                <a:latin typeface="Cambria Math"/>
                <a:cs typeface="Cambria Math"/>
              </a:rPr>
              <a:t>0.00</a:t>
            </a:r>
          </a:p>
          <a:p>
            <a:pPr marL="635" algn="ctr">
              <a:lnSpc>
                <a:spcPts val="2110"/>
              </a:lnSpc>
            </a:pPr>
            <a:r>
              <a:rPr sz="1800" dirty="0">
                <a:latin typeface="Cambria Math"/>
                <a:cs typeface="Cambria Math"/>
              </a:rPr>
              <a:t>⋮</a:t>
            </a:r>
          </a:p>
          <a:p>
            <a:pPr marL="1270" algn="ctr">
              <a:lnSpc>
                <a:spcPts val="2110"/>
              </a:lnSpc>
            </a:pPr>
            <a:r>
              <a:rPr sz="1800" dirty="0">
                <a:latin typeface="Cambria Math"/>
                <a:cs typeface="Cambria Math"/>
              </a:rPr>
              <a:t>0.00</a:t>
            </a:r>
          </a:p>
          <a:p>
            <a:pPr algn="ctr">
              <a:lnSpc>
                <a:spcPts val="2110"/>
              </a:lnSpc>
            </a:pPr>
            <a:r>
              <a:rPr sz="1800" spc="10" dirty="0">
                <a:latin typeface="Cambria Math"/>
                <a:cs typeface="Cambria Math"/>
              </a:rPr>
              <a:t>0</a:t>
            </a:r>
            <a:r>
              <a:rPr sz="1800" dirty="0">
                <a:latin typeface="Cambria Math"/>
                <a:cs typeface="Cambria Math"/>
              </a:rPr>
              <a:t>.</a:t>
            </a:r>
            <a:r>
              <a:rPr sz="1800" spc="-5" dirty="0">
                <a:latin typeface="Cambria Math"/>
                <a:cs typeface="Cambria Math"/>
              </a:rPr>
              <a:t>02</a:t>
            </a:r>
            <a:r>
              <a:rPr sz="1800" dirty="0">
                <a:latin typeface="Cambria Math"/>
                <a:cs typeface="Cambria Math"/>
              </a:rPr>
              <a:t>8</a:t>
            </a:r>
          </a:p>
          <a:p>
            <a:pPr algn="ctr">
              <a:lnSpc>
                <a:spcPts val="2135"/>
              </a:lnSpc>
            </a:pPr>
            <a:r>
              <a:rPr sz="1800" dirty="0">
                <a:latin typeface="Cambria Math"/>
                <a:cs typeface="Cambria Math"/>
              </a:rPr>
              <a:t>⋮</a:t>
            </a:r>
          </a:p>
        </p:txBody>
      </p:sp>
      <p:sp>
        <p:nvSpPr>
          <p:cNvPr id="11" name="object 11"/>
          <p:cNvSpPr txBox="1"/>
          <p:nvPr/>
        </p:nvSpPr>
        <p:spPr>
          <a:xfrm>
            <a:off x="10779248" y="4760676"/>
            <a:ext cx="911455" cy="299720"/>
          </a:xfrm>
          <a:prstGeom prst="rect">
            <a:avLst/>
          </a:prstGeom>
        </p:spPr>
        <p:txBody>
          <a:bodyPr vert="horz" wrap="square" lIns="0" tIns="12700" rIns="0" bIns="0" rtlCol="0">
            <a:spAutoFit/>
          </a:bodyPr>
          <a:lstStyle/>
          <a:p>
            <a:pPr marL="12700">
              <a:lnSpc>
                <a:spcPct val="100000"/>
              </a:lnSpc>
              <a:spcBef>
                <a:spcPts val="100"/>
              </a:spcBef>
            </a:pPr>
            <a:r>
              <a:rPr sz="1800" spc="-630" dirty="0">
                <a:latin typeface="Cambria Math"/>
                <a:cs typeface="Cambria Math"/>
              </a:rPr>
              <a:t>𝐾</a:t>
            </a:r>
            <a:r>
              <a:rPr sz="1800" spc="-45" dirty="0">
                <a:latin typeface="Cambria Math"/>
                <a:cs typeface="Cambria Math"/>
              </a:rPr>
              <a:t> </a:t>
            </a:r>
            <a:r>
              <a:rPr lang="en-US" sz="1800" spc="-45" dirty="0">
                <a:latin typeface="Cambria Math"/>
                <a:cs typeface="Cambria Math"/>
              </a:rPr>
              <a:t>  </a:t>
            </a:r>
            <a:r>
              <a:rPr sz="1800" dirty="0" err="1">
                <a:latin typeface="Arial"/>
                <a:cs typeface="Arial"/>
              </a:rPr>
              <a:t>chiều</a:t>
            </a:r>
            <a:endParaRPr sz="1800" dirty="0">
              <a:latin typeface="Arial"/>
              <a:cs typeface="Arial"/>
            </a:endParaRPr>
          </a:p>
        </p:txBody>
      </p:sp>
      <p:sp>
        <p:nvSpPr>
          <p:cNvPr id="12" name="object 12"/>
          <p:cNvSpPr/>
          <p:nvPr/>
        </p:nvSpPr>
        <p:spPr>
          <a:xfrm>
            <a:off x="10027157" y="3495294"/>
            <a:ext cx="619125" cy="2870200"/>
          </a:xfrm>
          <a:custGeom>
            <a:avLst/>
            <a:gdLst/>
            <a:ahLst/>
            <a:cxnLst/>
            <a:rect l="l" t="t" r="r" b="b"/>
            <a:pathLst>
              <a:path w="619125" h="2870200">
                <a:moveTo>
                  <a:pt x="0" y="0"/>
                </a:moveTo>
                <a:lnTo>
                  <a:pt x="70937" y="1361"/>
                </a:lnTo>
                <a:lnTo>
                  <a:pt x="136055" y="5241"/>
                </a:lnTo>
                <a:lnTo>
                  <a:pt x="193498" y="11328"/>
                </a:lnTo>
                <a:lnTo>
                  <a:pt x="241407" y="19314"/>
                </a:lnTo>
                <a:lnTo>
                  <a:pt x="301201" y="39740"/>
                </a:lnTo>
                <a:lnTo>
                  <a:pt x="309372" y="51561"/>
                </a:lnTo>
                <a:lnTo>
                  <a:pt x="309372" y="1383284"/>
                </a:lnTo>
                <a:lnTo>
                  <a:pt x="317542" y="1395105"/>
                </a:lnTo>
                <a:lnTo>
                  <a:pt x="377336" y="1415531"/>
                </a:lnTo>
                <a:lnTo>
                  <a:pt x="425245" y="1423517"/>
                </a:lnTo>
                <a:lnTo>
                  <a:pt x="482688" y="1429604"/>
                </a:lnTo>
                <a:lnTo>
                  <a:pt x="547806" y="1433484"/>
                </a:lnTo>
                <a:lnTo>
                  <a:pt x="618744" y="1434846"/>
                </a:lnTo>
                <a:lnTo>
                  <a:pt x="547806" y="1436207"/>
                </a:lnTo>
                <a:lnTo>
                  <a:pt x="482688" y="1440087"/>
                </a:lnTo>
                <a:lnTo>
                  <a:pt x="425245" y="1446174"/>
                </a:lnTo>
                <a:lnTo>
                  <a:pt x="377336" y="1454160"/>
                </a:lnTo>
                <a:lnTo>
                  <a:pt x="317542" y="1474586"/>
                </a:lnTo>
                <a:lnTo>
                  <a:pt x="309372" y="1486408"/>
                </a:lnTo>
                <a:lnTo>
                  <a:pt x="309372" y="2818130"/>
                </a:lnTo>
                <a:lnTo>
                  <a:pt x="301201" y="2829951"/>
                </a:lnTo>
                <a:lnTo>
                  <a:pt x="241407" y="2850377"/>
                </a:lnTo>
                <a:lnTo>
                  <a:pt x="193498" y="2858363"/>
                </a:lnTo>
                <a:lnTo>
                  <a:pt x="136055" y="2864450"/>
                </a:lnTo>
                <a:lnTo>
                  <a:pt x="70937" y="2868330"/>
                </a:lnTo>
                <a:lnTo>
                  <a:pt x="0" y="2869692"/>
                </a:lnTo>
              </a:path>
            </a:pathLst>
          </a:custGeom>
          <a:ln w="19050">
            <a:solidFill>
              <a:srgbClr val="145F82"/>
            </a:solidFill>
          </a:ln>
        </p:spPr>
        <p:txBody>
          <a:bodyPr wrap="square" lIns="0" tIns="0" rIns="0" bIns="0" rtlCol="0"/>
          <a:lstStyle/>
          <a:p>
            <a:endParaRPr/>
          </a:p>
        </p:txBody>
      </p:sp>
      <p:sp>
        <p:nvSpPr>
          <p:cNvPr id="14" name="object 14"/>
          <p:cNvSpPr/>
          <p:nvPr/>
        </p:nvSpPr>
        <p:spPr>
          <a:xfrm>
            <a:off x="5906261" y="4923282"/>
            <a:ext cx="2268220" cy="0"/>
          </a:xfrm>
          <a:custGeom>
            <a:avLst/>
            <a:gdLst/>
            <a:ahLst/>
            <a:cxnLst/>
            <a:rect l="l" t="t" r="r" b="b"/>
            <a:pathLst>
              <a:path w="2268220">
                <a:moveTo>
                  <a:pt x="0" y="0"/>
                </a:moveTo>
                <a:lnTo>
                  <a:pt x="2267889" y="0"/>
                </a:lnTo>
              </a:path>
            </a:pathLst>
          </a:custGeom>
          <a:ln w="28575">
            <a:solidFill>
              <a:srgbClr val="145F82"/>
            </a:solidFill>
          </a:ln>
        </p:spPr>
        <p:txBody>
          <a:bodyPr wrap="square" lIns="0" tIns="0" rIns="0" bIns="0" rtlCol="0"/>
          <a:lstStyle/>
          <a:p>
            <a:endParaRPr/>
          </a:p>
        </p:txBody>
      </p:sp>
      <p:sp>
        <p:nvSpPr>
          <p:cNvPr id="15" name="object 15"/>
          <p:cNvSpPr/>
          <p:nvPr/>
        </p:nvSpPr>
        <p:spPr>
          <a:xfrm>
            <a:off x="8159860" y="4880416"/>
            <a:ext cx="85725" cy="85725"/>
          </a:xfrm>
          <a:custGeom>
            <a:avLst/>
            <a:gdLst/>
            <a:ahLst/>
            <a:cxnLst/>
            <a:rect l="l" t="t" r="r" b="b"/>
            <a:pathLst>
              <a:path w="85725" h="85725">
                <a:moveTo>
                  <a:pt x="0" y="0"/>
                </a:moveTo>
                <a:lnTo>
                  <a:pt x="0" y="85724"/>
                </a:lnTo>
                <a:lnTo>
                  <a:pt x="85725" y="42862"/>
                </a:lnTo>
                <a:lnTo>
                  <a:pt x="0" y="0"/>
                </a:lnTo>
                <a:close/>
              </a:path>
            </a:pathLst>
          </a:custGeom>
          <a:solidFill>
            <a:srgbClr val="145F82"/>
          </a:solidFill>
        </p:spPr>
        <p:txBody>
          <a:bodyPr wrap="square" lIns="0" tIns="0" rIns="0" bIns="0" rtlCol="0"/>
          <a:lstStyle/>
          <a:p>
            <a:endParaRPr/>
          </a:p>
        </p:txBody>
      </p:sp>
      <p:sp>
        <p:nvSpPr>
          <p:cNvPr id="16" name="object 16"/>
          <p:cNvSpPr txBox="1"/>
          <p:nvPr/>
        </p:nvSpPr>
        <p:spPr>
          <a:xfrm>
            <a:off x="6725625" y="4523403"/>
            <a:ext cx="692150" cy="299720"/>
          </a:xfrm>
          <a:prstGeom prst="rect">
            <a:avLst/>
          </a:prstGeom>
        </p:spPr>
        <p:txBody>
          <a:bodyPr vert="horz" wrap="square" lIns="0" tIns="12700" rIns="0" bIns="0" rtlCol="0">
            <a:spAutoFit/>
          </a:bodyPr>
          <a:lstStyle/>
          <a:p>
            <a:pPr marL="12700">
              <a:lnSpc>
                <a:spcPct val="100000"/>
              </a:lnSpc>
              <a:spcBef>
                <a:spcPts val="100"/>
              </a:spcBef>
            </a:pPr>
            <a:r>
              <a:rPr sz="1800" b="1" spc="-190" dirty="0">
                <a:latin typeface="Arial"/>
                <a:cs typeface="Arial"/>
              </a:rPr>
              <a:t>T</a:t>
            </a:r>
            <a:r>
              <a:rPr sz="1800" b="1" spc="-145" dirty="0">
                <a:latin typeface="Arial"/>
                <a:cs typeface="Arial"/>
              </a:rPr>
              <a:t>F</a:t>
            </a:r>
            <a:r>
              <a:rPr sz="1800" b="1" spc="5" dirty="0">
                <a:latin typeface="Arial"/>
                <a:cs typeface="Arial"/>
              </a:rPr>
              <a:t>-</a:t>
            </a:r>
            <a:r>
              <a:rPr sz="1800" b="1" spc="-5" dirty="0">
                <a:latin typeface="Arial"/>
                <a:cs typeface="Arial"/>
              </a:rPr>
              <a:t>ID</a:t>
            </a:r>
            <a:r>
              <a:rPr sz="1800" b="1" spc="-135" dirty="0">
                <a:latin typeface="Arial"/>
                <a:cs typeface="Arial"/>
              </a:rPr>
              <a:t>F</a:t>
            </a:r>
            <a:endParaRPr sz="1800">
              <a:latin typeface="Arial"/>
              <a:cs typeface="Arial"/>
            </a:endParaRPr>
          </a:p>
        </p:txBody>
      </p:sp>
      <p:pic>
        <p:nvPicPr>
          <p:cNvPr id="17" name="Hình ảnh 16">
            <a:extLst>
              <a:ext uri="{FF2B5EF4-FFF2-40B4-BE49-F238E27FC236}">
                <a16:creationId xmlns:a16="http://schemas.microsoft.com/office/drawing/2014/main" id="{C2496C34-FB82-7021-5D69-0A60362DDE75}"/>
              </a:ext>
            </a:extLst>
          </p:cNvPr>
          <p:cNvPicPr>
            <a:picLocks noChangeAspect="1"/>
          </p:cNvPicPr>
          <p:nvPr/>
        </p:nvPicPr>
        <p:blipFill>
          <a:blip r:embed="rId2"/>
          <a:stretch>
            <a:fillRect/>
          </a:stretch>
        </p:blipFill>
        <p:spPr>
          <a:xfrm>
            <a:off x="475489" y="4324666"/>
            <a:ext cx="5449060" cy="11717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4837"/>
            <a:ext cx="5264785" cy="696595"/>
          </a:xfrm>
          <a:prstGeom prst="rect">
            <a:avLst/>
          </a:prstGeom>
        </p:spPr>
        <p:txBody>
          <a:bodyPr vert="horz" wrap="square" lIns="0" tIns="13335" rIns="0" bIns="0" rtlCol="0">
            <a:spAutoFit/>
          </a:bodyPr>
          <a:lstStyle/>
          <a:p>
            <a:pPr marL="12700">
              <a:lnSpc>
                <a:spcPct val="100000"/>
              </a:lnSpc>
              <a:spcBef>
                <a:spcPts val="105"/>
              </a:spcBef>
            </a:pPr>
            <a:r>
              <a:rPr sz="4400" spc="55" dirty="0"/>
              <a:t>2. </a:t>
            </a:r>
            <a:r>
              <a:rPr sz="4400" spc="20" dirty="0"/>
              <a:t>Trích xuất </a:t>
            </a:r>
            <a:r>
              <a:rPr sz="4400" spc="110" dirty="0"/>
              <a:t>đặc</a:t>
            </a:r>
            <a:r>
              <a:rPr sz="4400" spc="-710" dirty="0"/>
              <a:t> </a:t>
            </a:r>
            <a:r>
              <a:rPr sz="4400" spc="-55" dirty="0"/>
              <a:t>trưng</a:t>
            </a:r>
            <a:endParaRPr sz="4400"/>
          </a:p>
        </p:txBody>
      </p:sp>
      <p:sp>
        <p:nvSpPr>
          <p:cNvPr id="3" name="object 3"/>
          <p:cNvSpPr txBox="1"/>
          <p:nvPr/>
        </p:nvSpPr>
        <p:spPr>
          <a:xfrm>
            <a:off x="916939" y="1379378"/>
            <a:ext cx="9370061" cy="1614805"/>
          </a:xfrm>
          <a:prstGeom prst="rect">
            <a:avLst/>
          </a:prstGeom>
        </p:spPr>
        <p:txBody>
          <a:bodyPr vert="horz" wrap="square" lIns="0" tIns="13335" rIns="0" bIns="0" rtlCol="0">
            <a:spAutoFit/>
          </a:bodyPr>
          <a:lstStyle/>
          <a:p>
            <a:pPr marL="12700">
              <a:lnSpc>
                <a:spcPct val="100000"/>
              </a:lnSpc>
              <a:spcBef>
                <a:spcPts val="105"/>
              </a:spcBef>
            </a:pPr>
            <a:r>
              <a:rPr sz="3200" b="1" spc="40" dirty="0">
                <a:solidFill>
                  <a:srgbClr val="205F9A"/>
                </a:solidFill>
                <a:latin typeface="Calibri"/>
                <a:cs typeface="Calibri"/>
              </a:rPr>
              <a:t>2.</a:t>
            </a:r>
            <a:r>
              <a:rPr lang="en-US" sz="3200" b="1" spc="40" dirty="0">
                <a:solidFill>
                  <a:srgbClr val="205F9A"/>
                </a:solidFill>
                <a:latin typeface="Calibri"/>
                <a:cs typeface="Calibri"/>
              </a:rPr>
              <a:t>2</a:t>
            </a:r>
            <a:r>
              <a:rPr sz="3200" b="1" spc="40" dirty="0">
                <a:solidFill>
                  <a:srgbClr val="205F9A"/>
                </a:solidFill>
                <a:latin typeface="Calibri"/>
                <a:cs typeface="Calibri"/>
              </a:rPr>
              <a:t>.</a:t>
            </a:r>
            <a:r>
              <a:rPr sz="3200" b="1" spc="-125" dirty="0">
                <a:solidFill>
                  <a:srgbClr val="205F9A"/>
                </a:solidFill>
                <a:latin typeface="Calibri"/>
                <a:cs typeface="Calibri"/>
              </a:rPr>
              <a:t> </a:t>
            </a:r>
            <a:r>
              <a:rPr sz="3200" b="1" spc="114" dirty="0">
                <a:solidFill>
                  <a:srgbClr val="205F9A"/>
                </a:solidFill>
                <a:latin typeface="Calibri"/>
                <a:cs typeface="Calibri"/>
              </a:rPr>
              <a:t>TF-IDF</a:t>
            </a:r>
            <a:endParaRPr sz="3200" dirty="0">
              <a:latin typeface="Calibri"/>
              <a:cs typeface="Calibri"/>
            </a:endParaRPr>
          </a:p>
          <a:p>
            <a:pPr marL="12700" marR="5080">
              <a:lnSpc>
                <a:spcPct val="150000"/>
              </a:lnSpc>
              <a:spcBef>
                <a:spcPts val="2185"/>
              </a:spcBef>
            </a:pPr>
            <a:r>
              <a:rPr sz="1800" spc="-60" dirty="0">
                <a:latin typeface="Arial"/>
                <a:cs typeface="Arial"/>
              </a:rPr>
              <a:t>Để</a:t>
            </a:r>
            <a:r>
              <a:rPr sz="1800" spc="-145" dirty="0">
                <a:latin typeface="Arial"/>
                <a:cs typeface="Arial"/>
              </a:rPr>
              <a:t> </a:t>
            </a:r>
            <a:r>
              <a:rPr sz="1800" spc="-30" dirty="0">
                <a:latin typeface="Arial"/>
                <a:cs typeface="Arial"/>
              </a:rPr>
              <a:t>giảm</a:t>
            </a:r>
            <a:r>
              <a:rPr sz="1800" spc="-135" dirty="0">
                <a:latin typeface="Arial"/>
                <a:cs typeface="Arial"/>
              </a:rPr>
              <a:t> </a:t>
            </a:r>
            <a:r>
              <a:rPr sz="1800" spc="-30" dirty="0">
                <a:latin typeface="Arial"/>
                <a:cs typeface="Arial"/>
              </a:rPr>
              <a:t>bớt</a:t>
            </a:r>
            <a:r>
              <a:rPr sz="1800" spc="-125" dirty="0">
                <a:latin typeface="Arial"/>
                <a:cs typeface="Arial"/>
              </a:rPr>
              <a:t> </a:t>
            </a:r>
            <a:r>
              <a:rPr sz="1800" spc="-20" dirty="0">
                <a:latin typeface="Arial"/>
                <a:cs typeface="Arial"/>
              </a:rPr>
              <a:t>số</a:t>
            </a:r>
            <a:r>
              <a:rPr sz="1800" spc="-135" dirty="0">
                <a:latin typeface="Arial"/>
                <a:cs typeface="Arial"/>
              </a:rPr>
              <a:t> </a:t>
            </a:r>
            <a:r>
              <a:rPr sz="1800" dirty="0">
                <a:latin typeface="Arial"/>
                <a:cs typeface="Arial"/>
              </a:rPr>
              <a:t>chiều</a:t>
            </a:r>
            <a:r>
              <a:rPr sz="1800" spc="-165" dirty="0">
                <a:latin typeface="Arial"/>
                <a:cs typeface="Arial"/>
              </a:rPr>
              <a:t> </a:t>
            </a:r>
            <a:r>
              <a:rPr sz="1800" dirty="0">
                <a:latin typeface="Arial"/>
                <a:cs typeface="Arial"/>
              </a:rPr>
              <a:t>của</a:t>
            </a:r>
            <a:r>
              <a:rPr sz="1800" spc="-135" dirty="0">
                <a:latin typeface="Arial"/>
                <a:cs typeface="Arial"/>
              </a:rPr>
              <a:t> </a:t>
            </a:r>
            <a:r>
              <a:rPr sz="1800" spc="-10" dirty="0">
                <a:latin typeface="Arial"/>
                <a:cs typeface="Arial"/>
              </a:rPr>
              <a:t>vector</a:t>
            </a:r>
            <a:r>
              <a:rPr sz="1800" spc="-135" dirty="0">
                <a:latin typeface="Arial"/>
                <a:cs typeface="Arial"/>
              </a:rPr>
              <a:t> </a:t>
            </a:r>
            <a:r>
              <a:rPr sz="1800" dirty="0">
                <a:latin typeface="Arial"/>
                <a:cs typeface="Arial"/>
              </a:rPr>
              <a:t>đặc</a:t>
            </a:r>
            <a:r>
              <a:rPr sz="1800" spc="-135" dirty="0">
                <a:latin typeface="Arial"/>
                <a:cs typeface="Arial"/>
              </a:rPr>
              <a:t> </a:t>
            </a:r>
            <a:r>
              <a:rPr sz="1800" spc="-35" dirty="0">
                <a:latin typeface="Arial"/>
                <a:cs typeface="Arial"/>
              </a:rPr>
              <a:t>trưng,</a:t>
            </a:r>
            <a:r>
              <a:rPr sz="1800" spc="-135" dirty="0">
                <a:latin typeface="Arial"/>
                <a:cs typeface="Arial"/>
              </a:rPr>
              <a:t> </a:t>
            </a:r>
            <a:r>
              <a:rPr sz="1800" spc="5" dirty="0">
                <a:latin typeface="Arial"/>
                <a:cs typeface="Arial"/>
              </a:rPr>
              <a:t>ta</a:t>
            </a:r>
            <a:r>
              <a:rPr sz="1800" spc="-114" dirty="0">
                <a:latin typeface="Arial"/>
                <a:cs typeface="Arial"/>
              </a:rPr>
              <a:t> </a:t>
            </a:r>
            <a:r>
              <a:rPr sz="1800" spc="10" dirty="0">
                <a:latin typeface="Arial"/>
                <a:cs typeface="Arial"/>
              </a:rPr>
              <a:t>loại</a:t>
            </a:r>
            <a:r>
              <a:rPr sz="1800" spc="-150" dirty="0">
                <a:latin typeface="Arial"/>
                <a:cs typeface="Arial"/>
              </a:rPr>
              <a:t> </a:t>
            </a:r>
            <a:r>
              <a:rPr sz="1800" spc="-30" dirty="0">
                <a:latin typeface="Arial"/>
                <a:cs typeface="Arial"/>
              </a:rPr>
              <a:t>bớt</a:t>
            </a:r>
            <a:r>
              <a:rPr sz="1800" spc="-125" dirty="0">
                <a:latin typeface="Arial"/>
                <a:cs typeface="Arial"/>
              </a:rPr>
              <a:t> </a:t>
            </a:r>
            <a:r>
              <a:rPr sz="1800" spc="-60" dirty="0">
                <a:latin typeface="Arial"/>
                <a:cs typeface="Arial"/>
              </a:rPr>
              <a:t>những</a:t>
            </a:r>
            <a:r>
              <a:rPr sz="1800" spc="-170" dirty="0">
                <a:latin typeface="Arial"/>
                <a:cs typeface="Arial"/>
              </a:rPr>
              <a:t> </a:t>
            </a:r>
            <a:r>
              <a:rPr sz="1800" spc="-30" dirty="0">
                <a:latin typeface="Arial"/>
                <a:cs typeface="Arial"/>
              </a:rPr>
              <a:t>từ</a:t>
            </a:r>
            <a:r>
              <a:rPr sz="1800" spc="-130" dirty="0">
                <a:latin typeface="Arial"/>
                <a:cs typeface="Arial"/>
              </a:rPr>
              <a:t> </a:t>
            </a:r>
            <a:r>
              <a:rPr sz="1800" spc="-25" dirty="0">
                <a:latin typeface="Arial"/>
                <a:cs typeface="Arial"/>
              </a:rPr>
              <a:t>khóa</a:t>
            </a:r>
            <a:r>
              <a:rPr sz="1800" spc="-145" dirty="0">
                <a:latin typeface="Arial"/>
                <a:cs typeface="Arial"/>
              </a:rPr>
              <a:t> </a:t>
            </a:r>
            <a:r>
              <a:rPr sz="1800" spc="20" dirty="0">
                <a:latin typeface="Arial"/>
                <a:cs typeface="Arial"/>
              </a:rPr>
              <a:t>chỉ</a:t>
            </a:r>
            <a:r>
              <a:rPr sz="1800" spc="-150" dirty="0">
                <a:latin typeface="Arial"/>
                <a:cs typeface="Arial"/>
              </a:rPr>
              <a:t> </a:t>
            </a:r>
            <a:r>
              <a:rPr sz="1800" spc="-25" dirty="0">
                <a:latin typeface="Arial"/>
                <a:cs typeface="Arial"/>
              </a:rPr>
              <a:t>xuất</a:t>
            </a:r>
            <a:r>
              <a:rPr sz="1800" spc="-135" dirty="0">
                <a:latin typeface="Arial"/>
                <a:cs typeface="Arial"/>
              </a:rPr>
              <a:t> </a:t>
            </a:r>
            <a:r>
              <a:rPr sz="1800" spc="-15" dirty="0">
                <a:latin typeface="Arial"/>
                <a:cs typeface="Arial"/>
              </a:rPr>
              <a:t>hiện</a:t>
            </a:r>
            <a:r>
              <a:rPr sz="1800" spc="-145" dirty="0">
                <a:latin typeface="Arial"/>
                <a:cs typeface="Arial"/>
              </a:rPr>
              <a:t> </a:t>
            </a:r>
            <a:r>
              <a:rPr sz="1800" spc="-175" dirty="0">
                <a:latin typeface="Arial"/>
                <a:cs typeface="Arial"/>
              </a:rPr>
              <a:t>ở</a:t>
            </a:r>
            <a:r>
              <a:rPr sz="1800" spc="-140" dirty="0">
                <a:latin typeface="Arial"/>
                <a:cs typeface="Arial"/>
              </a:rPr>
              <a:t> </a:t>
            </a:r>
            <a:r>
              <a:rPr sz="1800" spc="-20" dirty="0">
                <a:latin typeface="Arial"/>
                <a:cs typeface="Arial"/>
              </a:rPr>
              <a:t>số</a:t>
            </a:r>
            <a:r>
              <a:rPr sz="1800" spc="-135" dirty="0">
                <a:latin typeface="Arial"/>
                <a:cs typeface="Arial"/>
              </a:rPr>
              <a:t> </a:t>
            </a:r>
            <a:r>
              <a:rPr sz="1800" spc="5" dirty="0">
                <a:latin typeface="Arial"/>
                <a:cs typeface="Arial"/>
              </a:rPr>
              <a:t>ít</a:t>
            </a:r>
            <a:r>
              <a:rPr sz="1800" spc="-150" dirty="0">
                <a:latin typeface="Arial"/>
                <a:cs typeface="Arial"/>
              </a:rPr>
              <a:t> </a:t>
            </a:r>
            <a:r>
              <a:rPr sz="1800" spc="15" dirty="0">
                <a:latin typeface="Arial"/>
                <a:cs typeface="Arial"/>
              </a:rPr>
              <a:t>tài</a:t>
            </a:r>
            <a:r>
              <a:rPr sz="1800" spc="-110" dirty="0">
                <a:latin typeface="Arial"/>
                <a:cs typeface="Arial"/>
              </a:rPr>
              <a:t> </a:t>
            </a:r>
            <a:r>
              <a:rPr sz="1800" spc="10" dirty="0" err="1">
                <a:latin typeface="Arial"/>
                <a:cs typeface="Arial"/>
              </a:rPr>
              <a:t>liệu</a:t>
            </a:r>
            <a:r>
              <a:rPr sz="1800" spc="10" dirty="0">
                <a:latin typeface="Arial"/>
                <a:cs typeface="Arial"/>
              </a:rPr>
              <a:t>  (</a:t>
            </a:r>
            <a:r>
              <a:rPr lang="en-US" sz="1800" spc="10" dirty="0">
                <a:latin typeface="Arial"/>
                <a:cs typeface="Arial"/>
              </a:rPr>
              <a:t>maximum document </a:t>
            </a:r>
            <a:r>
              <a:rPr lang="en-US" spc="10" dirty="0">
                <a:latin typeface="Arial"/>
                <a:cs typeface="Arial"/>
              </a:rPr>
              <a:t>frequency </a:t>
            </a:r>
            <a:r>
              <a:rPr lang="en-US" spc="10" dirty="0" err="1">
                <a:latin typeface="Arial"/>
                <a:cs typeface="Arial"/>
              </a:rPr>
              <a:t>và</a:t>
            </a:r>
            <a:r>
              <a:rPr lang="en-US" spc="10" dirty="0">
                <a:latin typeface="Arial"/>
                <a:cs typeface="Arial"/>
              </a:rPr>
              <a:t> </a:t>
            </a:r>
            <a:r>
              <a:rPr sz="1800" spc="10" dirty="0">
                <a:latin typeface="Arial"/>
                <a:cs typeface="Arial"/>
              </a:rPr>
              <a:t>minimum document</a:t>
            </a:r>
            <a:r>
              <a:rPr lang="en-US" sz="1800" spc="10" dirty="0">
                <a:latin typeface="Arial"/>
                <a:cs typeface="Arial"/>
              </a:rPr>
              <a:t> </a:t>
            </a:r>
            <a:r>
              <a:rPr sz="1800" spc="-330" dirty="0">
                <a:latin typeface="Arial"/>
                <a:cs typeface="Arial"/>
              </a:rPr>
              <a:t> </a:t>
            </a:r>
            <a:r>
              <a:rPr sz="1800" spc="-25" dirty="0">
                <a:latin typeface="Arial"/>
                <a:cs typeface="Arial"/>
              </a:rPr>
              <a:t>frequency)</a:t>
            </a:r>
            <a:endParaRPr sz="1800" dirty="0">
              <a:latin typeface="Arial"/>
              <a:cs typeface="Arial"/>
            </a:endParaRPr>
          </a:p>
        </p:txBody>
      </p:sp>
      <p:sp>
        <p:nvSpPr>
          <p:cNvPr id="8" name="object 8"/>
          <p:cNvSpPr/>
          <p:nvPr/>
        </p:nvSpPr>
        <p:spPr>
          <a:xfrm>
            <a:off x="5817870" y="4470653"/>
            <a:ext cx="1002030" cy="0"/>
          </a:xfrm>
          <a:custGeom>
            <a:avLst/>
            <a:gdLst/>
            <a:ahLst/>
            <a:cxnLst/>
            <a:rect l="l" t="t" r="r" b="b"/>
            <a:pathLst>
              <a:path w="1002029">
                <a:moveTo>
                  <a:pt x="0" y="0"/>
                </a:moveTo>
                <a:lnTo>
                  <a:pt x="1002030" y="0"/>
                </a:lnTo>
              </a:path>
            </a:pathLst>
          </a:custGeom>
          <a:ln w="38100">
            <a:solidFill>
              <a:srgbClr val="000000"/>
            </a:solidFill>
          </a:ln>
        </p:spPr>
        <p:txBody>
          <a:bodyPr wrap="square" lIns="0" tIns="0" rIns="0" bIns="0" rtlCol="0"/>
          <a:lstStyle/>
          <a:p>
            <a:endParaRPr/>
          </a:p>
        </p:txBody>
      </p:sp>
      <p:sp>
        <p:nvSpPr>
          <p:cNvPr id="9" name="object 9"/>
          <p:cNvSpPr/>
          <p:nvPr/>
        </p:nvSpPr>
        <p:spPr>
          <a:xfrm>
            <a:off x="6800852" y="4413498"/>
            <a:ext cx="114300" cy="114300"/>
          </a:xfrm>
          <a:custGeom>
            <a:avLst/>
            <a:gdLst/>
            <a:ahLst/>
            <a:cxnLst/>
            <a:rect l="l" t="t" r="r" b="b"/>
            <a:pathLst>
              <a:path w="114300" h="114300">
                <a:moveTo>
                  <a:pt x="0" y="0"/>
                </a:moveTo>
                <a:lnTo>
                  <a:pt x="0" y="114300"/>
                </a:lnTo>
                <a:lnTo>
                  <a:pt x="114300" y="57150"/>
                </a:lnTo>
                <a:lnTo>
                  <a:pt x="0" y="0"/>
                </a:lnTo>
                <a:close/>
              </a:path>
            </a:pathLst>
          </a:custGeom>
          <a:solidFill>
            <a:srgbClr val="000000"/>
          </a:solidFill>
        </p:spPr>
        <p:txBody>
          <a:bodyPr wrap="square" lIns="0" tIns="0" rIns="0" bIns="0" rtlCol="0"/>
          <a:lstStyle/>
          <a:p>
            <a:endParaRPr/>
          </a:p>
        </p:txBody>
      </p:sp>
      <p:sp>
        <p:nvSpPr>
          <p:cNvPr id="10" name="object 10"/>
          <p:cNvSpPr txBox="1"/>
          <p:nvPr/>
        </p:nvSpPr>
        <p:spPr>
          <a:xfrm>
            <a:off x="640430" y="5844825"/>
            <a:ext cx="11336655"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Arial"/>
                <a:cs typeface="Arial"/>
              </a:rPr>
              <a:t>Chỉ</a:t>
            </a:r>
            <a:r>
              <a:rPr sz="1800" spc="-155" dirty="0">
                <a:latin typeface="Arial"/>
                <a:cs typeface="Arial"/>
              </a:rPr>
              <a:t> </a:t>
            </a:r>
            <a:r>
              <a:rPr sz="1800" spc="-5" dirty="0">
                <a:latin typeface="Arial"/>
                <a:cs typeface="Arial"/>
              </a:rPr>
              <a:t>tính</a:t>
            </a:r>
            <a:r>
              <a:rPr sz="1800" spc="-145" dirty="0">
                <a:latin typeface="Arial"/>
                <a:cs typeface="Arial"/>
              </a:rPr>
              <a:t> </a:t>
            </a:r>
            <a:r>
              <a:rPr sz="1800" spc="-60" dirty="0">
                <a:latin typeface="Arial"/>
                <a:cs typeface="Arial"/>
              </a:rPr>
              <a:t>những</a:t>
            </a:r>
            <a:r>
              <a:rPr sz="1800" spc="-155" dirty="0">
                <a:latin typeface="Arial"/>
                <a:cs typeface="Arial"/>
              </a:rPr>
              <a:t> </a:t>
            </a:r>
            <a:r>
              <a:rPr sz="1800" spc="-30" dirty="0">
                <a:latin typeface="Arial"/>
                <a:cs typeface="Arial"/>
              </a:rPr>
              <a:t>từ</a:t>
            </a:r>
            <a:r>
              <a:rPr sz="1800" spc="-125" dirty="0">
                <a:latin typeface="Arial"/>
                <a:cs typeface="Arial"/>
              </a:rPr>
              <a:t> </a:t>
            </a:r>
            <a:r>
              <a:rPr sz="1800" spc="-25" dirty="0">
                <a:latin typeface="Arial"/>
                <a:cs typeface="Arial"/>
              </a:rPr>
              <a:t>khóa</a:t>
            </a:r>
            <a:r>
              <a:rPr sz="1800" spc="-150" dirty="0">
                <a:latin typeface="Arial"/>
                <a:cs typeface="Arial"/>
              </a:rPr>
              <a:t> </a:t>
            </a:r>
            <a:r>
              <a:rPr sz="1800" spc="-25" dirty="0">
                <a:latin typeface="Arial"/>
                <a:cs typeface="Arial"/>
              </a:rPr>
              <a:t>xuất</a:t>
            </a:r>
            <a:r>
              <a:rPr sz="1800" spc="-130" dirty="0">
                <a:latin typeface="Arial"/>
                <a:cs typeface="Arial"/>
              </a:rPr>
              <a:t> </a:t>
            </a:r>
            <a:r>
              <a:rPr sz="1800" spc="-15" dirty="0">
                <a:latin typeface="Arial"/>
                <a:cs typeface="Arial"/>
              </a:rPr>
              <a:t>hiện</a:t>
            </a:r>
            <a:r>
              <a:rPr sz="1800" spc="-160" dirty="0">
                <a:latin typeface="Arial"/>
                <a:cs typeface="Arial"/>
              </a:rPr>
              <a:t> </a:t>
            </a:r>
            <a:r>
              <a:rPr sz="1800" spc="-175" dirty="0">
                <a:latin typeface="Arial"/>
                <a:cs typeface="Arial"/>
              </a:rPr>
              <a:t>ở</a:t>
            </a:r>
            <a:r>
              <a:rPr sz="1800" spc="-125" dirty="0">
                <a:latin typeface="Arial"/>
                <a:cs typeface="Arial"/>
              </a:rPr>
              <a:t> </a:t>
            </a:r>
            <a:r>
              <a:rPr lang="en-US" spc="-40" dirty="0">
                <a:latin typeface="Arial"/>
                <a:cs typeface="Arial"/>
              </a:rPr>
              <a:t>2</a:t>
            </a:r>
            <a:r>
              <a:rPr sz="1800" spc="-140" dirty="0">
                <a:latin typeface="Arial"/>
                <a:cs typeface="Arial"/>
              </a:rPr>
              <a:t> </a:t>
            </a:r>
            <a:r>
              <a:rPr sz="1800" spc="15" dirty="0">
                <a:latin typeface="Arial"/>
                <a:cs typeface="Arial"/>
              </a:rPr>
              <a:t>tài</a:t>
            </a:r>
            <a:r>
              <a:rPr sz="1800" spc="-114" dirty="0">
                <a:latin typeface="Arial"/>
                <a:cs typeface="Arial"/>
              </a:rPr>
              <a:t> </a:t>
            </a:r>
            <a:r>
              <a:rPr sz="1800" spc="10" dirty="0">
                <a:latin typeface="Arial"/>
                <a:cs typeface="Arial"/>
              </a:rPr>
              <a:t>liệu</a:t>
            </a:r>
            <a:r>
              <a:rPr sz="1800" spc="-160" dirty="0">
                <a:latin typeface="Arial"/>
                <a:cs typeface="Arial"/>
              </a:rPr>
              <a:t> </a:t>
            </a:r>
            <a:r>
              <a:rPr sz="1800" spc="-35" dirty="0">
                <a:latin typeface="Arial"/>
                <a:cs typeface="Arial"/>
              </a:rPr>
              <a:t>trở</a:t>
            </a:r>
            <a:r>
              <a:rPr sz="1800" spc="-110" dirty="0">
                <a:latin typeface="Arial"/>
                <a:cs typeface="Arial"/>
              </a:rPr>
              <a:t> </a:t>
            </a:r>
            <a:r>
              <a:rPr sz="1800" spc="-5" dirty="0">
                <a:latin typeface="Arial"/>
                <a:cs typeface="Arial"/>
              </a:rPr>
              <a:t>lên</a:t>
            </a:r>
            <a:r>
              <a:rPr sz="1800" spc="-145" dirty="0">
                <a:latin typeface="Arial"/>
                <a:cs typeface="Arial"/>
              </a:rPr>
              <a:t> </a:t>
            </a:r>
            <a:r>
              <a:rPr sz="1800" spc="-35" dirty="0">
                <a:latin typeface="Arial"/>
                <a:cs typeface="Arial"/>
              </a:rPr>
              <a:t>(</a:t>
            </a:r>
            <a:r>
              <a:rPr sz="1800" spc="-35" dirty="0" err="1">
                <a:latin typeface="Arial"/>
                <a:cs typeface="Arial"/>
              </a:rPr>
              <a:t>min_df</a:t>
            </a:r>
            <a:r>
              <a:rPr sz="1800" spc="-35" dirty="0">
                <a:latin typeface="Arial"/>
                <a:cs typeface="Arial"/>
              </a:rPr>
              <a:t>=</a:t>
            </a:r>
            <a:r>
              <a:rPr lang="en-US" sz="1800" spc="-35" dirty="0">
                <a:latin typeface="Arial"/>
                <a:cs typeface="Arial"/>
              </a:rPr>
              <a:t>2</a:t>
            </a:r>
            <a:r>
              <a:rPr sz="1800" spc="-35" dirty="0">
                <a:latin typeface="Arial"/>
                <a:cs typeface="Arial"/>
              </a:rPr>
              <a:t>),</a:t>
            </a:r>
            <a:r>
              <a:rPr sz="1800" spc="-150" dirty="0">
                <a:latin typeface="Arial"/>
                <a:cs typeface="Arial"/>
              </a:rPr>
              <a:t> </a:t>
            </a:r>
            <a:r>
              <a:rPr sz="1800" spc="-20" dirty="0">
                <a:latin typeface="Arial"/>
                <a:cs typeface="Arial"/>
              </a:rPr>
              <a:t>số</a:t>
            </a:r>
            <a:r>
              <a:rPr sz="1800" spc="-150" dirty="0">
                <a:latin typeface="Arial"/>
                <a:cs typeface="Arial"/>
              </a:rPr>
              <a:t> </a:t>
            </a:r>
            <a:r>
              <a:rPr sz="1800" dirty="0">
                <a:latin typeface="Arial"/>
                <a:cs typeface="Arial"/>
              </a:rPr>
              <a:t>chiều</a:t>
            </a:r>
            <a:r>
              <a:rPr sz="1800" spc="-145" dirty="0">
                <a:latin typeface="Arial"/>
                <a:cs typeface="Arial"/>
              </a:rPr>
              <a:t> </a:t>
            </a:r>
            <a:r>
              <a:rPr sz="1800" spc="-10" dirty="0">
                <a:latin typeface="Arial"/>
                <a:cs typeface="Arial"/>
              </a:rPr>
              <a:t>vector</a:t>
            </a:r>
            <a:r>
              <a:rPr sz="1800" spc="-140" dirty="0">
                <a:latin typeface="Arial"/>
                <a:cs typeface="Arial"/>
              </a:rPr>
              <a:t> </a:t>
            </a:r>
            <a:r>
              <a:rPr sz="1800" dirty="0">
                <a:latin typeface="Arial"/>
                <a:cs typeface="Arial"/>
              </a:rPr>
              <a:t>đặc</a:t>
            </a:r>
            <a:r>
              <a:rPr sz="1800" spc="-125" dirty="0">
                <a:latin typeface="Arial"/>
                <a:cs typeface="Arial"/>
              </a:rPr>
              <a:t> </a:t>
            </a:r>
            <a:r>
              <a:rPr sz="1800" spc="-40" dirty="0">
                <a:latin typeface="Arial"/>
                <a:cs typeface="Arial"/>
              </a:rPr>
              <a:t>trưng</a:t>
            </a:r>
            <a:r>
              <a:rPr sz="1800" spc="-135" dirty="0">
                <a:latin typeface="Arial"/>
                <a:cs typeface="Arial"/>
              </a:rPr>
              <a:t> </a:t>
            </a:r>
            <a:r>
              <a:rPr sz="1800" spc="-30" dirty="0">
                <a:latin typeface="Arial"/>
                <a:cs typeface="Arial"/>
              </a:rPr>
              <a:t>giảm</a:t>
            </a:r>
            <a:r>
              <a:rPr sz="1800" spc="-140" dirty="0">
                <a:latin typeface="Arial"/>
                <a:cs typeface="Arial"/>
              </a:rPr>
              <a:t> </a:t>
            </a:r>
            <a:r>
              <a:rPr sz="1800" spc="-30" dirty="0" err="1">
                <a:latin typeface="Arial"/>
                <a:cs typeface="Arial"/>
              </a:rPr>
              <a:t>từ</a:t>
            </a:r>
            <a:r>
              <a:rPr sz="1800" spc="-120" dirty="0">
                <a:latin typeface="Arial"/>
                <a:cs typeface="Arial"/>
              </a:rPr>
              <a:t> </a:t>
            </a:r>
            <a:r>
              <a:rPr lang="en-US" i="1" spc="-45" dirty="0">
                <a:latin typeface="Arial"/>
                <a:cs typeface="Arial"/>
              </a:rPr>
              <a:t>96841</a:t>
            </a:r>
            <a:r>
              <a:rPr sz="1800" i="1" spc="-114" dirty="0">
                <a:latin typeface="Arial"/>
                <a:cs typeface="Arial"/>
              </a:rPr>
              <a:t> </a:t>
            </a:r>
            <a:r>
              <a:rPr sz="1800" spc="-55" dirty="0" err="1">
                <a:latin typeface="Arial"/>
                <a:cs typeface="Arial"/>
              </a:rPr>
              <a:t>xuống</a:t>
            </a:r>
            <a:r>
              <a:rPr sz="1800" spc="-145" dirty="0">
                <a:latin typeface="Arial"/>
                <a:cs typeface="Arial"/>
              </a:rPr>
              <a:t> </a:t>
            </a:r>
            <a:r>
              <a:rPr lang="en-US" i="1" spc="-45" dirty="0">
                <a:latin typeface="Arial"/>
                <a:cs typeface="Arial"/>
              </a:rPr>
              <a:t>32818</a:t>
            </a:r>
            <a:endParaRPr sz="1800" dirty="0">
              <a:latin typeface="Arial"/>
              <a:cs typeface="Arial"/>
            </a:endParaRPr>
          </a:p>
        </p:txBody>
      </p:sp>
      <p:pic>
        <p:nvPicPr>
          <p:cNvPr id="14" name="Hình ảnh 13">
            <a:extLst>
              <a:ext uri="{FF2B5EF4-FFF2-40B4-BE49-F238E27FC236}">
                <a16:creationId xmlns:a16="http://schemas.microsoft.com/office/drawing/2014/main" id="{F8022842-E86A-923A-D627-E8938F08C339}"/>
              </a:ext>
            </a:extLst>
          </p:cNvPr>
          <p:cNvPicPr>
            <a:picLocks noChangeAspect="1"/>
          </p:cNvPicPr>
          <p:nvPr/>
        </p:nvPicPr>
        <p:blipFill>
          <a:blip r:embed="rId2"/>
          <a:stretch>
            <a:fillRect/>
          </a:stretch>
        </p:blipFill>
        <p:spPr>
          <a:xfrm>
            <a:off x="687051" y="3258521"/>
            <a:ext cx="5125675" cy="2219666"/>
          </a:xfrm>
          <a:prstGeom prst="rect">
            <a:avLst/>
          </a:prstGeom>
        </p:spPr>
      </p:pic>
      <p:pic>
        <p:nvPicPr>
          <p:cNvPr id="16" name="Hình ảnh 15">
            <a:extLst>
              <a:ext uri="{FF2B5EF4-FFF2-40B4-BE49-F238E27FC236}">
                <a16:creationId xmlns:a16="http://schemas.microsoft.com/office/drawing/2014/main" id="{C5A16C97-F79F-FB24-8849-7F97482CAC6D}"/>
              </a:ext>
            </a:extLst>
          </p:cNvPr>
          <p:cNvPicPr>
            <a:picLocks noChangeAspect="1"/>
          </p:cNvPicPr>
          <p:nvPr/>
        </p:nvPicPr>
        <p:blipFill>
          <a:blip r:embed="rId3"/>
          <a:stretch>
            <a:fillRect/>
          </a:stretch>
        </p:blipFill>
        <p:spPr>
          <a:xfrm>
            <a:off x="7038515" y="2965779"/>
            <a:ext cx="4466434" cy="25348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2111287"/>
            <a:ext cx="9876155" cy="635000"/>
          </a:xfrm>
          <a:prstGeom prst="rect">
            <a:avLst/>
          </a:prstGeom>
        </p:spPr>
        <p:txBody>
          <a:bodyPr vert="horz" wrap="square" lIns="0" tIns="12065" rIns="0" bIns="0" rtlCol="0">
            <a:spAutoFit/>
          </a:bodyPr>
          <a:lstStyle/>
          <a:p>
            <a:pPr marL="12700">
              <a:lnSpc>
                <a:spcPct val="100000"/>
              </a:lnSpc>
              <a:spcBef>
                <a:spcPts val="95"/>
              </a:spcBef>
            </a:pPr>
            <a:r>
              <a:rPr sz="4000" spc="50" dirty="0"/>
              <a:t>3.</a:t>
            </a:r>
            <a:r>
              <a:rPr sz="4000" spc="-135" dirty="0"/>
              <a:t> </a:t>
            </a:r>
            <a:r>
              <a:rPr sz="4000" spc="345" dirty="0"/>
              <a:t>CÁC</a:t>
            </a:r>
            <a:r>
              <a:rPr sz="4000" spc="-114" dirty="0"/>
              <a:t> </a:t>
            </a:r>
            <a:r>
              <a:rPr sz="4000" spc="-110" dirty="0"/>
              <a:t>MÔ</a:t>
            </a:r>
            <a:r>
              <a:rPr sz="4000" spc="-145" dirty="0"/>
              <a:t> </a:t>
            </a:r>
            <a:r>
              <a:rPr sz="4000" spc="110" dirty="0"/>
              <a:t>HÌNH/PHƯƠNG</a:t>
            </a:r>
            <a:r>
              <a:rPr sz="4000" spc="-120" dirty="0"/>
              <a:t> </a:t>
            </a:r>
            <a:r>
              <a:rPr sz="4000" spc="155" dirty="0"/>
              <a:t>PHÁP</a:t>
            </a:r>
            <a:r>
              <a:rPr sz="4000" spc="-150" dirty="0"/>
              <a:t> </a:t>
            </a:r>
            <a:r>
              <a:rPr sz="4000" spc="140" dirty="0"/>
              <a:t>PHÂN</a:t>
            </a:r>
            <a:r>
              <a:rPr sz="4000" spc="-130" dirty="0"/>
              <a:t> </a:t>
            </a:r>
            <a:r>
              <a:rPr sz="4000" spc="75" dirty="0"/>
              <a:t>LOẠI</a:t>
            </a:r>
            <a:endParaRPr sz="4000"/>
          </a:p>
        </p:txBody>
      </p:sp>
      <p:sp>
        <p:nvSpPr>
          <p:cNvPr id="3" name="object 3"/>
          <p:cNvSpPr txBox="1"/>
          <p:nvPr/>
        </p:nvSpPr>
        <p:spPr>
          <a:xfrm>
            <a:off x="4343400" y="2819400"/>
            <a:ext cx="3256915" cy="1664558"/>
          </a:xfrm>
          <a:prstGeom prst="rect">
            <a:avLst/>
          </a:prstGeom>
        </p:spPr>
        <p:txBody>
          <a:bodyPr vert="horz" wrap="square" lIns="0" tIns="12700" rIns="0" bIns="0" rtlCol="0">
            <a:spAutoFit/>
          </a:bodyPr>
          <a:lstStyle/>
          <a:p>
            <a:pPr marL="12065" marR="5080" algn="ctr">
              <a:lnSpc>
                <a:spcPct val="150000"/>
              </a:lnSpc>
              <a:spcBef>
                <a:spcPts val="100"/>
              </a:spcBef>
            </a:pPr>
            <a:r>
              <a:rPr sz="2400" spc="-55" dirty="0">
                <a:latin typeface="Arial"/>
                <a:cs typeface="Arial"/>
              </a:rPr>
              <a:t>Random</a:t>
            </a:r>
            <a:r>
              <a:rPr sz="2400" spc="-170" dirty="0">
                <a:latin typeface="Arial"/>
                <a:cs typeface="Arial"/>
              </a:rPr>
              <a:t> </a:t>
            </a:r>
            <a:r>
              <a:rPr sz="2400" spc="-55" dirty="0">
                <a:latin typeface="Arial"/>
                <a:cs typeface="Arial"/>
              </a:rPr>
              <a:t>Forest</a:t>
            </a:r>
            <a:endParaRPr sz="2400" dirty="0">
              <a:latin typeface="Arial"/>
              <a:cs typeface="Arial"/>
            </a:endParaRPr>
          </a:p>
          <a:p>
            <a:pPr algn="ctr">
              <a:lnSpc>
                <a:spcPct val="100000"/>
              </a:lnSpc>
              <a:spcBef>
                <a:spcPts val="1440"/>
              </a:spcBef>
            </a:pPr>
            <a:r>
              <a:rPr sz="2400" spc="-20" dirty="0">
                <a:latin typeface="Arial"/>
                <a:cs typeface="Arial"/>
              </a:rPr>
              <a:t>Logistic</a:t>
            </a:r>
            <a:r>
              <a:rPr sz="2400" spc="-180" dirty="0">
                <a:latin typeface="Arial"/>
                <a:cs typeface="Arial"/>
              </a:rPr>
              <a:t> </a:t>
            </a:r>
            <a:r>
              <a:rPr sz="2400" spc="-75" dirty="0">
                <a:latin typeface="Arial"/>
                <a:cs typeface="Arial"/>
              </a:rPr>
              <a:t>Regression</a:t>
            </a:r>
            <a:endParaRPr lang="en-US" sz="2400" spc="-75" dirty="0">
              <a:latin typeface="Arial"/>
              <a:cs typeface="Arial"/>
            </a:endParaRPr>
          </a:p>
          <a:p>
            <a:pPr algn="ctr">
              <a:lnSpc>
                <a:spcPct val="100000"/>
              </a:lnSpc>
              <a:spcBef>
                <a:spcPts val="1440"/>
              </a:spcBef>
            </a:pPr>
            <a:r>
              <a:rPr lang="vi-VN" sz="2400" i="0" dirty="0" err="1">
                <a:effectLst/>
                <a:latin typeface="Arial" panose="020B0604020202020204" pitchFamily="34" charset="0"/>
              </a:rPr>
              <a:t>Multi-layer</a:t>
            </a:r>
            <a:r>
              <a:rPr lang="vi-VN" sz="2400" i="0" dirty="0">
                <a:effectLst/>
                <a:latin typeface="Arial" panose="020B0604020202020204" pitchFamily="34" charset="0"/>
              </a:rPr>
              <a:t> </a:t>
            </a:r>
            <a:r>
              <a:rPr lang="vi-VN" sz="2400" i="0" dirty="0" err="1">
                <a:effectLst/>
                <a:latin typeface="Arial" panose="020B0604020202020204" pitchFamily="34" charset="0"/>
              </a:rPr>
              <a:t>Perceptron</a:t>
            </a:r>
            <a:endParaRPr sz="2400" dirty="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461390"/>
            <a:ext cx="5932805" cy="1028700"/>
          </a:xfrm>
          <a:prstGeom prst="rect">
            <a:avLst/>
          </a:prstGeom>
        </p:spPr>
        <p:txBody>
          <a:bodyPr vert="horz" wrap="square" lIns="0" tIns="12700" rIns="0" bIns="0" rtlCol="0">
            <a:spAutoFit/>
          </a:bodyPr>
          <a:lstStyle/>
          <a:p>
            <a:pPr marL="12700">
              <a:lnSpc>
                <a:spcPts val="2510"/>
              </a:lnSpc>
              <a:spcBef>
                <a:spcPts val="100"/>
              </a:spcBef>
            </a:pPr>
            <a:r>
              <a:rPr spc="30" dirty="0"/>
              <a:t>3.</a:t>
            </a:r>
            <a:r>
              <a:rPr spc="-95" dirty="0"/>
              <a:t> </a:t>
            </a:r>
            <a:r>
              <a:rPr spc="210" dirty="0"/>
              <a:t>CÁC</a:t>
            </a:r>
            <a:r>
              <a:rPr spc="-75" dirty="0"/>
              <a:t> </a:t>
            </a:r>
            <a:r>
              <a:rPr spc="-65" dirty="0"/>
              <a:t>MÔ</a:t>
            </a:r>
            <a:r>
              <a:rPr spc="-110" dirty="0"/>
              <a:t> </a:t>
            </a:r>
            <a:r>
              <a:rPr spc="65" dirty="0"/>
              <a:t>HÌNH/PHƯƠNG</a:t>
            </a:r>
            <a:r>
              <a:rPr spc="-90" dirty="0"/>
              <a:t> </a:t>
            </a:r>
            <a:r>
              <a:rPr spc="95" dirty="0"/>
              <a:t>PHÁP</a:t>
            </a:r>
            <a:r>
              <a:rPr spc="-114" dirty="0"/>
              <a:t> </a:t>
            </a:r>
            <a:r>
              <a:rPr spc="85" dirty="0"/>
              <a:t>PHÂN</a:t>
            </a:r>
            <a:r>
              <a:rPr spc="-105" dirty="0"/>
              <a:t> </a:t>
            </a:r>
            <a:r>
              <a:rPr spc="45" dirty="0"/>
              <a:t>LOẠI</a:t>
            </a:r>
          </a:p>
          <a:p>
            <a:pPr marL="12700">
              <a:lnSpc>
                <a:spcPts val="5390"/>
              </a:lnSpc>
            </a:pPr>
            <a:r>
              <a:rPr sz="4800" b="0" spc="10" dirty="0">
                <a:solidFill>
                  <a:srgbClr val="000000"/>
                </a:solidFill>
                <a:latin typeface="Calibri"/>
                <a:cs typeface="Calibri"/>
              </a:rPr>
              <a:t>Random</a:t>
            </a:r>
            <a:r>
              <a:rPr sz="4800" b="0" spc="-155" dirty="0">
                <a:solidFill>
                  <a:srgbClr val="000000"/>
                </a:solidFill>
                <a:latin typeface="Calibri"/>
                <a:cs typeface="Calibri"/>
              </a:rPr>
              <a:t> </a:t>
            </a:r>
            <a:r>
              <a:rPr sz="4800" b="0" dirty="0">
                <a:solidFill>
                  <a:srgbClr val="000000"/>
                </a:solidFill>
                <a:latin typeface="Calibri"/>
                <a:cs typeface="Calibri"/>
              </a:rPr>
              <a:t>Forest</a:t>
            </a:r>
            <a:endParaRPr sz="4800" dirty="0">
              <a:latin typeface="Calibri"/>
              <a:cs typeface="Calibri"/>
            </a:endParaRPr>
          </a:p>
        </p:txBody>
      </p:sp>
      <p:sp>
        <p:nvSpPr>
          <p:cNvPr id="3" name="object 3"/>
          <p:cNvSpPr txBox="1"/>
          <p:nvPr/>
        </p:nvSpPr>
        <p:spPr>
          <a:xfrm>
            <a:off x="553147" y="2132943"/>
            <a:ext cx="4001135" cy="2494280"/>
          </a:xfrm>
          <a:prstGeom prst="rect">
            <a:avLst/>
          </a:prstGeom>
        </p:spPr>
        <p:txBody>
          <a:bodyPr vert="horz" wrap="square" lIns="0" tIns="12700" rIns="0" bIns="0" rtlCol="0">
            <a:spAutoFit/>
          </a:bodyPr>
          <a:lstStyle/>
          <a:p>
            <a:pPr marL="299085" marR="5080" indent="-287020" algn="just">
              <a:lnSpc>
                <a:spcPct val="150000"/>
              </a:lnSpc>
              <a:spcBef>
                <a:spcPts val="100"/>
              </a:spcBef>
              <a:buChar char="•"/>
              <a:tabLst>
                <a:tab pos="299720" algn="l"/>
              </a:tabLst>
            </a:pPr>
            <a:r>
              <a:rPr sz="1800" spc="-40" dirty="0">
                <a:latin typeface="Arial"/>
                <a:cs typeface="Arial"/>
              </a:rPr>
              <a:t>Random Forest </a:t>
            </a:r>
            <a:r>
              <a:rPr sz="1800" spc="5" dirty="0">
                <a:latin typeface="Arial"/>
                <a:cs typeface="Arial"/>
              </a:rPr>
              <a:t>là </a:t>
            </a:r>
            <a:r>
              <a:rPr sz="1800" spc="35" dirty="0">
                <a:latin typeface="Arial"/>
                <a:cs typeface="Arial"/>
              </a:rPr>
              <a:t>một </a:t>
            </a:r>
            <a:r>
              <a:rPr sz="1800" spc="20" dirty="0">
                <a:latin typeface="Arial"/>
                <a:cs typeface="Arial"/>
              </a:rPr>
              <a:t>thuật </a:t>
            </a:r>
            <a:r>
              <a:rPr sz="1800" dirty="0">
                <a:latin typeface="Arial"/>
                <a:cs typeface="Arial"/>
              </a:rPr>
              <a:t>toán </a:t>
            </a:r>
            <a:r>
              <a:rPr sz="1800" spc="10" dirty="0">
                <a:latin typeface="Arial"/>
                <a:cs typeface="Arial"/>
              </a:rPr>
              <a:t>cải  </a:t>
            </a:r>
            <a:r>
              <a:rPr sz="1800" spc="5" dirty="0">
                <a:latin typeface="Arial"/>
                <a:cs typeface="Arial"/>
              </a:rPr>
              <a:t>tiến</a:t>
            </a:r>
            <a:r>
              <a:rPr sz="1800" spc="-145" dirty="0">
                <a:latin typeface="Arial"/>
                <a:cs typeface="Arial"/>
              </a:rPr>
              <a:t> </a:t>
            </a:r>
            <a:r>
              <a:rPr sz="1800" spc="-30" dirty="0">
                <a:latin typeface="Arial"/>
                <a:cs typeface="Arial"/>
              </a:rPr>
              <a:t>từ</a:t>
            </a:r>
            <a:r>
              <a:rPr sz="1800" spc="-125" dirty="0">
                <a:latin typeface="Arial"/>
                <a:cs typeface="Arial"/>
              </a:rPr>
              <a:t> </a:t>
            </a:r>
            <a:r>
              <a:rPr sz="1800" spc="-10" dirty="0">
                <a:latin typeface="Arial"/>
                <a:cs typeface="Arial"/>
              </a:rPr>
              <a:t>Decision</a:t>
            </a:r>
            <a:r>
              <a:rPr sz="1800" spc="-165" dirty="0">
                <a:latin typeface="Arial"/>
                <a:cs typeface="Arial"/>
              </a:rPr>
              <a:t> </a:t>
            </a:r>
            <a:r>
              <a:rPr sz="1800" spc="-105" dirty="0">
                <a:latin typeface="Arial"/>
                <a:cs typeface="Arial"/>
              </a:rPr>
              <a:t>Tree.</a:t>
            </a:r>
            <a:endParaRPr sz="1800">
              <a:latin typeface="Arial"/>
              <a:cs typeface="Arial"/>
            </a:endParaRPr>
          </a:p>
          <a:p>
            <a:pPr marL="299085" marR="5080" indent="-287020" algn="just">
              <a:lnSpc>
                <a:spcPct val="150000"/>
              </a:lnSpc>
              <a:buChar char="•"/>
              <a:tabLst>
                <a:tab pos="299720" algn="l"/>
              </a:tabLst>
            </a:pPr>
            <a:r>
              <a:rPr sz="1800" spc="-40" dirty="0">
                <a:latin typeface="Arial"/>
                <a:cs typeface="Arial"/>
              </a:rPr>
              <a:t>Random </a:t>
            </a:r>
            <a:r>
              <a:rPr sz="1800" spc="-45" dirty="0">
                <a:latin typeface="Arial"/>
                <a:cs typeface="Arial"/>
              </a:rPr>
              <a:t>Forest </a:t>
            </a:r>
            <a:r>
              <a:rPr sz="1800" spc="-80" dirty="0">
                <a:latin typeface="Arial"/>
                <a:cs typeface="Arial"/>
              </a:rPr>
              <a:t>xây </a:t>
            </a:r>
            <a:r>
              <a:rPr sz="1800" spc="-70" dirty="0">
                <a:latin typeface="Arial"/>
                <a:cs typeface="Arial"/>
              </a:rPr>
              <a:t>dựng </a:t>
            </a:r>
            <a:r>
              <a:rPr sz="1800" spc="30" dirty="0">
                <a:latin typeface="Arial"/>
                <a:cs typeface="Arial"/>
              </a:rPr>
              <a:t>một </a:t>
            </a:r>
            <a:r>
              <a:rPr sz="1800" spc="-70" dirty="0">
                <a:latin typeface="Arial"/>
                <a:cs typeface="Arial"/>
              </a:rPr>
              <a:t>rừng  </a:t>
            </a:r>
            <a:r>
              <a:rPr sz="1800" spc="-35" dirty="0">
                <a:latin typeface="Arial"/>
                <a:cs typeface="Arial"/>
              </a:rPr>
              <a:t>gồm </a:t>
            </a:r>
            <a:r>
              <a:rPr sz="1800" spc="-65" dirty="0">
                <a:latin typeface="Arial"/>
                <a:cs typeface="Arial"/>
              </a:rPr>
              <a:t>những </a:t>
            </a:r>
            <a:r>
              <a:rPr sz="1800" spc="-35" dirty="0">
                <a:latin typeface="Arial"/>
                <a:cs typeface="Arial"/>
              </a:rPr>
              <a:t>cây </a:t>
            </a:r>
            <a:r>
              <a:rPr sz="1800" spc="-10" dirty="0">
                <a:latin typeface="Arial"/>
                <a:cs typeface="Arial"/>
              </a:rPr>
              <a:t>quyết </a:t>
            </a:r>
            <a:r>
              <a:rPr sz="1800" spc="5" dirty="0">
                <a:latin typeface="Arial"/>
                <a:cs typeface="Arial"/>
              </a:rPr>
              <a:t>định, </a:t>
            </a:r>
            <a:r>
              <a:rPr sz="1800" spc="-75" dirty="0">
                <a:latin typeface="Arial"/>
                <a:cs typeface="Arial"/>
              </a:rPr>
              <a:t>và </a:t>
            </a:r>
            <a:r>
              <a:rPr sz="1800" spc="-20" dirty="0">
                <a:latin typeface="Arial"/>
                <a:cs typeface="Arial"/>
              </a:rPr>
              <a:t>tổng  </a:t>
            </a:r>
            <a:r>
              <a:rPr sz="1800" spc="-60" dirty="0">
                <a:latin typeface="Arial"/>
                <a:cs typeface="Arial"/>
              </a:rPr>
              <a:t>hợp </a:t>
            </a:r>
            <a:r>
              <a:rPr sz="1800" spc="-10" dirty="0">
                <a:latin typeface="Arial"/>
                <a:cs typeface="Arial"/>
              </a:rPr>
              <a:t>quyết </a:t>
            </a:r>
            <a:r>
              <a:rPr sz="1800" dirty="0">
                <a:latin typeface="Arial"/>
                <a:cs typeface="Arial"/>
              </a:rPr>
              <a:t>định </a:t>
            </a:r>
            <a:r>
              <a:rPr sz="1800" spc="-30" dirty="0">
                <a:latin typeface="Arial"/>
                <a:cs typeface="Arial"/>
              </a:rPr>
              <a:t>từ </a:t>
            </a:r>
            <a:r>
              <a:rPr sz="1800" spc="15" dirty="0">
                <a:latin typeface="Arial"/>
                <a:cs typeface="Arial"/>
              </a:rPr>
              <a:t>mỗi </a:t>
            </a:r>
            <a:r>
              <a:rPr sz="1800" spc="-35" dirty="0">
                <a:latin typeface="Arial"/>
                <a:cs typeface="Arial"/>
              </a:rPr>
              <a:t>cây </a:t>
            </a:r>
            <a:r>
              <a:rPr sz="1800" spc="-25" dirty="0">
                <a:latin typeface="Arial"/>
                <a:cs typeface="Arial"/>
              </a:rPr>
              <a:t>trong </a:t>
            </a:r>
            <a:r>
              <a:rPr sz="1800" spc="-70" dirty="0">
                <a:latin typeface="Arial"/>
                <a:cs typeface="Arial"/>
              </a:rPr>
              <a:t>rừng  </a:t>
            </a:r>
            <a:r>
              <a:rPr sz="1800" spc="-35" dirty="0">
                <a:latin typeface="Arial"/>
                <a:cs typeface="Arial"/>
              </a:rPr>
              <a:t>cây</a:t>
            </a:r>
            <a:r>
              <a:rPr sz="1800" spc="-145" dirty="0">
                <a:latin typeface="Arial"/>
                <a:cs typeface="Arial"/>
              </a:rPr>
              <a:t> </a:t>
            </a:r>
            <a:r>
              <a:rPr sz="1800" spc="-20" dirty="0">
                <a:latin typeface="Arial"/>
                <a:cs typeface="Arial"/>
              </a:rPr>
              <a:t>đó.</a:t>
            </a:r>
            <a:endParaRPr sz="1800">
              <a:latin typeface="Arial"/>
              <a:cs typeface="Arial"/>
            </a:endParaRPr>
          </a:p>
        </p:txBody>
      </p:sp>
      <p:sp>
        <p:nvSpPr>
          <p:cNvPr id="4" name="object 4"/>
          <p:cNvSpPr/>
          <p:nvPr/>
        </p:nvSpPr>
        <p:spPr>
          <a:xfrm>
            <a:off x="4994147" y="1690116"/>
            <a:ext cx="6813803" cy="4887467"/>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989385" y="1685353"/>
            <a:ext cx="6823709" cy="4897120"/>
          </a:xfrm>
          <a:custGeom>
            <a:avLst/>
            <a:gdLst/>
            <a:ahLst/>
            <a:cxnLst/>
            <a:rect l="l" t="t" r="r" b="b"/>
            <a:pathLst>
              <a:path w="6823709" h="4897120">
                <a:moveTo>
                  <a:pt x="0" y="0"/>
                </a:moveTo>
                <a:lnTo>
                  <a:pt x="6823329" y="0"/>
                </a:lnTo>
                <a:lnTo>
                  <a:pt x="6823329" y="4896993"/>
                </a:lnTo>
                <a:lnTo>
                  <a:pt x="0" y="4896993"/>
                </a:lnTo>
                <a:lnTo>
                  <a:pt x="0" y="0"/>
                </a:lnTo>
                <a:close/>
              </a:path>
            </a:pathLst>
          </a:custGeom>
          <a:ln w="9525">
            <a:solidFill>
              <a:srgbClr val="000000"/>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461390"/>
            <a:ext cx="5932805" cy="391160"/>
          </a:xfrm>
          <a:prstGeom prst="rect">
            <a:avLst/>
          </a:prstGeom>
        </p:spPr>
        <p:txBody>
          <a:bodyPr vert="horz" wrap="square" lIns="0" tIns="12700" rIns="0" bIns="0" rtlCol="0">
            <a:spAutoFit/>
          </a:bodyPr>
          <a:lstStyle/>
          <a:p>
            <a:pPr marL="12700">
              <a:lnSpc>
                <a:spcPct val="100000"/>
              </a:lnSpc>
              <a:spcBef>
                <a:spcPts val="100"/>
              </a:spcBef>
            </a:pPr>
            <a:r>
              <a:rPr spc="30" dirty="0"/>
              <a:t>3.</a:t>
            </a:r>
            <a:r>
              <a:rPr spc="-95" dirty="0"/>
              <a:t> </a:t>
            </a:r>
            <a:r>
              <a:rPr spc="210" dirty="0"/>
              <a:t>CÁC</a:t>
            </a:r>
            <a:r>
              <a:rPr spc="-75" dirty="0"/>
              <a:t> </a:t>
            </a:r>
            <a:r>
              <a:rPr spc="-65" dirty="0"/>
              <a:t>MÔ</a:t>
            </a:r>
            <a:r>
              <a:rPr spc="-110" dirty="0"/>
              <a:t> </a:t>
            </a:r>
            <a:r>
              <a:rPr spc="65" dirty="0"/>
              <a:t>HÌNH/PHƯƠNG</a:t>
            </a:r>
            <a:r>
              <a:rPr spc="-90" dirty="0"/>
              <a:t> </a:t>
            </a:r>
            <a:r>
              <a:rPr spc="95" dirty="0"/>
              <a:t>PHÁP</a:t>
            </a:r>
            <a:r>
              <a:rPr spc="-114" dirty="0"/>
              <a:t> </a:t>
            </a:r>
            <a:r>
              <a:rPr spc="85" dirty="0"/>
              <a:t>PHÂN</a:t>
            </a:r>
            <a:r>
              <a:rPr spc="-105" dirty="0"/>
              <a:t> </a:t>
            </a:r>
            <a:r>
              <a:rPr spc="45" dirty="0"/>
              <a:t>LOẠI</a:t>
            </a:r>
          </a:p>
        </p:txBody>
      </p:sp>
      <p:sp>
        <p:nvSpPr>
          <p:cNvPr id="3" name="object 3"/>
          <p:cNvSpPr txBox="1"/>
          <p:nvPr/>
        </p:nvSpPr>
        <p:spPr>
          <a:xfrm>
            <a:off x="761298" y="732663"/>
            <a:ext cx="5158105" cy="1952625"/>
          </a:xfrm>
          <a:prstGeom prst="rect">
            <a:avLst/>
          </a:prstGeom>
        </p:spPr>
        <p:txBody>
          <a:bodyPr vert="horz" wrap="square" lIns="0" tIns="12700" rIns="0" bIns="0" rtlCol="0">
            <a:spAutoFit/>
          </a:bodyPr>
          <a:lstStyle/>
          <a:p>
            <a:pPr marL="168275">
              <a:lnSpc>
                <a:spcPct val="100000"/>
              </a:lnSpc>
              <a:spcBef>
                <a:spcPts val="100"/>
              </a:spcBef>
            </a:pPr>
            <a:r>
              <a:rPr sz="4800" spc="10" dirty="0">
                <a:latin typeface="Calibri"/>
                <a:cs typeface="Calibri"/>
              </a:rPr>
              <a:t>Random</a:t>
            </a:r>
            <a:r>
              <a:rPr sz="4800" spc="-160" dirty="0">
                <a:latin typeface="Calibri"/>
                <a:cs typeface="Calibri"/>
              </a:rPr>
              <a:t> </a:t>
            </a:r>
            <a:r>
              <a:rPr sz="4800" dirty="0">
                <a:latin typeface="Calibri"/>
                <a:cs typeface="Calibri"/>
              </a:rPr>
              <a:t>Forest</a:t>
            </a:r>
            <a:endParaRPr sz="4800">
              <a:latin typeface="Calibri"/>
              <a:cs typeface="Calibri"/>
            </a:endParaRPr>
          </a:p>
          <a:p>
            <a:pPr marL="299085" indent="-287020">
              <a:lnSpc>
                <a:spcPct val="100000"/>
              </a:lnSpc>
              <a:spcBef>
                <a:spcPts val="4010"/>
              </a:spcBef>
              <a:buChar char="•"/>
              <a:tabLst>
                <a:tab pos="299085" algn="l"/>
                <a:tab pos="299720" algn="l"/>
              </a:tabLst>
            </a:pPr>
            <a:r>
              <a:rPr sz="1800" spc="-10" dirty="0">
                <a:latin typeface="Arial"/>
                <a:cs typeface="Arial"/>
              </a:rPr>
              <a:t>Decision</a:t>
            </a:r>
            <a:r>
              <a:rPr sz="1800" spc="-165" dirty="0">
                <a:latin typeface="Arial"/>
                <a:cs typeface="Arial"/>
              </a:rPr>
              <a:t> </a:t>
            </a:r>
            <a:r>
              <a:rPr sz="1800" spc="-120" dirty="0">
                <a:latin typeface="Arial"/>
                <a:cs typeface="Arial"/>
              </a:rPr>
              <a:t>Tree</a:t>
            </a:r>
            <a:r>
              <a:rPr sz="1800" spc="-130" dirty="0">
                <a:latin typeface="Arial"/>
                <a:cs typeface="Arial"/>
              </a:rPr>
              <a:t> </a:t>
            </a:r>
            <a:r>
              <a:rPr sz="1800" spc="-65" dirty="0">
                <a:latin typeface="Arial"/>
                <a:cs typeface="Arial"/>
              </a:rPr>
              <a:t>được</a:t>
            </a:r>
            <a:r>
              <a:rPr sz="1800" spc="-135" dirty="0">
                <a:latin typeface="Arial"/>
                <a:cs typeface="Arial"/>
              </a:rPr>
              <a:t> </a:t>
            </a:r>
            <a:r>
              <a:rPr sz="1800" spc="-80" dirty="0">
                <a:latin typeface="Arial"/>
                <a:cs typeface="Arial"/>
              </a:rPr>
              <a:t>xây</a:t>
            </a:r>
            <a:r>
              <a:rPr sz="1800" spc="-130" dirty="0">
                <a:latin typeface="Arial"/>
                <a:cs typeface="Arial"/>
              </a:rPr>
              <a:t> </a:t>
            </a:r>
            <a:r>
              <a:rPr sz="1800" spc="-70" dirty="0">
                <a:latin typeface="Arial"/>
                <a:cs typeface="Arial"/>
              </a:rPr>
              <a:t>dựng</a:t>
            </a:r>
            <a:r>
              <a:rPr sz="1800" spc="-150" dirty="0">
                <a:latin typeface="Arial"/>
                <a:cs typeface="Arial"/>
              </a:rPr>
              <a:t> </a:t>
            </a:r>
            <a:r>
              <a:rPr sz="1800" spc="-30" dirty="0">
                <a:latin typeface="Arial"/>
                <a:cs typeface="Arial"/>
              </a:rPr>
              <a:t>từ</a:t>
            </a:r>
            <a:r>
              <a:rPr sz="1800" spc="-120" dirty="0">
                <a:latin typeface="Arial"/>
                <a:cs typeface="Arial"/>
              </a:rPr>
              <a:t> </a:t>
            </a:r>
            <a:r>
              <a:rPr sz="1800" spc="10" dirty="0">
                <a:latin typeface="Arial"/>
                <a:cs typeface="Arial"/>
              </a:rPr>
              <a:t>các</a:t>
            </a:r>
            <a:r>
              <a:rPr sz="1800" spc="-130" dirty="0">
                <a:latin typeface="Arial"/>
                <a:cs typeface="Arial"/>
              </a:rPr>
              <a:t> </a:t>
            </a:r>
            <a:r>
              <a:rPr sz="1800" spc="20" dirty="0">
                <a:latin typeface="Arial"/>
                <a:cs typeface="Arial"/>
              </a:rPr>
              <a:t>nốt</a:t>
            </a:r>
            <a:r>
              <a:rPr sz="1800" spc="-150" dirty="0">
                <a:latin typeface="Arial"/>
                <a:cs typeface="Arial"/>
              </a:rPr>
              <a:t> </a:t>
            </a:r>
            <a:r>
              <a:rPr sz="1800" spc="-10" dirty="0">
                <a:latin typeface="Arial"/>
                <a:cs typeface="Arial"/>
              </a:rPr>
              <a:t>điều</a:t>
            </a:r>
            <a:r>
              <a:rPr sz="1800" spc="-145" dirty="0">
                <a:latin typeface="Arial"/>
                <a:cs typeface="Arial"/>
              </a:rPr>
              <a:t> </a:t>
            </a:r>
            <a:r>
              <a:rPr sz="1800" spc="-15" dirty="0">
                <a:latin typeface="Arial"/>
                <a:cs typeface="Arial"/>
              </a:rPr>
              <a:t>kiện.</a:t>
            </a:r>
            <a:endParaRPr sz="1800">
              <a:latin typeface="Arial"/>
              <a:cs typeface="Arial"/>
            </a:endParaRPr>
          </a:p>
          <a:p>
            <a:pPr marL="299085" indent="-287020">
              <a:lnSpc>
                <a:spcPct val="100000"/>
              </a:lnSpc>
              <a:spcBef>
                <a:spcPts val="1080"/>
              </a:spcBef>
              <a:buChar char="•"/>
              <a:tabLst>
                <a:tab pos="299085" algn="l"/>
                <a:tab pos="299720" algn="l"/>
              </a:tabLst>
            </a:pPr>
            <a:r>
              <a:rPr sz="1800" spc="-100" dirty="0">
                <a:latin typeface="Arial"/>
                <a:cs typeface="Arial"/>
              </a:rPr>
              <a:t>Dữ</a:t>
            </a:r>
            <a:r>
              <a:rPr sz="1800" spc="-145" dirty="0">
                <a:latin typeface="Arial"/>
                <a:cs typeface="Arial"/>
              </a:rPr>
              <a:t> </a:t>
            </a:r>
            <a:r>
              <a:rPr sz="1800" spc="10" dirty="0">
                <a:latin typeface="Arial"/>
                <a:cs typeface="Arial"/>
              </a:rPr>
              <a:t>liệu</a:t>
            </a:r>
            <a:r>
              <a:rPr sz="1800" spc="-150" dirty="0">
                <a:latin typeface="Arial"/>
                <a:cs typeface="Arial"/>
              </a:rPr>
              <a:t> </a:t>
            </a:r>
            <a:r>
              <a:rPr sz="1800" spc="15" dirty="0">
                <a:latin typeface="Arial"/>
                <a:cs typeface="Arial"/>
              </a:rPr>
              <a:t>đi</a:t>
            </a:r>
            <a:r>
              <a:rPr sz="1800" spc="-140" dirty="0">
                <a:latin typeface="Arial"/>
                <a:cs typeface="Arial"/>
              </a:rPr>
              <a:t> </a:t>
            </a:r>
            <a:r>
              <a:rPr sz="1800" spc="-30" dirty="0">
                <a:latin typeface="Arial"/>
                <a:cs typeface="Arial"/>
              </a:rPr>
              <a:t>từ</a:t>
            </a:r>
            <a:r>
              <a:rPr sz="1800" spc="-140" dirty="0">
                <a:latin typeface="Arial"/>
                <a:cs typeface="Arial"/>
              </a:rPr>
              <a:t> </a:t>
            </a:r>
            <a:r>
              <a:rPr sz="1800" spc="20" dirty="0">
                <a:latin typeface="Arial"/>
                <a:cs typeface="Arial"/>
              </a:rPr>
              <a:t>nốt</a:t>
            </a:r>
            <a:r>
              <a:rPr sz="1800" spc="-150" dirty="0">
                <a:latin typeface="Arial"/>
                <a:cs typeface="Arial"/>
              </a:rPr>
              <a:t> </a:t>
            </a:r>
            <a:r>
              <a:rPr sz="1800" spc="-35" dirty="0">
                <a:latin typeface="Arial"/>
                <a:cs typeface="Arial"/>
              </a:rPr>
              <a:t>gốc,</a:t>
            </a:r>
            <a:r>
              <a:rPr sz="1800" spc="-145" dirty="0">
                <a:latin typeface="Arial"/>
                <a:cs typeface="Arial"/>
              </a:rPr>
              <a:t> </a:t>
            </a:r>
            <a:r>
              <a:rPr sz="1800" spc="-15" dirty="0">
                <a:latin typeface="Arial"/>
                <a:cs typeface="Arial"/>
              </a:rPr>
              <a:t>qua</a:t>
            </a:r>
            <a:r>
              <a:rPr sz="1800" spc="-140" dirty="0">
                <a:latin typeface="Arial"/>
                <a:cs typeface="Arial"/>
              </a:rPr>
              <a:t> </a:t>
            </a:r>
            <a:r>
              <a:rPr sz="1800" spc="10" dirty="0">
                <a:latin typeface="Arial"/>
                <a:cs typeface="Arial"/>
              </a:rPr>
              <a:t>các</a:t>
            </a:r>
            <a:r>
              <a:rPr sz="1800" spc="-130" dirty="0">
                <a:latin typeface="Arial"/>
                <a:cs typeface="Arial"/>
              </a:rPr>
              <a:t> </a:t>
            </a:r>
            <a:r>
              <a:rPr sz="1800" spc="20" dirty="0">
                <a:latin typeface="Arial"/>
                <a:cs typeface="Arial"/>
              </a:rPr>
              <a:t>nốt</a:t>
            </a:r>
            <a:r>
              <a:rPr sz="1800" spc="-150" dirty="0">
                <a:latin typeface="Arial"/>
                <a:cs typeface="Arial"/>
              </a:rPr>
              <a:t> </a:t>
            </a:r>
            <a:r>
              <a:rPr sz="1800" spc="-10" dirty="0">
                <a:latin typeface="Arial"/>
                <a:cs typeface="Arial"/>
              </a:rPr>
              <a:t>điều</a:t>
            </a:r>
            <a:r>
              <a:rPr sz="1800" spc="-150" dirty="0">
                <a:latin typeface="Arial"/>
                <a:cs typeface="Arial"/>
              </a:rPr>
              <a:t> </a:t>
            </a:r>
            <a:r>
              <a:rPr sz="1800" spc="-20" dirty="0">
                <a:latin typeface="Arial"/>
                <a:cs typeface="Arial"/>
              </a:rPr>
              <a:t>kiện</a:t>
            </a:r>
            <a:r>
              <a:rPr sz="1800" spc="-155" dirty="0">
                <a:latin typeface="Arial"/>
                <a:cs typeface="Arial"/>
              </a:rPr>
              <a:t> </a:t>
            </a:r>
            <a:r>
              <a:rPr sz="1800" spc="-25" dirty="0">
                <a:latin typeface="Arial"/>
                <a:cs typeface="Arial"/>
              </a:rPr>
              <a:t>đến</a:t>
            </a:r>
            <a:endParaRPr sz="1800">
              <a:latin typeface="Arial"/>
              <a:cs typeface="Arial"/>
            </a:endParaRPr>
          </a:p>
        </p:txBody>
      </p:sp>
      <p:sp>
        <p:nvSpPr>
          <p:cNvPr id="4" name="object 4"/>
          <p:cNvSpPr txBox="1"/>
          <p:nvPr/>
        </p:nvSpPr>
        <p:spPr>
          <a:xfrm>
            <a:off x="761298" y="2659576"/>
            <a:ext cx="5142230" cy="1671320"/>
          </a:xfrm>
          <a:prstGeom prst="rect">
            <a:avLst/>
          </a:prstGeom>
        </p:spPr>
        <p:txBody>
          <a:bodyPr vert="horz" wrap="square" lIns="0" tIns="149860" rIns="0" bIns="0" rtlCol="0">
            <a:spAutoFit/>
          </a:bodyPr>
          <a:lstStyle/>
          <a:p>
            <a:pPr marL="299085">
              <a:lnSpc>
                <a:spcPct val="100000"/>
              </a:lnSpc>
              <a:spcBef>
                <a:spcPts val="1180"/>
              </a:spcBef>
            </a:pPr>
            <a:r>
              <a:rPr sz="1800" spc="20" dirty="0">
                <a:latin typeface="Arial"/>
                <a:cs typeface="Arial"/>
              </a:rPr>
              <a:t>nốt</a:t>
            </a:r>
            <a:r>
              <a:rPr sz="1800" spc="-155" dirty="0">
                <a:latin typeface="Arial"/>
                <a:cs typeface="Arial"/>
              </a:rPr>
              <a:t> </a:t>
            </a:r>
            <a:r>
              <a:rPr sz="1800" spc="10" dirty="0">
                <a:latin typeface="Arial"/>
                <a:cs typeface="Arial"/>
              </a:rPr>
              <a:t>lá:</a:t>
            </a:r>
            <a:r>
              <a:rPr sz="1800" spc="-155" dirty="0">
                <a:latin typeface="Arial"/>
                <a:cs typeface="Arial"/>
              </a:rPr>
              <a:t> </a:t>
            </a:r>
            <a:r>
              <a:rPr sz="1800" spc="-5" dirty="0">
                <a:latin typeface="Arial"/>
                <a:cs typeface="Arial"/>
              </a:rPr>
              <a:t>đại</a:t>
            </a:r>
            <a:r>
              <a:rPr sz="1800" spc="-130" dirty="0">
                <a:latin typeface="Arial"/>
                <a:cs typeface="Arial"/>
              </a:rPr>
              <a:t> </a:t>
            </a:r>
            <a:r>
              <a:rPr sz="1800" spc="-10" dirty="0">
                <a:latin typeface="Arial"/>
                <a:cs typeface="Arial"/>
              </a:rPr>
              <a:t>diện</a:t>
            </a:r>
            <a:r>
              <a:rPr sz="1800" spc="-150" dirty="0">
                <a:latin typeface="Arial"/>
                <a:cs typeface="Arial"/>
              </a:rPr>
              <a:t> </a:t>
            </a:r>
            <a:r>
              <a:rPr sz="1800" spc="5" dirty="0">
                <a:latin typeface="Arial"/>
                <a:cs typeface="Arial"/>
              </a:rPr>
              <a:t>cho</a:t>
            </a:r>
            <a:r>
              <a:rPr sz="1800" spc="-155" dirty="0">
                <a:latin typeface="Arial"/>
                <a:cs typeface="Arial"/>
              </a:rPr>
              <a:t> </a:t>
            </a:r>
            <a:r>
              <a:rPr sz="1800" spc="-5" dirty="0">
                <a:latin typeface="Arial"/>
                <a:cs typeface="Arial"/>
              </a:rPr>
              <a:t>kết</a:t>
            </a:r>
            <a:r>
              <a:rPr sz="1800" spc="-135" dirty="0">
                <a:latin typeface="Arial"/>
                <a:cs typeface="Arial"/>
              </a:rPr>
              <a:t> </a:t>
            </a:r>
            <a:r>
              <a:rPr sz="1800" spc="-15" dirty="0">
                <a:latin typeface="Arial"/>
                <a:cs typeface="Arial"/>
              </a:rPr>
              <a:t>quả</a:t>
            </a:r>
            <a:r>
              <a:rPr sz="1800" spc="-140" dirty="0">
                <a:latin typeface="Arial"/>
                <a:cs typeface="Arial"/>
              </a:rPr>
              <a:t> </a:t>
            </a:r>
            <a:r>
              <a:rPr sz="1800" spc="-65" dirty="0">
                <a:latin typeface="Arial"/>
                <a:cs typeface="Arial"/>
              </a:rPr>
              <a:t>dự</a:t>
            </a:r>
            <a:r>
              <a:rPr sz="1800" spc="-130" dirty="0">
                <a:latin typeface="Arial"/>
                <a:cs typeface="Arial"/>
              </a:rPr>
              <a:t> </a:t>
            </a:r>
            <a:r>
              <a:rPr sz="1800" spc="-10" dirty="0">
                <a:latin typeface="Arial"/>
                <a:cs typeface="Arial"/>
              </a:rPr>
              <a:t>đoán.</a:t>
            </a:r>
            <a:endParaRPr sz="1800">
              <a:latin typeface="Arial"/>
              <a:cs typeface="Arial"/>
            </a:endParaRPr>
          </a:p>
          <a:p>
            <a:pPr marL="299085" marR="5080" indent="-287020">
              <a:lnSpc>
                <a:spcPct val="150000"/>
              </a:lnSpc>
              <a:buChar char="•"/>
              <a:tabLst>
                <a:tab pos="299085" algn="l"/>
                <a:tab pos="299720" algn="l"/>
              </a:tabLst>
            </a:pPr>
            <a:r>
              <a:rPr sz="1800" spc="-10" dirty="0">
                <a:latin typeface="Arial"/>
                <a:cs typeface="Arial"/>
              </a:rPr>
              <a:t>Decision</a:t>
            </a:r>
            <a:r>
              <a:rPr sz="1800" spc="-165" dirty="0">
                <a:latin typeface="Arial"/>
                <a:cs typeface="Arial"/>
              </a:rPr>
              <a:t> </a:t>
            </a:r>
            <a:r>
              <a:rPr sz="1800" spc="-120" dirty="0">
                <a:latin typeface="Arial"/>
                <a:cs typeface="Arial"/>
              </a:rPr>
              <a:t>Tree</a:t>
            </a:r>
            <a:r>
              <a:rPr sz="1800" spc="-130" dirty="0">
                <a:latin typeface="Arial"/>
                <a:cs typeface="Arial"/>
              </a:rPr>
              <a:t> </a:t>
            </a:r>
            <a:r>
              <a:rPr sz="1800" spc="5" dirty="0">
                <a:latin typeface="Arial"/>
                <a:cs typeface="Arial"/>
              </a:rPr>
              <a:t>học</a:t>
            </a:r>
            <a:r>
              <a:rPr sz="1800" spc="-150" dirty="0">
                <a:latin typeface="Arial"/>
                <a:cs typeface="Arial"/>
              </a:rPr>
              <a:t> </a:t>
            </a:r>
            <a:r>
              <a:rPr sz="1800" spc="10" dirty="0">
                <a:latin typeface="Arial"/>
                <a:cs typeface="Arial"/>
              </a:rPr>
              <a:t>các</a:t>
            </a:r>
            <a:r>
              <a:rPr sz="1800" spc="-140" dirty="0">
                <a:latin typeface="Arial"/>
                <a:cs typeface="Arial"/>
              </a:rPr>
              <a:t> </a:t>
            </a:r>
            <a:r>
              <a:rPr sz="1800" spc="-10" dirty="0">
                <a:latin typeface="Arial"/>
                <a:cs typeface="Arial"/>
              </a:rPr>
              <a:t>điều</a:t>
            </a:r>
            <a:r>
              <a:rPr sz="1800" spc="-140" dirty="0">
                <a:latin typeface="Arial"/>
                <a:cs typeface="Arial"/>
              </a:rPr>
              <a:t> </a:t>
            </a:r>
            <a:r>
              <a:rPr sz="1800" spc="-20" dirty="0">
                <a:latin typeface="Arial"/>
                <a:cs typeface="Arial"/>
              </a:rPr>
              <a:t>kiện</a:t>
            </a:r>
            <a:r>
              <a:rPr sz="1800" spc="-150" dirty="0">
                <a:latin typeface="Arial"/>
                <a:cs typeface="Arial"/>
              </a:rPr>
              <a:t> </a:t>
            </a:r>
            <a:r>
              <a:rPr sz="1800" spc="-25" dirty="0">
                <a:latin typeface="Arial"/>
                <a:cs typeface="Arial"/>
              </a:rPr>
              <a:t>để</a:t>
            </a:r>
            <a:r>
              <a:rPr sz="1800" spc="-130" dirty="0">
                <a:latin typeface="Arial"/>
                <a:cs typeface="Arial"/>
              </a:rPr>
              <a:t> </a:t>
            </a:r>
            <a:r>
              <a:rPr sz="1800" spc="-15" dirty="0">
                <a:latin typeface="Arial"/>
                <a:cs typeface="Arial"/>
              </a:rPr>
              <a:t>phân</a:t>
            </a:r>
            <a:r>
              <a:rPr sz="1800" spc="-150" dirty="0">
                <a:latin typeface="Arial"/>
                <a:cs typeface="Arial"/>
              </a:rPr>
              <a:t> </a:t>
            </a:r>
            <a:r>
              <a:rPr sz="1800" spc="5" dirty="0">
                <a:latin typeface="Arial"/>
                <a:cs typeface="Arial"/>
              </a:rPr>
              <a:t>chia</a:t>
            </a:r>
            <a:r>
              <a:rPr sz="1800" spc="-150" dirty="0">
                <a:latin typeface="Arial"/>
                <a:cs typeface="Arial"/>
              </a:rPr>
              <a:t> </a:t>
            </a:r>
            <a:r>
              <a:rPr sz="1800" spc="-60" dirty="0">
                <a:latin typeface="Arial"/>
                <a:cs typeface="Arial"/>
              </a:rPr>
              <a:t>dựa  </a:t>
            </a:r>
            <a:r>
              <a:rPr sz="1800" spc="-10" dirty="0">
                <a:latin typeface="Arial"/>
                <a:cs typeface="Arial"/>
              </a:rPr>
              <a:t>trên </a:t>
            </a:r>
            <a:r>
              <a:rPr sz="1800" spc="10" dirty="0">
                <a:latin typeface="Arial"/>
                <a:cs typeface="Arial"/>
              </a:rPr>
              <a:t>các metrics </a:t>
            </a:r>
            <a:r>
              <a:rPr sz="1800" spc="-50" dirty="0">
                <a:latin typeface="Arial"/>
                <a:cs typeface="Arial"/>
              </a:rPr>
              <a:t>như Entropy, </a:t>
            </a:r>
            <a:r>
              <a:rPr sz="1800" dirty="0">
                <a:latin typeface="Arial"/>
                <a:cs typeface="Arial"/>
              </a:rPr>
              <a:t>Information </a:t>
            </a:r>
            <a:r>
              <a:rPr sz="1800" spc="-30" dirty="0">
                <a:latin typeface="Arial"/>
                <a:cs typeface="Arial"/>
              </a:rPr>
              <a:t>Gain,  </a:t>
            </a:r>
            <a:r>
              <a:rPr sz="1800" spc="-20" dirty="0">
                <a:latin typeface="Arial"/>
                <a:cs typeface="Arial"/>
              </a:rPr>
              <a:t>Gini</a:t>
            </a:r>
            <a:r>
              <a:rPr sz="1800" spc="-155" dirty="0">
                <a:latin typeface="Arial"/>
                <a:cs typeface="Arial"/>
              </a:rPr>
              <a:t> </a:t>
            </a:r>
            <a:r>
              <a:rPr sz="1800" spc="-70" dirty="0">
                <a:latin typeface="Arial"/>
                <a:cs typeface="Arial"/>
              </a:rPr>
              <a:t>index,…</a:t>
            </a:r>
            <a:endParaRPr sz="1800">
              <a:latin typeface="Arial"/>
              <a:cs typeface="Arial"/>
            </a:endParaRPr>
          </a:p>
        </p:txBody>
      </p:sp>
      <p:sp>
        <p:nvSpPr>
          <p:cNvPr id="5" name="object 5"/>
          <p:cNvSpPr/>
          <p:nvPr/>
        </p:nvSpPr>
        <p:spPr>
          <a:xfrm>
            <a:off x="8513826" y="936497"/>
            <a:ext cx="1207135" cy="923925"/>
          </a:xfrm>
          <a:custGeom>
            <a:avLst/>
            <a:gdLst/>
            <a:ahLst/>
            <a:cxnLst/>
            <a:rect l="l" t="t" r="r" b="b"/>
            <a:pathLst>
              <a:path w="1207134" h="923925">
                <a:moveTo>
                  <a:pt x="0" y="461772"/>
                </a:moveTo>
                <a:lnTo>
                  <a:pt x="2466" y="419741"/>
                </a:lnTo>
                <a:lnTo>
                  <a:pt x="9723" y="378768"/>
                </a:lnTo>
                <a:lnTo>
                  <a:pt x="21557" y="339015"/>
                </a:lnTo>
                <a:lnTo>
                  <a:pt x="37756" y="300645"/>
                </a:lnTo>
                <a:lnTo>
                  <a:pt x="58106" y="263821"/>
                </a:lnTo>
                <a:lnTo>
                  <a:pt x="82394" y="228707"/>
                </a:lnTo>
                <a:lnTo>
                  <a:pt x="110408" y="195465"/>
                </a:lnTo>
                <a:lnTo>
                  <a:pt x="141934" y="164258"/>
                </a:lnTo>
                <a:lnTo>
                  <a:pt x="176760" y="135250"/>
                </a:lnTo>
                <a:lnTo>
                  <a:pt x="214671" y="108603"/>
                </a:lnTo>
                <a:lnTo>
                  <a:pt x="255456" y="84480"/>
                </a:lnTo>
                <a:lnTo>
                  <a:pt x="298901" y="63045"/>
                </a:lnTo>
                <a:lnTo>
                  <a:pt x="344793" y="44460"/>
                </a:lnTo>
                <a:lnTo>
                  <a:pt x="392919" y="28889"/>
                </a:lnTo>
                <a:lnTo>
                  <a:pt x="443066" y="16495"/>
                </a:lnTo>
                <a:lnTo>
                  <a:pt x="495021" y="7439"/>
                </a:lnTo>
                <a:lnTo>
                  <a:pt x="548572" y="1887"/>
                </a:lnTo>
                <a:lnTo>
                  <a:pt x="603504" y="0"/>
                </a:lnTo>
                <a:lnTo>
                  <a:pt x="658435" y="1887"/>
                </a:lnTo>
                <a:lnTo>
                  <a:pt x="711986" y="7439"/>
                </a:lnTo>
                <a:lnTo>
                  <a:pt x="763941" y="16495"/>
                </a:lnTo>
                <a:lnTo>
                  <a:pt x="814088" y="28889"/>
                </a:lnTo>
                <a:lnTo>
                  <a:pt x="862214" y="44460"/>
                </a:lnTo>
                <a:lnTo>
                  <a:pt x="908106" y="63045"/>
                </a:lnTo>
                <a:lnTo>
                  <a:pt x="951551" y="84480"/>
                </a:lnTo>
                <a:lnTo>
                  <a:pt x="992336" y="108603"/>
                </a:lnTo>
                <a:lnTo>
                  <a:pt x="1030247" y="135250"/>
                </a:lnTo>
                <a:lnTo>
                  <a:pt x="1065073" y="164258"/>
                </a:lnTo>
                <a:lnTo>
                  <a:pt x="1096599" y="195465"/>
                </a:lnTo>
                <a:lnTo>
                  <a:pt x="1124613" y="228707"/>
                </a:lnTo>
                <a:lnTo>
                  <a:pt x="1148901" y="263821"/>
                </a:lnTo>
                <a:lnTo>
                  <a:pt x="1169251" y="300645"/>
                </a:lnTo>
                <a:lnTo>
                  <a:pt x="1185450" y="339015"/>
                </a:lnTo>
                <a:lnTo>
                  <a:pt x="1197284" y="378768"/>
                </a:lnTo>
                <a:lnTo>
                  <a:pt x="1204541" y="419741"/>
                </a:lnTo>
                <a:lnTo>
                  <a:pt x="1207008" y="461772"/>
                </a:lnTo>
                <a:lnTo>
                  <a:pt x="1204541" y="503802"/>
                </a:lnTo>
                <a:lnTo>
                  <a:pt x="1197284" y="544775"/>
                </a:lnTo>
                <a:lnTo>
                  <a:pt x="1185450" y="584528"/>
                </a:lnTo>
                <a:lnTo>
                  <a:pt x="1169251" y="622898"/>
                </a:lnTo>
                <a:lnTo>
                  <a:pt x="1148901" y="659722"/>
                </a:lnTo>
                <a:lnTo>
                  <a:pt x="1124613" y="694836"/>
                </a:lnTo>
                <a:lnTo>
                  <a:pt x="1096599" y="728078"/>
                </a:lnTo>
                <a:lnTo>
                  <a:pt x="1065073" y="759285"/>
                </a:lnTo>
                <a:lnTo>
                  <a:pt x="1030247" y="788293"/>
                </a:lnTo>
                <a:lnTo>
                  <a:pt x="992336" y="814940"/>
                </a:lnTo>
                <a:lnTo>
                  <a:pt x="951551" y="839063"/>
                </a:lnTo>
                <a:lnTo>
                  <a:pt x="908106" y="860498"/>
                </a:lnTo>
                <a:lnTo>
                  <a:pt x="862214" y="879083"/>
                </a:lnTo>
                <a:lnTo>
                  <a:pt x="814088" y="894654"/>
                </a:lnTo>
                <a:lnTo>
                  <a:pt x="763941" y="907048"/>
                </a:lnTo>
                <a:lnTo>
                  <a:pt x="711986" y="916104"/>
                </a:lnTo>
                <a:lnTo>
                  <a:pt x="658435" y="921656"/>
                </a:lnTo>
                <a:lnTo>
                  <a:pt x="603504" y="923544"/>
                </a:lnTo>
                <a:lnTo>
                  <a:pt x="548572" y="921656"/>
                </a:lnTo>
                <a:lnTo>
                  <a:pt x="495021" y="916104"/>
                </a:lnTo>
                <a:lnTo>
                  <a:pt x="443066" y="907048"/>
                </a:lnTo>
                <a:lnTo>
                  <a:pt x="392919" y="894654"/>
                </a:lnTo>
                <a:lnTo>
                  <a:pt x="344793" y="879083"/>
                </a:lnTo>
                <a:lnTo>
                  <a:pt x="298901" y="860498"/>
                </a:lnTo>
                <a:lnTo>
                  <a:pt x="255456" y="839063"/>
                </a:lnTo>
                <a:lnTo>
                  <a:pt x="214671" y="814940"/>
                </a:lnTo>
                <a:lnTo>
                  <a:pt x="176760" y="788293"/>
                </a:lnTo>
                <a:lnTo>
                  <a:pt x="141934" y="759285"/>
                </a:lnTo>
                <a:lnTo>
                  <a:pt x="110408" y="728078"/>
                </a:lnTo>
                <a:lnTo>
                  <a:pt x="82394" y="694836"/>
                </a:lnTo>
                <a:lnTo>
                  <a:pt x="58106" y="659722"/>
                </a:lnTo>
                <a:lnTo>
                  <a:pt x="37756" y="622898"/>
                </a:lnTo>
                <a:lnTo>
                  <a:pt x="21557" y="584528"/>
                </a:lnTo>
                <a:lnTo>
                  <a:pt x="9723" y="544775"/>
                </a:lnTo>
                <a:lnTo>
                  <a:pt x="2466" y="503802"/>
                </a:lnTo>
                <a:lnTo>
                  <a:pt x="0" y="461772"/>
                </a:lnTo>
                <a:close/>
              </a:path>
            </a:pathLst>
          </a:custGeom>
          <a:ln w="19050">
            <a:solidFill>
              <a:srgbClr val="042333"/>
            </a:solidFill>
          </a:ln>
        </p:spPr>
        <p:txBody>
          <a:bodyPr wrap="square" lIns="0" tIns="0" rIns="0" bIns="0" rtlCol="0"/>
          <a:lstStyle/>
          <a:p>
            <a:endParaRPr/>
          </a:p>
        </p:txBody>
      </p:sp>
      <p:sp>
        <p:nvSpPr>
          <p:cNvPr id="6" name="object 6"/>
          <p:cNvSpPr txBox="1"/>
          <p:nvPr/>
        </p:nvSpPr>
        <p:spPr>
          <a:xfrm>
            <a:off x="8595493" y="1229456"/>
            <a:ext cx="1041400" cy="299720"/>
          </a:xfrm>
          <a:prstGeom prst="rect">
            <a:avLst/>
          </a:prstGeom>
        </p:spPr>
        <p:txBody>
          <a:bodyPr vert="horz" wrap="square" lIns="0" tIns="12700" rIns="0" bIns="0" rtlCol="0">
            <a:spAutoFit/>
          </a:bodyPr>
          <a:lstStyle/>
          <a:p>
            <a:pPr marL="38100">
              <a:lnSpc>
                <a:spcPct val="100000"/>
              </a:lnSpc>
              <a:spcBef>
                <a:spcPts val="100"/>
              </a:spcBef>
            </a:pPr>
            <a:r>
              <a:rPr sz="1800" spc="-455" dirty="0">
                <a:latin typeface="Cambria Math"/>
                <a:cs typeface="Cambria Math"/>
              </a:rPr>
              <a:t>𝑋</a:t>
            </a:r>
            <a:r>
              <a:rPr sz="1950" spc="-682" baseline="-14957" dirty="0">
                <a:latin typeface="Cambria Math"/>
                <a:cs typeface="Cambria Math"/>
              </a:rPr>
              <a:t>1</a:t>
            </a:r>
            <a:r>
              <a:rPr sz="1950" spc="367" baseline="-14957" dirty="0">
                <a:latin typeface="Cambria Math"/>
                <a:cs typeface="Cambria Math"/>
              </a:rPr>
              <a:t> </a:t>
            </a:r>
            <a:r>
              <a:rPr sz="1800" dirty="0">
                <a:latin typeface="Cambria Math"/>
                <a:cs typeface="Cambria Math"/>
              </a:rPr>
              <a:t>&lt;</a:t>
            </a:r>
            <a:r>
              <a:rPr sz="1800" spc="70" dirty="0">
                <a:latin typeface="Cambria Math"/>
                <a:cs typeface="Cambria Math"/>
              </a:rPr>
              <a:t> </a:t>
            </a:r>
            <a:r>
              <a:rPr sz="1800" dirty="0">
                <a:latin typeface="Cambria Math"/>
                <a:cs typeface="Cambria Math"/>
              </a:rPr>
              <a:t>0.02</a:t>
            </a:r>
          </a:p>
        </p:txBody>
      </p:sp>
      <p:sp>
        <p:nvSpPr>
          <p:cNvPr id="7" name="object 7"/>
          <p:cNvSpPr/>
          <p:nvPr/>
        </p:nvSpPr>
        <p:spPr>
          <a:xfrm>
            <a:off x="7622285" y="2111501"/>
            <a:ext cx="1205865" cy="923925"/>
          </a:xfrm>
          <a:custGeom>
            <a:avLst/>
            <a:gdLst/>
            <a:ahLst/>
            <a:cxnLst/>
            <a:rect l="l" t="t" r="r" b="b"/>
            <a:pathLst>
              <a:path w="1205865" h="923925">
                <a:moveTo>
                  <a:pt x="0" y="461772"/>
                </a:moveTo>
                <a:lnTo>
                  <a:pt x="2463" y="419741"/>
                </a:lnTo>
                <a:lnTo>
                  <a:pt x="9711" y="378768"/>
                </a:lnTo>
                <a:lnTo>
                  <a:pt x="21530" y="339015"/>
                </a:lnTo>
                <a:lnTo>
                  <a:pt x="37709" y="300645"/>
                </a:lnTo>
                <a:lnTo>
                  <a:pt x="58034" y="263821"/>
                </a:lnTo>
                <a:lnTo>
                  <a:pt x="82293" y="228707"/>
                </a:lnTo>
                <a:lnTo>
                  <a:pt x="110272" y="195465"/>
                </a:lnTo>
                <a:lnTo>
                  <a:pt x="141759" y="164258"/>
                </a:lnTo>
                <a:lnTo>
                  <a:pt x="176541" y="135250"/>
                </a:lnTo>
                <a:lnTo>
                  <a:pt x="214405" y="108603"/>
                </a:lnTo>
                <a:lnTo>
                  <a:pt x="255138" y="84480"/>
                </a:lnTo>
                <a:lnTo>
                  <a:pt x="298529" y="63045"/>
                </a:lnTo>
                <a:lnTo>
                  <a:pt x="344363" y="44460"/>
                </a:lnTo>
                <a:lnTo>
                  <a:pt x="392428" y="28889"/>
                </a:lnTo>
                <a:lnTo>
                  <a:pt x="442511" y="16495"/>
                </a:lnTo>
                <a:lnTo>
                  <a:pt x="494399" y="7439"/>
                </a:lnTo>
                <a:lnTo>
                  <a:pt x="547881" y="1887"/>
                </a:lnTo>
                <a:lnTo>
                  <a:pt x="602742" y="0"/>
                </a:lnTo>
                <a:lnTo>
                  <a:pt x="657602" y="1887"/>
                </a:lnTo>
                <a:lnTo>
                  <a:pt x="711084" y="7439"/>
                </a:lnTo>
                <a:lnTo>
                  <a:pt x="762972" y="16495"/>
                </a:lnTo>
                <a:lnTo>
                  <a:pt x="813055" y="28889"/>
                </a:lnTo>
                <a:lnTo>
                  <a:pt x="861120" y="44460"/>
                </a:lnTo>
                <a:lnTo>
                  <a:pt x="906954" y="63045"/>
                </a:lnTo>
                <a:lnTo>
                  <a:pt x="950345" y="84480"/>
                </a:lnTo>
                <a:lnTo>
                  <a:pt x="991078" y="108603"/>
                </a:lnTo>
                <a:lnTo>
                  <a:pt x="1028942" y="135250"/>
                </a:lnTo>
                <a:lnTo>
                  <a:pt x="1063724" y="164258"/>
                </a:lnTo>
                <a:lnTo>
                  <a:pt x="1095211" y="195465"/>
                </a:lnTo>
                <a:lnTo>
                  <a:pt x="1123190" y="228707"/>
                </a:lnTo>
                <a:lnTo>
                  <a:pt x="1147449" y="263821"/>
                </a:lnTo>
                <a:lnTo>
                  <a:pt x="1167774" y="300645"/>
                </a:lnTo>
                <a:lnTo>
                  <a:pt x="1183953" y="339015"/>
                </a:lnTo>
                <a:lnTo>
                  <a:pt x="1195772" y="378768"/>
                </a:lnTo>
                <a:lnTo>
                  <a:pt x="1203020" y="419741"/>
                </a:lnTo>
                <a:lnTo>
                  <a:pt x="1205484" y="461772"/>
                </a:lnTo>
                <a:lnTo>
                  <a:pt x="1203020" y="503802"/>
                </a:lnTo>
                <a:lnTo>
                  <a:pt x="1195772" y="544775"/>
                </a:lnTo>
                <a:lnTo>
                  <a:pt x="1183953" y="584528"/>
                </a:lnTo>
                <a:lnTo>
                  <a:pt x="1167774" y="622898"/>
                </a:lnTo>
                <a:lnTo>
                  <a:pt x="1147449" y="659722"/>
                </a:lnTo>
                <a:lnTo>
                  <a:pt x="1123190" y="694836"/>
                </a:lnTo>
                <a:lnTo>
                  <a:pt x="1095211" y="728078"/>
                </a:lnTo>
                <a:lnTo>
                  <a:pt x="1063724" y="759285"/>
                </a:lnTo>
                <a:lnTo>
                  <a:pt x="1028942" y="788293"/>
                </a:lnTo>
                <a:lnTo>
                  <a:pt x="991078" y="814940"/>
                </a:lnTo>
                <a:lnTo>
                  <a:pt x="950345" y="839063"/>
                </a:lnTo>
                <a:lnTo>
                  <a:pt x="906954" y="860498"/>
                </a:lnTo>
                <a:lnTo>
                  <a:pt x="861120" y="879083"/>
                </a:lnTo>
                <a:lnTo>
                  <a:pt x="813055" y="894654"/>
                </a:lnTo>
                <a:lnTo>
                  <a:pt x="762972" y="907048"/>
                </a:lnTo>
                <a:lnTo>
                  <a:pt x="711084" y="916104"/>
                </a:lnTo>
                <a:lnTo>
                  <a:pt x="657602" y="921656"/>
                </a:lnTo>
                <a:lnTo>
                  <a:pt x="602742" y="923544"/>
                </a:lnTo>
                <a:lnTo>
                  <a:pt x="547881" y="921656"/>
                </a:lnTo>
                <a:lnTo>
                  <a:pt x="494399" y="916104"/>
                </a:lnTo>
                <a:lnTo>
                  <a:pt x="442511" y="907048"/>
                </a:lnTo>
                <a:lnTo>
                  <a:pt x="392428" y="894654"/>
                </a:lnTo>
                <a:lnTo>
                  <a:pt x="344363" y="879083"/>
                </a:lnTo>
                <a:lnTo>
                  <a:pt x="298529" y="860498"/>
                </a:lnTo>
                <a:lnTo>
                  <a:pt x="255138" y="839063"/>
                </a:lnTo>
                <a:lnTo>
                  <a:pt x="214405" y="814940"/>
                </a:lnTo>
                <a:lnTo>
                  <a:pt x="176541" y="788293"/>
                </a:lnTo>
                <a:lnTo>
                  <a:pt x="141759" y="759285"/>
                </a:lnTo>
                <a:lnTo>
                  <a:pt x="110272" y="728078"/>
                </a:lnTo>
                <a:lnTo>
                  <a:pt x="82293" y="694836"/>
                </a:lnTo>
                <a:lnTo>
                  <a:pt x="58034" y="659722"/>
                </a:lnTo>
                <a:lnTo>
                  <a:pt x="37709" y="622898"/>
                </a:lnTo>
                <a:lnTo>
                  <a:pt x="21530" y="584528"/>
                </a:lnTo>
                <a:lnTo>
                  <a:pt x="9711" y="544775"/>
                </a:lnTo>
                <a:lnTo>
                  <a:pt x="2463" y="503802"/>
                </a:lnTo>
                <a:lnTo>
                  <a:pt x="0" y="461772"/>
                </a:lnTo>
                <a:close/>
              </a:path>
            </a:pathLst>
          </a:custGeom>
          <a:ln w="19050">
            <a:solidFill>
              <a:srgbClr val="042333"/>
            </a:solidFill>
          </a:ln>
        </p:spPr>
        <p:txBody>
          <a:bodyPr wrap="square" lIns="0" tIns="0" rIns="0" bIns="0" rtlCol="0"/>
          <a:lstStyle/>
          <a:p>
            <a:endParaRPr/>
          </a:p>
        </p:txBody>
      </p:sp>
      <p:sp>
        <p:nvSpPr>
          <p:cNvPr id="8" name="object 8"/>
          <p:cNvSpPr txBox="1"/>
          <p:nvPr/>
        </p:nvSpPr>
        <p:spPr>
          <a:xfrm>
            <a:off x="7636895" y="2404388"/>
            <a:ext cx="1172210" cy="299720"/>
          </a:xfrm>
          <a:prstGeom prst="rect">
            <a:avLst/>
          </a:prstGeom>
        </p:spPr>
        <p:txBody>
          <a:bodyPr vert="horz" wrap="square" lIns="0" tIns="12700" rIns="0" bIns="0" rtlCol="0">
            <a:spAutoFit/>
          </a:bodyPr>
          <a:lstStyle/>
          <a:p>
            <a:pPr marL="38100">
              <a:lnSpc>
                <a:spcPct val="100000"/>
              </a:lnSpc>
              <a:spcBef>
                <a:spcPts val="100"/>
              </a:spcBef>
            </a:pPr>
            <a:r>
              <a:rPr sz="1800" spc="-405" dirty="0">
                <a:latin typeface="Cambria Math"/>
                <a:cs typeface="Cambria Math"/>
              </a:rPr>
              <a:t>𝑋</a:t>
            </a:r>
            <a:r>
              <a:rPr sz="1950" spc="-607" baseline="-14957" dirty="0">
                <a:latin typeface="Cambria Math"/>
                <a:cs typeface="Cambria Math"/>
              </a:rPr>
              <a:t>2</a:t>
            </a:r>
            <a:r>
              <a:rPr sz="1950" spc="382" baseline="-14957" dirty="0">
                <a:latin typeface="Cambria Math"/>
                <a:cs typeface="Cambria Math"/>
              </a:rPr>
              <a:t> </a:t>
            </a:r>
            <a:r>
              <a:rPr sz="1800" dirty="0">
                <a:latin typeface="Cambria Math"/>
                <a:cs typeface="Cambria Math"/>
              </a:rPr>
              <a:t>&lt;</a:t>
            </a:r>
            <a:r>
              <a:rPr sz="1800" spc="75" dirty="0">
                <a:latin typeface="Cambria Math"/>
                <a:cs typeface="Cambria Math"/>
              </a:rPr>
              <a:t> </a:t>
            </a:r>
            <a:r>
              <a:rPr sz="1800" spc="-5" dirty="0">
                <a:latin typeface="Cambria Math"/>
                <a:cs typeface="Cambria Math"/>
              </a:rPr>
              <a:t>0.014</a:t>
            </a:r>
            <a:endParaRPr sz="1800" dirty="0">
              <a:latin typeface="Cambria Math"/>
              <a:cs typeface="Cambria Math"/>
            </a:endParaRPr>
          </a:p>
        </p:txBody>
      </p:sp>
      <p:sp>
        <p:nvSpPr>
          <p:cNvPr id="9" name="object 9"/>
          <p:cNvSpPr/>
          <p:nvPr/>
        </p:nvSpPr>
        <p:spPr>
          <a:xfrm>
            <a:off x="9448038" y="2111501"/>
            <a:ext cx="1207135" cy="923925"/>
          </a:xfrm>
          <a:custGeom>
            <a:avLst/>
            <a:gdLst/>
            <a:ahLst/>
            <a:cxnLst/>
            <a:rect l="l" t="t" r="r" b="b"/>
            <a:pathLst>
              <a:path w="1207134" h="923925">
                <a:moveTo>
                  <a:pt x="0" y="461772"/>
                </a:moveTo>
                <a:lnTo>
                  <a:pt x="2466" y="419741"/>
                </a:lnTo>
                <a:lnTo>
                  <a:pt x="9723" y="378768"/>
                </a:lnTo>
                <a:lnTo>
                  <a:pt x="21557" y="339015"/>
                </a:lnTo>
                <a:lnTo>
                  <a:pt x="37756" y="300645"/>
                </a:lnTo>
                <a:lnTo>
                  <a:pt x="58106" y="263821"/>
                </a:lnTo>
                <a:lnTo>
                  <a:pt x="82394" y="228707"/>
                </a:lnTo>
                <a:lnTo>
                  <a:pt x="110408" y="195465"/>
                </a:lnTo>
                <a:lnTo>
                  <a:pt x="141934" y="164258"/>
                </a:lnTo>
                <a:lnTo>
                  <a:pt x="176760" y="135250"/>
                </a:lnTo>
                <a:lnTo>
                  <a:pt x="214671" y="108603"/>
                </a:lnTo>
                <a:lnTo>
                  <a:pt x="255456" y="84480"/>
                </a:lnTo>
                <a:lnTo>
                  <a:pt x="298901" y="63045"/>
                </a:lnTo>
                <a:lnTo>
                  <a:pt x="344793" y="44460"/>
                </a:lnTo>
                <a:lnTo>
                  <a:pt x="392919" y="28889"/>
                </a:lnTo>
                <a:lnTo>
                  <a:pt x="443066" y="16495"/>
                </a:lnTo>
                <a:lnTo>
                  <a:pt x="495021" y="7439"/>
                </a:lnTo>
                <a:lnTo>
                  <a:pt x="548572" y="1887"/>
                </a:lnTo>
                <a:lnTo>
                  <a:pt x="603504" y="0"/>
                </a:lnTo>
                <a:lnTo>
                  <a:pt x="658435" y="1887"/>
                </a:lnTo>
                <a:lnTo>
                  <a:pt x="711986" y="7439"/>
                </a:lnTo>
                <a:lnTo>
                  <a:pt x="763941" y="16495"/>
                </a:lnTo>
                <a:lnTo>
                  <a:pt x="814088" y="28889"/>
                </a:lnTo>
                <a:lnTo>
                  <a:pt x="862214" y="44460"/>
                </a:lnTo>
                <a:lnTo>
                  <a:pt x="908106" y="63045"/>
                </a:lnTo>
                <a:lnTo>
                  <a:pt x="951551" y="84480"/>
                </a:lnTo>
                <a:lnTo>
                  <a:pt x="992336" y="108603"/>
                </a:lnTo>
                <a:lnTo>
                  <a:pt x="1030247" y="135250"/>
                </a:lnTo>
                <a:lnTo>
                  <a:pt x="1065073" y="164258"/>
                </a:lnTo>
                <a:lnTo>
                  <a:pt x="1096599" y="195465"/>
                </a:lnTo>
                <a:lnTo>
                  <a:pt x="1124613" y="228707"/>
                </a:lnTo>
                <a:lnTo>
                  <a:pt x="1148901" y="263821"/>
                </a:lnTo>
                <a:lnTo>
                  <a:pt x="1169251" y="300645"/>
                </a:lnTo>
                <a:lnTo>
                  <a:pt x="1185450" y="339015"/>
                </a:lnTo>
                <a:lnTo>
                  <a:pt x="1197284" y="378768"/>
                </a:lnTo>
                <a:lnTo>
                  <a:pt x="1204541" y="419741"/>
                </a:lnTo>
                <a:lnTo>
                  <a:pt x="1207008" y="461772"/>
                </a:lnTo>
                <a:lnTo>
                  <a:pt x="1204541" y="503802"/>
                </a:lnTo>
                <a:lnTo>
                  <a:pt x="1197284" y="544775"/>
                </a:lnTo>
                <a:lnTo>
                  <a:pt x="1185450" y="584528"/>
                </a:lnTo>
                <a:lnTo>
                  <a:pt x="1169251" y="622898"/>
                </a:lnTo>
                <a:lnTo>
                  <a:pt x="1148901" y="659722"/>
                </a:lnTo>
                <a:lnTo>
                  <a:pt x="1124613" y="694836"/>
                </a:lnTo>
                <a:lnTo>
                  <a:pt x="1096599" y="728078"/>
                </a:lnTo>
                <a:lnTo>
                  <a:pt x="1065073" y="759285"/>
                </a:lnTo>
                <a:lnTo>
                  <a:pt x="1030247" y="788293"/>
                </a:lnTo>
                <a:lnTo>
                  <a:pt x="992336" y="814940"/>
                </a:lnTo>
                <a:lnTo>
                  <a:pt x="951551" y="839063"/>
                </a:lnTo>
                <a:lnTo>
                  <a:pt x="908106" y="860498"/>
                </a:lnTo>
                <a:lnTo>
                  <a:pt x="862214" y="879083"/>
                </a:lnTo>
                <a:lnTo>
                  <a:pt x="814088" y="894654"/>
                </a:lnTo>
                <a:lnTo>
                  <a:pt x="763941" y="907048"/>
                </a:lnTo>
                <a:lnTo>
                  <a:pt x="711986" y="916104"/>
                </a:lnTo>
                <a:lnTo>
                  <a:pt x="658435" y="921656"/>
                </a:lnTo>
                <a:lnTo>
                  <a:pt x="603504" y="923544"/>
                </a:lnTo>
                <a:lnTo>
                  <a:pt x="548572" y="921656"/>
                </a:lnTo>
                <a:lnTo>
                  <a:pt x="495021" y="916104"/>
                </a:lnTo>
                <a:lnTo>
                  <a:pt x="443066" y="907048"/>
                </a:lnTo>
                <a:lnTo>
                  <a:pt x="392919" y="894654"/>
                </a:lnTo>
                <a:lnTo>
                  <a:pt x="344793" y="879083"/>
                </a:lnTo>
                <a:lnTo>
                  <a:pt x="298901" y="860498"/>
                </a:lnTo>
                <a:lnTo>
                  <a:pt x="255456" y="839063"/>
                </a:lnTo>
                <a:lnTo>
                  <a:pt x="214671" y="814940"/>
                </a:lnTo>
                <a:lnTo>
                  <a:pt x="176760" y="788293"/>
                </a:lnTo>
                <a:lnTo>
                  <a:pt x="141934" y="759285"/>
                </a:lnTo>
                <a:lnTo>
                  <a:pt x="110408" y="728078"/>
                </a:lnTo>
                <a:lnTo>
                  <a:pt x="82394" y="694836"/>
                </a:lnTo>
                <a:lnTo>
                  <a:pt x="58106" y="659722"/>
                </a:lnTo>
                <a:lnTo>
                  <a:pt x="37756" y="622898"/>
                </a:lnTo>
                <a:lnTo>
                  <a:pt x="21557" y="584528"/>
                </a:lnTo>
                <a:lnTo>
                  <a:pt x="9723" y="544775"/>
                </a:lnTo>
                <a:lnTo>
                  <a:pt x="2466" y="503802"/>
                </a:lnTo>
                <a:lnTo>
                  <a:pt x="0" y="461772"/>
                </a:lnTo>
                <a:close/>
              </a:path>
            </a:pathLst>
          </a:custGeom>
          <a:ln w="19050">
            <a:solidFill>
              <a:srgbClr val="042333"/>
            </a:solidFill>
          </a:ln>
        </p:spPr>
        <p:txBody>
          <a:bodyPr wrap="square" lIns="0" tIns="0" rIns="0" bIns="0" rtlCol="0"/>
          <a:lstStyle/>
          <a:p>
            <a:endParaRPr/>
          </a:p>
        </p:txBody>
      </p:sp>
      <p:sp>
        <p:nvSpPr>
          <p:cNvPr id="10" name="object 10"/>
          <p:cNvSpPr txBox="1"/>
          <p:nvPr/>
        </p:nvSpPr>
        <p:spPr>
          <a:xfrm>
            <a:off x="9443111" y="2373848"/>
            <a:ext cx="1172210" cy="299720"/>
          </a:xfrm>
          <a:prstGeom prst="rect">
            <a:avLst/>
          </a:prstGeom>
        </p:spPr>
        <p:txBody>
          <a:bodyPr vert="horz" wrap="square" lIns="0" tIns="12700" rIns="0" bIns="0" rtlCol="0">
            <a:spAutoFit/>
          </a:bodyPr>
          <a:lstStyle/>
          <a:p>
            <a:pPr marL="38100">
              <a:lnSpc>
                <a:spcPct val="100000"/>
              </a:lnSpc>
              <a:spcBef>
                <a:spcPts val="100"/>
              </a:spcBef>
            </a:pPr>
            <a:r>
              <a:rPr sz="1800" spc="-405" dirty="0">
                <a:latin typeface="Cambria Math"/>
                <a:cs typeface="Cambria Math"/>
              </a:rPr>
              <a:t>𝑋</a:t>
            </a:r>
            <a:r>
              <a:rPr sz="1950" spc="-607" baseline="-14957" dirty="0">
                <a:latin typeface="Cambria Math"/>
                <a:cs typeface="Cambria Math"/>
              </a:rPr>
              <a:t>2</a:t>
            </a:r>
            <a:r>
              <a:rPr sz="1950" spc="382" baseline="-14957" dirty="0">
                <a:latin typeface="Cambria Math"/>
                <a:cs typeface="Cambria Math"/>
              </a:rPr>
              <a:t> </a:t>
            </a:r>
            <a:r>
              <a:rPr sz="1800" dirty="0">
                <a:latin typeface="Cambria Math"/>
                <a:cs typeface="Cambria Math"/>
              </a:rPr>
              <a:t>&lt;</a:t>
            </a:r>
            <a:r>
              <a:rPr sz="1800" spc="75" dirty="0">
                <a:latin typeface="Cambria Math"/>
                <a:cs typeface="Cambria Math"/>
              </a:rPr>
              <a:t> </a:t>
            </a:r>
            <a:r>
              <a:rPr sz="1800" spc="-5" dirty="0">
                <a:latin typeface="Cambria Math"/>
                <a:cs typeface="Cambria Math"/>
              </a:rPr>
              <a:t>0.014</a:t>
            </a:r>
            <a:endParaRPr sz="1800" dirty="0">
              <a:latin typeface="Cambria Math"/>
              <a:cs typeface="Cambria Math"/>
            </a:endParaRPr>
          </a:p>
        </p:txBody>
      </p:sp>
      <p:sp>
        <p:nvSpPr>
          <p:cNvPr id="11" name="object 11"/>
          <p:cNvSpPr/>
          <p:nvPr/>
        </p:nvSpPr>
        <p:spPr>
          <a:xfrm>
            <a:off x="6739890" y="3530346"/>
            <a:ext cx="1207135" cy="923925"/>
          </a:xfrm>
          <a:custGeom>
            <a:avLst/>
            <a:gdLst/>
            <a:ahLst/>
            <a:cxnLst/>
            <a:rect l="l" t="t" r="r" b="b"/>
            <a:pathLst>
              <a:path w="1207134" h="923925">
                <a:moveTo>
                  <a:pt x="0" y="461771"/>
                </a:moveTo>
                <a:lnTo>
                  <a:pt x="2466" y="419741"/>
                </a:lnTo>
                <a:lnTo>
                  <a:pt x="9723" y="378768"/>
                </a:lnTo>
                <a:lnTo>
                  <a:pt x="21557" y="339015"/>
                </a:lnTo>
                <a:lnTo>
                  <a:pt x="37756" y="300645"/>
                </a:lnTo>
                <a:lnTo>
                  <a:pt x="58106" y="263821"/>
                </a:lnTo>
                <a:lnTo>
                  <a:pt x="82394" y="228707"/>
                </a:lnTo>
                <a:lnTo>
                  <a:pt x="110408" y="195465"/>
                </a:lnTo>
                <a:lnTo>
                  <a:pt x="141934" y="164258"/>
                </a:lnTo>
                <a:lnTo>
                  <a:pt x="176760" y="135250"/>
                </a:lnTo>
                <a:lnTo>
                  <a:pt x="214671" y="108603"/>
                </a:lnTo>
                <a:lnTo>
                  <a:pt x="255456" y="84480"/>
                </a:lnTo>
                <a:lnTo>
                  <a:pt x="298901" y="63045"/>
                </a:lnTo>
                <a:lnTo>
                  <a:pt x="344793" y="44460"/>
                </a:lnTo>
                <a:lnTo>
                  <a:pt x="392919" y="28889"/>
                </a:lnTo>
                <a:lnTo>
                  <a:pt x="443066" y="16495"/>
                </a:lnTo>
                <a:lnTo>
                  <a:pt x="495021" y="7439"/>
                </a:lnTo>
                <a:lnTo>
                  <a:pt x="548572" y="1887"/>
                </a:lnTo>
                <a:lnTo>
                  <a:pt x="603504" y="0"/>
                </a:lnTo>
                <a:lnTo>
                  <a:pt x="658435" y="1887"/>
                </a:lnTo>
                <a:lnTo>
                  <a:pt x="711986" y="7439"/>
                </a:lnTo>
                <a:lnTo>
                  <a:pt x="763941" y="16495"/>
                </a:lnTo>
                <a:lnTo>
                  <a:pt x="814088" y="28889"/>
                </a:lnTo>
                <a:lnTo>
                  <a:pt x="862214" y="44460"/>
                </a:lnTo>
                <a:lnTo>
                  <a:pt x="908106" y="63045"/>
                </a:lnTo>
                <a:lnTo>
                  <a:pt x="951551" y="84480"/>
                </a:lnTo>
                <a:lnTo>
                  <a:pt x="992336" y="108603"/>
                </a:lnTo>
                <a:lnTo>
                  <a:pt x="1030247" y="135250"/>
                </a:lnTo>
                <a:lnTo>
                  <a:pt x="1065073" y="164258"/>
                </a:lnTo>
                <a:lnTo>
                  <a:pt x="1096599" y="195465"/>
                </a:lnTo>
                <a:lnTo>
                  <a:pt x="1124613" y="228707"/>
                </a:lnTo>
                <a:lnTo>
                  <a:pt x="1148901" y="263821"/>
                </a:lnTo>
                <a:lnTo>
                  <a:pt x="1169251" y="300645"/>
                </a:lnTo>
                <a:lnTo>
                  <a:pt x="1185450" y="339015"/>
                </a:lnTo>
                <a:lnTo>
                  <a:pt x="1197284" y="378768"/>
                </a:lnTo>
                <a:lnTo>
                  <a:pt x="1204541" y="419741"/>
                </a:lnTo>
                <a:lnTo>
                  <a:pt x="1207008" y="461771"/>
                </a:lnTo>
                <a:lnTo>
                  <a:pt x="1204541" y="503802"/>
                </a:lnTo>
                <a:lnTo>
                  <a:pt x="1197284" y="544775"/>
                </a:lnTo>
                <a:lnTo>
                  <a:pt x="1185450" y="584528"/>
                </a:lnTo>
                <a:lnTo>
                  <a:pt x="1169251" y="622898"/>
                </a:lnTo>
                <a:lnTo>
                  <a:pt x="1148901" y="659722"/>
                </a:lnTo>
                <a:lnTo>
                  <a:pt x="1124613" y="694836"/>
                </a:lnTo>
                <a:lnTo>
                  <a:pt x="1096599" y="728078"/>
                </a:lnTo>
                <a:lnTo>
                  <a:pt x="1065073" y="759285"/>
                </a:lnTo>
                <a:lnTo>
                  <a:pt x="1030247" y="788293"/>
                </a:lnTo>
                <a:lnTo>
                  <a:pt x="992336" y="814940"/>
                </a:lnTo>
                <a:lnTo>
                  <a:pt x="951551" y="839063"/>
                </a:lnTo>
                <a:lnTo>
                  <a:pt x="908106" y="860498"/>
                </a:lnTo>
                <a:lnTo>
                  <a:pt x="862214" y="879083"/>
                </a:lnTo>
                <a:lnTo>
                  <a:pt x="814088" y="894654"/>
                </a:lnTo>
                <a:lnTo>
                  <a:pt x="763941" y="907048"/>
                </a:lnTo>
                <a:lnTo>
                  <a:pt x="711986" y="916104"/>
                </a:lnTo>
                <a:lnTo>
                  <a:pt x="658435" y="921656"/>
                </a:lnTo>
                <a:lnTo>
                  <a:pt x="603504" y="923543"/>
                </a:lnTo>
                <a:lnTo>
                  <a:pt x="548572" y="921656"/>
                </a:lnTo>
                <a:lnTo>
                  <a:pt x="495021" y="916104"/>
                </a:lnTo>
                <a:lnTo>
                  <a:pt x="443066" y="907048"/>
                </a:lnTo>
                <a:lnTo>
                  <a:pt x="392919" y="894654"/>
                </a:lnTo>
                <a:lnTo>
                  <a:pt x="344793" y="879083"/>
                </a:lnTo>
                <a:lnTo>
                  <a:pt x="298901" y="860498"/>
                </a:lnTo>
                <a:lnTo>
                  <a:pt x="255456" y="839063"/>
                </a:lnTo>
                <a:lnTo>
                  <a:pt x="214671" y="814940"/>
                </a:lnTo>
                <a:lnTo>
                  <a:pt x="176760" y="788293"/>
                </a:lnTo>
                <a:lnTo>
                  <a:pt x="141934" y="759285"/>
                </a:lnTo>
                <a:lnTo>
                  <a:pt x="110408" y="728078"/>
                </a:lnTo>
                <a:lnTo>
                  <a:pt x="82394" y="694836"/>
                </a:lnTo>
                <a:lnTo>
                  <a:pt x="58106" y="659722"/>
                </a:lnTo>
                <a:lnTo>
                  <a:pt x="37756" y="622898"/>
                </a:lnTo>
                <a:lnTo>
                  <a:pt x="21557" y="584528"/>
                </a:lnTo>
                <a:lnTo>
                  <a:pt x="9723" y="544775"/>
                </a:lnTo>
                <a:lnTo>
                  <a:pt x="2466" y="503802"/>
                </a:lnTo>
                <a:lnTo>
                  <a:pt x="0" y="461771"/>
                </a:lnTo>
                <a:close/>
              </a:path>
            </a:pathLst>
          </a:custGeom>
          <a:ln w="19050">
            <a:solidFill>
              <a:srgbClr val="042333"/>
            </a:solidFill>
          </a:ln>
        </p:spPr>
        <p:txBody>
          <a:bodyPr wrap="square" lIns="0" tIns="0" rIns="0" bIns="0" rtlCol="0"/>
          <a:lstStyle/>
          <a:p>
            <a:endParaRPr/>
          </a:p>
        </p:txBody>
      </p:sp>
      <p:sp>
        <p:nvSpPr>
          <p:cNvPr id="12" name="object 12"/>
          <p:cNvSpPr txBox="1"/>
          <p:nvPr/>
        </p:nvSpPr>
        <p:spPr>
          <a:xfrm>
            <a:off x="6821473" y="3823140"/>
            <a:ext cx="1045844" cy="299720"/>
          </a:xfrm>
          <a:prstGeom prst="rect">
            <a:avLst/>
          </a:prstGeom>
        </p:spPr>
        <p:txBody>
          <a:bodyPr vert="horz" wrap="square" lIns="0" tIns="12700" rIns="0" bIns="0" rtlCol="0">
            <a:spAutoFit/>
          </a:bodyPr>
          <a:lstStyle/>
          <a:p>
            <a:pPr marL="38100">
              <a:lnSpc>
                <a:spcPct val="100000"/>
              </a:lnSpc>
              <a:spcBef>
                <a:spcPts val="100"/>
              </a:spcBef>
            </a:pPr>
            <a:r>
              <a:rPr sz="1800" spc="-405" dirty="0">
                <a:latin typeface="Cambria Math"/>
                <a:cs typeface="Cambria Math"/>
              </a:rPr>
              <a:t>𝑋</a:t>
            </a:r>
            <a:r>
              <a:rPr sz="1950" spc="-607" baseline="-14957" dirty="0">
                <a:latin typeface="Cambria Math"/>
                <a:cs typeface="Cambria Math"/>
              </a:rPr>
              <a:t>3</a:t>
            </a:r>
            <a:r>
              <a:rPr sz="1950" spc="382" baseline="-14957" dirty="0">
                <a:latin typeface="Cambria Math"/>
                <a:cs typeface="Cambria Math"/>
              </a:rPr>
              <a:t> </a:t>
            </a:r>
            <a:r>
              <a:rPr sz="1800" dirty="0">
                <a:latin typeface="Cambria Math"/>
                <a:cs typeface="Cambria Math"/>
              </a:rPr>
              <a:t>&lt;</a:t>
            </a:r>
            <a:r>
              <a:rPr sz="1800" spc="75" dirty="0">
                <a:latin typeface="Cambria Math"/>
                <a:cs typeface="Cambria Math"/>
              </a:rPr>
              <a:t> </a:t>
            </a:r>
            <a:r>
              <a:rPr sz="1800" spc="-5" dirty="0">
                <a:latin typeface="Cambria Math"/>
                <a:cs typeface="Cambria Math"/>
              </a:rPr>
              <a:t>0.08</a:t>
            </a:r>
            <a:endParaRPr sz="1800" dirty="0">
              <a:latin typeface="Cambria Math"/>
              <a:cs typeface="Cambria Math"/>
            </a:endParaRPr>
          </a:p>
        </p:txBody>
      </p:sp>
      <p:sp>
        <p:nvSpPr>
          <p:cNvPr id="13" name="object 13"/>
          <p:cNvSpPr/>
          <p:nvPr/>
        </p:nvSpPr>
        <p:spPr>
          <a:xfrm>
            <a:off x="8337042" y="3542538"/>
            <a:ext cx="1207135" cy="923925"/>
          </a:xfrm>
          <a:custGeom>
            <a:avLst/>
            <a:gdLst/>
            <a:ahLst/>
            <a:cxnLst/>
            <a:rect l="l" t="t" r="r" b="b"/>
            <a:pathLst>
              <a:path w="1207134" h="923925">
                <a:moveTo>
                  <a:pt x="0" y="461772"/>
                </a:moveTo>
                <a:lnTo>
                  <a:pt x="2466" y="419741"/>
                </a:lnTo>
                <a:lnTo>
                  <a:pt x="9723" y="378768"/>
                </a:lnTo>
                <a:lnTo>
                  <a:pt x="21557" y="339015"/>
                </a:lnTo>
                <a:lnTo>
                  <a:pt x="37756" y="300645"/>
                </a:lnTo>
                <a:lnTo>
                  <a:pt x="58106" y="263821"/>
                </a:lnTo>
                <a:lnTo>
                  <a:pt x="82394" y="228707"/>
                </a:lnTo>
                <a:lnTo>
                  <a:pt x="110408" y="195465"/>
                </a:lnTo>
                <a:lnTo>
                  <a:pt x="141934" y="164258"/>
                </a:lnTo>
                <a:lnTo>
                  <a:pt x="176760" y="135250"/>
                </a:lnTo>
                <a:lnTo>
                  <a:pt x="214671" y="108603"/>
                </a:lnTo>
                <a:lnTo>
                  <a:pt x="255456" y="84480"/>
                </a:lnTo>
                <a:lnTo>
                  <a:pt x="298901" y="63045"/>
                </a:lnTo>
                <a:lnTo>
                  <a:pt x="344793" y="44460"/>
                </a:lnTo>
                <a:lnTo>
                  <a:pt x="392919" y="28889"/>
                </a:lnTo>
                <a:lnTo>
                  <a:pt x="443066" y="16495"/>
                </a:lnTo>
                <a:lnTo>
                  <a:pt x="495021" y="7439"/>
                </a:lnTo>
                <a:lnTo>
                  <a:pt x="548572" y="1887"/>
                </a:lnTo>
                <a:lnTo>
                  <a:pt x="603504" y="0"/>
                </a:lnTo>
                <a:lnTo>
                  <a:pt x="658435" y="1887"/>
                </a:lnTo>
                <a:lnTo>
                  <a:pt x="711986" y="7439"/>
                </a:lnTo>
                <a:lnTo>
                  <a:pt x="763941" y="16495"/>
                </a:lnTo>
                <a:lnTo>
                  <a:pt x="814088" y="28889"/>
                </a:lnTo>
                <a:lnTo>
                  <a:pt x="862214" y="44460"/>
                </a:lnTo>
                <a:lnTo>
                  <a:pt x="908106" y="63045"/>
                </a:lnTo>
                <a:lnTo>
                  <a:pt x="951551" y="84480"/>
                </a:lnTo>
                <a:lnTo>
                  <a:pt x="992336" y="108603"/>
                </a:lnTo>
                <a:lnTo>
                  <a:pt x="1030247" y="135250"/>
                </a:lnTo>
                <a:lnTo>
                  <a:pt x="1065073" y="164258"/>
                </a:lnTo>
                <a:lnTo>
                  <a:pt x="1096599" y="195465"/>
                </a:lnTo>
                <a:lnTo>
                  <a:pt x="1124613" y="228707"/>
                </a:lnTo>
                <a:lnTo>
                  <a:pt x="1148901" y="263821"/>
                </a:lnTo>
                <a:lnTo>
                  <a:pt x="1169251" y="300645"/>
                </a:lnTo>
                <a:lnTo>
                  <a:pt x="1185450" y="339015"/>
                </a:lnTo>
                <a:lnTo>
                  <a:pt x="1197284" y="378768"/>
                </a:lnTo>
                <a:lnTo>
                  <a:pt x="1204541" y="419741"/>
                </a:lnTo>
                <a:lnTo>
                  <a:pt x="1207008" y="461772"/>
                </a:lnTo>
                <a:lnTo>
                  <a:pt x="1204541" y="503802"/>
                </a:lnTo>
                <a:lnTo>
                  <a:pt x="1197284" y="544775"/>
                </a:lnTo>
                <a:lnTo>
                  <a:pt x="1185450" y="584528"/>
                </a:lnTo>
                <a:lnTo>
                  <a:pt x="1169251" y="622898"/>
                </a:lnTo>
                <a:lnTo>
                  <a:pt x="1148901" y="659722"/>
                </a:lnTo>
                <a:lnTo>
                  <a:pt x="1124613" y="694836"/>
                </a:lnTo>
                <a:lnTo>
                  <a:pt x="1096599" y="728078"/>
                </a:lnTo>
                <a:lnTo>
                  <a:pt x="1065073" y="759285"/>
                </a:lnTo>
                <a:lnTo>
                  <a:pt x="1030247" y="788293"/>
                </a:lnTo>
                <a:lnTo>
                  <a:pt x="992336" y="814940"/>
                </a:lnTo>
                <a:lnTo>
                  <a:pt x="951551" y="839063"/>
                </a:lnTo>
                <a:lnTo>
                  <a:pt x="908106" y="860498"/>
                </a:lnTo>
                <a:lnTo>
                  <a:pt x="862214" y="879083"/>
                </a:lnTo>
                <a:lnTo>
                  <a:pt x="814088" y="894654"/>
                </a:lnTo>
                <a:lnTo>
                  <a:pt x="763941" y="907048"/>
                </a:lnTo>
                <a:lnTo>
                  <a:pt x="711986" y="916104"/>
                </a:lnTo>
                <a:lnTo>
                  <a:pt x="658435" y="921656"/>
                </a:lnTo>
                <a:lnTo>
                  <a:pt x="603504" y="923544"/>
                </a:lnTo>
                <a:lnTo>
                  <a:pt x="548572" y="921656"/>
                </a:lnTo>
                <a:lnTo>
                  <a:pt x="495021" y="916104"/>
                </a:lnTo>
                <a:lnTo>
                  <a:pt x="443066" y="907048"/>
                </a:lnTo>
                <a:lnTo>
                  <a:pt x="392919" y="894654"/>
                </a:lnTo>
                <a:lnTo>
                  <a:pt x="344793" y="879083"/>
                </a:lnTo>
                <a:lnTo>
                  <a:pt x="298901" y="860498"/>
                </a:lnTo>
                <a:lnTo>
                  <a:pt x="255456" y="839063"/>
                </a:lnTo>
                <a:lnTo>
                  <a:pt x="214671" y="814940"/>
                </a:lnTo>
                <a:lnTo>
                  <a:pt x="176760" y="788293"/>
                </a:lnTo>
                <a:lnTo>
                  <a:pt x="141934" y="759285"/>
                </a:lnTo>
                <a:lnTo>
                  <a:pt x="110408" y="728078"/>
                </a:lnTo>
                <a:lnTo>
                  <a:pt x="82394" y="694836"/>
                </a:lnTo>
                <a:lnTo>
                  <a:pt x="58106" y="659722"/>
                </a:lnTo>
                <a:lnTo>
                  <a:pt x="37756" y="622898"/>
                </a:lnTo>
                <a:lnTo>
                  <a:pt x="21557" y="584528"/>
                </a:lnTo>
                <a:lnTo>
                  <a:pt x="9723" y="544775"/>
                </a:lnTo>
                <a:lnTo>
                  <a:pt x="2466" y="503802"/>
                </a:lnTo>
                <a:lnTo>
                  <a:pt x="0" y="461772"/>
                </a:lnTo>
                <a:close/>
              </a:path>
            </a:pathLst>
          </a:custGeom>
          <a:ln w="19050">
            <a:solidFill>
              <a:srgbClr val="042333"/>
            </a:solidFill>
          </a:ln>
        </p:spPr>
        <p:txBody>
          <a:bodyPr wrap="square" lIns="0" tIns="0" rIns="0" bIns="0" rtlCol="0"/>
          <a:lstStyle/>
          <a:p>
            <a:endParaRPr/>
          </a:p>
        </p:txBody>
      </p:sp>
      <p:sp>
        <p:nvSpPr>
          <p:cNvPr id="14" name="object 14"/>
          <p:cNvSpPr txBox="1"/>
          <p:nvPr/>
        </p:nvSpPr>
        <p:spPr>
          <a:xfrm>
            <a:off x="8418836" y="3835071"/>
            <a:ext cx="1045844" cy="299720"/>
          </a:xfrm>
          <a:prstGeom prst="rect">
            <a:avLst/>
          </a:prstGeom>
        </p:spPr>
        <p:txBody>
          <a:bodyPr vert="horz" wrap="square" lIns="0" tIns="12700" rIns="0" bIns="0" rtlCol="0">
            <a:spAutoFit/>
          </a:bodyPr>
          <a:lstStyle/>
          <a:p>
            <a:pPr marL="38100">
              <a:lnSpc>
                <a:spcPct val="100000"/>
              </a:lnSpc>
              <a:spcBef>
                <a:spcPts val="100"/>
              </a:spcBef>
            </a:pPr>
            <a:r>
              <a:rPr sz="1800" spc="-405" dirty="0">
                <a:latin typeface="Cambria Math"/>
                <a:cs typeface="Cambria Math"/>
              </a:rPr>
              <a:t>𝑋</a:t>
            </a:r>
            <a:r>
              <a:rPr lang="vi-VN" sz="1950" spc="-607" baseline="-14957" dirty="0">
                <a:latin typeface="Cambria Math"/>
                <a:cs typeface="Cambria Math"/>
              </a:rPr>
              <a:t>3</a:t>
            </a:r>
            <a:r>
              <a:rPr sz="1950" spc="382" baseline="-14957" dirty="0">
                <a:latin typeface="Cambria Math"/>
                <a:cs typeface="Cambria Math"/>
              </a:rPr>
              <a:t> </a:t>
            </a:r>
            <a:r>
              <a:rPr sz="1800" dirty="0">
                <a:latin typeface="Cambria Math"/>
                <a:cs typeface="Cambria Math"/>
              </a:rPr>
              <a:t>&lt;</a:t>
            </a:r>
            <a:r>
              <a:rPr sz="1800" spc="75" dirty="0">
                <a:latin typeface="Cambria Math"/>
                <a:cs typeface="Cambria Math"/>
              </a:rPr>
              <a:t> </a:t>
            </a:r>
            <a:r>
              <a:rPr sz="1800" spc="-5" dirty="0">
                <a:latin typeface="Cambria Math"/>
                <a:cs typeface="Cambria Math"/>
              </a:rPr>
              <a:t>0.08</a:t>
            </a:r>
            <a:endParaRPr sz="1800" dirty="0">
              <a:latin typeface="Cambria Math"/>
              <a:cs typeface="Cambria Math"/>
            </a:endParaRPr>
          </a:p>
        </p:txBody>
      </p:sp>
      <p:sp>
        <p:nvSpPr>
          <p:cNvPr id="15" name="object 15"/>
          <p:cNvSpPr/>
          <p:nvPr/>
        </p:nvSpPr>
        <p:spPr>
          <a:xfrm>
            <a:off x="8274659" y="1725929"/>
            <a:ext cx="416559" cy="346075"/>
          </a:xfrm>
          <a:custGeom>
            <a:avLst/>
            <a:gdLst/>
            <a:ahLst/>
            <a:cxnLst/>
            <a:rect l="l" t="t" r="r" b="b"/>
            <a:pathLst>
              <a:path w="416559" h="346075">
                <a:moveTo>
                  <a:pt x="416458" y="0"/>
                </a:moveTo>
                <a:lnTo>
                  <a:pt x="0" y="345503"/>
                </a:lnTo>
              </a:path>
            </a:pathLst>
          </a:custGeom>
          <a:ln w="19050">
            <a:solidFill>
              <a:srgbClr val="145F82"/>
            </a:solidFill>
          </a:ln>
        </p:spPr>
        <p:txBody>
          <a:bodyPr wrap="square" lIns="0" tIns="0" rIns="0" bIns="0" rtlCol="0"/>
          <a:lstStyle/>
          <a:p>
            <a:endParaRPr/>
          </a:p>
        </p:txBody>
      </p:sp>
      <p:sp>
        <p:nvSpPr>
          <p:cNvPr id="16" name="object 16"/>
          <p:cNvSpPr/>
          <p:nvPr/>
        </p:nvSpPr>
        <p:spPr>
          <a:xfrm>
            <a:off x="8225790" y="2034001"/>
            <a:ext cx="83185" cy="78105"/>
          </a:xfrm>
          <a:custGeom>
            <a:avLst/>
            <a:gdLst/>
            <a:ahLst/>
            <a:cxnLst/>
            <a:rect l="l" t="t" r="r" b="b"/>
            <a:pathLst>
              <a:path w="83184" h="78105">
                <a:moveTo>
                  <a:pt x="34315" y="0"/>
                </a:moveTo>
                <a:lnTo>
                  <a:pt x="0" y="77978"/>
                </a:lnTo>
                <a:lnTo>
                  <a:pt x="82969" y="58648"/>
                </a:lnTo>
                <a:lnTo>
                  <a:pt x="34315" y="0"/>
                </a:lnTo>
                <a:close/>
              </a:path>
            </a:pathLst>
          </a:custGeom>
          <a:solidFill>
            <a:srgbClr val="145F82"/>
          </a:solidFill>
        </p:spPr>
        <p:txBody>
          <a:bodyPr wrap="square" lIns="0" tIns="0" rIns="0" bIns="0" rtlCol="0"/>
          <a:lstStyle/>
          <a:p>
            <a:endParaRPr/>
          </a:p>
        </p:txBody>
      </p:sp>
      <p:sp>
        <p:nvSpPr>
          <p:cNvPr id="17" name="object 17"/>
          <p:cNvSpPr/>
          <p:nvPr/>
        </p:nvSpPr>
        <p:spPr>
          <a:xfrm>
            <a:off x="9544050" y="1725929"/>
            <a:ext cx="457834" cy="347980"/>
          </a:xfrm>
          <a:custGeom>
            <a:avLst/>
            <a:gdLst/>
            <a:ahLst/>
            <a:cxnLst/>
            <a:rect l="l" t="t" r="r" b="b"/>
            <a:pathLst>
              <a:path w="457834" h="347980">
                <a:moveTo>
                  <a:pt x="0" y="0"/>
                </a:moveTo>
                <a:lnTo>
                  <a:pt x="457771" y="347649"/>
                </a:lnTo>
              </a:path>
            </a:pathLst>
          </a:custGeom>
          <a:ln w="19050">
            <a:solidFill>
              <a:srgbClr val="145F82"/>
            </a:solidFill>
          </a:ln>
        </p:spPr>
        <p:txBody>
          <a:bodyPr wrap="square" lIns="0" tIns="0" rIns="0" bIns="0" rtlCol="0"/>
          <a:lstStyle/>
          <a:p>
            <a:endParaRPr/>
          </a:p>
        </p:txBody>
      </p:sp>
      <p:sp>
        <p:nvSpPr>
          <p:cNvPr id="18" name="object 18"/>
          <p:cNvSpPr/>
          <p:nvPr/>
        </p:nvSpPr>
        <p:spPr>
          <a:xfrm>
            <a:off x="9968662" y="2035550"/>
            <a:ext cx="83820" cy="76835"/>
          </a:xfrm>
          <a:custGeom>
            <a:avLst/>
            <a:gdLst/>
            <a:ahLst/>
            <a:cxnLst/>
            <a:rect l="l" t="t" r="r" b="b"/>
            <a:pathLst>
              <a:path w="83820" h="76835">
                <a:moveTo>
                  <a:pt x="46088" y="0"/>
                </a:moveTo>
                <a:lnTo>
                  <a:pt x="0" y="60680"/>
                </a:lnTo>
                <a:lnTo>
                  <a:pt x="83731" y="76428"/>
                </a:lnTo>
                <a:lnTo>
                  <a:pt x="46088" y="0"/>
                </a:lnTo>
                <a:close/>
              </a:path>
            </a:pathLst>
          </a:custGeom>
          <a:solidFill>
            <a:srgbClr val="145F82"/>
          </a:solidFill>
        </p:spPr>
        <p:txBody>
          <a:bodyPr wrap="square" lIns="0" tIns="0" rIns="0" bIns="0" rtlCol="0"/>
          <a:lstStyle/>
          <a:p>
            <a:endParaRPr/>
          </a:p>
        </p:txBody>
      </p:sp>
      <p:sp>
        <p:nvSpPr>
          <p:cNvPr id="19" name="object 19"/>
          <p:cNvSpPr txBox="1"/>
          <p:nvPr/>
        </p:nvSpPr>
        <p:spPr>
          <a:xfrm>
            <a:off x="10599254" y="3833547"/>
            <a:ext cx="220345" cy="299720"/>
          </a:xfrm>
          <a:prstGeom prst="rect">
            <a:avLst/>
          </a:prstGeom>
        </p:spPr>
        <p:txBody>
          <a:bodyPr vert="horz" wrap="square" lIns="0" tIns="12700" rIns="0" bIns="0" rtlCol="0">
            <a:spAutoFit/>
          </a:bodyPr>
          <a:lstStyle/>
          <a:p>
            <a:pPr marL="12700">
              <a:lnSpc>
                <a:spcPct val="100000"/>
              </a:lnSpc>
              <a:spcBef>
                <a:spcPts val="100"/>
              </a:spcBef>
            </a:pPr>
            <a:r>
              <a:rPr sz="1800" b="1" spc="-270" dirty="0">
                <a:latin typeface="Arial"/>
                <a:cs typeface="Arial"/>
              </a:rPr>
              <a:t>…</a:t>
            </a:r>
            <a:endParaRPr sz="1800">
              <a:latin typeface="Arial"/>
              <a:cs typeface="Arial"/>
            </a:endParaRPr>
          </a:p>
        </p:txBody>
      </p:sp>
      <p:sp>
        <p:nvSpPr>
          <p:cNvPr id="20" name="object 20"/>
          <p:cNvSpPr/>
          <p:nvPr/>
        </p:nvSpPr>
        <p:spPr>
          <a:xfrm>
            <a:off x="10478261" y="2900933"/>
            <a:ext cx="218440" cy="857885"/>
          </a:xfrm>
          <a:custGeom>
            <a:avLst/>
            <a:gdLst/>
            <a:ahLst/>
            <a:cxnLst/>
            <a:rect l="l" t="t" r="r" b="b"/>
            <a:pathLst>
              <a:path w="218440" h="857885">
                <a:moveTo>
                  <a:pt x="0" y="0"/>
                </a:moveTo>
                <a:lnTo>
                  <a:pt x="218122" y="857707"/>
                </a:lnTo>
              </a:path>
            </a:pathLst>
          </a:custGeom>
          <a:ln w="19050">
            <a:solidFill>
              <a:srgbClr val="145F82"/>
            </a:solidFill>
          </a:ln>
        </p:spPr>
        <p:txBody>
          <a:bodyPr wrap="square" lIns="0" tIns="0" rIns="0" bIns="0" rtlCol="0"/>
          <a:lstStyle/>
          <a:p>
            <a:endParaRPr/>
          </a:p>
        </p:txBody>
      </p:sp>
      <p:sp>
        <p:nvSpPr>
          <p:cNvPr id="21" name="object 21"/>
          <p:cNvSpPr/>
          <p:nvPr/>
        </p:nvSpPr>
        <p:spPr>
          <a:xfrm>
            <a:off x="10656334" y="3736947"/>
            <a:ext cx="74295" cy="83820"/>
          </a:xfrm>
          <a:custGeom>
            <a:avLst/>
            <a:gdLst/>
            <a:ahLst/>
            <a:cxnLst/>
            <a:rect l="l" t="t" r="r" b="b"/>
            <a:pathLst>
              <a:path w="74295" h="83820">
                <a:moveTo>
                  <a:pt x="73850" y="0"/>
                </a:moveTo>
                <a:lnTo>
                  <a:pt x="0" y="18783"/>
                </a:lnTo>
                <a:lnTo>
                  <a:pt x="55702" y="83235"/>
                </a:lnTo>
                <a:lnTo>
                  <a:pt x="73850" y="0"/>
                </a:lnTo>
                <a:close/>
              </a:path>
            </a:pathLst>
          </a:custGeom>
          <a:solidFill>
            <a:srgbClr val="145F82"/>
          </a:solidFill>
        </p:spPr>
        <p:txBody>
          <a:bodyPr wrap="square" lIns="0" tIns="0" rIns="0" bIns="0" rtlCol="0"/>
          <a:lstStyle/>
          <a:p>
            <a:endParaRPr/>
          </a:p>
        </p:txBody>
      </p:sp>
      <p:sp>
        <p:nvSpPr>
          <p:cNvPr id="22" name="object 22"/>
          <p:cNvSpPr/>
          <p:nvPr/>
        </p:nvSpPr>
        <p:spPr>
          <a:xfrm>
            <a:off x="8652509" y="2900933"/>
            <a:ext cx="262890" cy="584200"/>
          </a:xfrm>
          <a:custGeom>
            <a:avLst/>
            <a:gdLst/>
            <a:ahLst/>
            <a:cxnLst/>
            <a:rect l="l" t="t" r="r" b="b"/>
            <a:pathLst>
              <a:path w="262890" h="584200">
                <a:moveTo>
                  <a:pt x="0" y="0"/>
                </a:moveTo>
                <a:lnTo>
                  <a:pt x="262623" y="583895"/>
                </a:lnTo>
              </a:path>
            </a:pathLst>
          </a:custGeom>
          <a:ln w="19050">
            <a:solidFill>
              <a:srgbClr val="145F82"/>
            </a:solidFill>
          </a:ln>
        </p:spPr>
        <p:txBody>
          <a:bodyPr wrap="square" lIns="0" tIns="0" rIns="0" bIns="0" rtlCol="0"/>
          <a:lstStyle/>
          <a:p>
            <a:endParaRPr/>
          </a:p>
        </p:txBody>
      </p:sp>
      <p:sp>
        <p:nvSpPr>
          <p:cNvPr id="23" name="object 23"/>
          <p:cNvSpPr/>
          <p:nvPr/>
        </p:nvSpPr>
        <p:spPr>
          <a:xfrm>
            <a:off x="8875180" y="3457612"/>
            <a:ext cx="69850" cy="85725"/>
          </a:xfrm>
          <a:custGeom>
            <a:avLst/>
            <a:gdLst/>
            <a:ahLst/>
            <a:cxnLst/>
            <a:rect l="l" t="t" r="r" b="b"/>
            <a:pathLst>
              <a:path w="69850" h="85725">
                <a:moveTo>
                  <a:pt x="69494" y="0"/>
                </a:moveTo>
                <a:lnTo>
                  <a:pt x="0" y="31254"/>
                </a:lnTo>
                <a:lnTo>
                  <a:pt x="66001" y="85128"/>
                </a:lnTo>
                <a:lnTo>
                  <a:pt x="69494" y="0"/>
                </a:lnTo>
                <a:close/>
              </a:path>
            </a:pathLst>
          </a:custGeom>
          <a:solidFill>
            <a:srgbClr val="145F82"/>
          </a:solidFill>
        </p:spPr>
        <p:txBody>
          <a:bodyPr wrap="square" lIns="0" tIns="0" rIns="0" bIns="0" rtlCol="0"/>
          <a:lstStyle/>
          <a:p>
            <a:endParaRPr/>
          </a:p>
        </p:txBody>
      </p:sp>
      <p:sp>
        <p:nvSpPr>
          <p:cNvPr id="24" name="object 24"/>
          <p:cNvSpPr/>
          <p:nvPr/>
        </p:nvSpPr>
        <p:spPr>
          <a:xfrm>
            <a:off x="7380616" y="2900933"/>
            <a:ext cx="419100" cy="578485"/>
          </a:xfrm>
          <a:custGeom>
            <a:avLst/>
            <a:gdLst/>
            <a:ahLst/>
            <a:cxnLst/>
            <a:rect l="l" t="t" r="r" b="b"/>
            <a:pathLst>
              <a:path w="419100" h="578485">
                <a:moveTo>
                  <a:pt x="418490" y="0"/>
                </a:moveTo>
                <a:lnTo>
                  <a:pt x="0" y="578421"/>
                </a:lnTo>
              </a:path>
            </a:pathLst>
          </a:custGeom>
          <a:ln w="19050">
            <a:solidFill>
              <a:srgbClr val="145F82"/>
            </a:solidFill>
          </a:ln>
        </p:spPr>
        <p:txBody>
          <a:bodyPr wrap="square" lIns="0" tIns="0" rIns="0" bIns="0" rtlCol="0"/>
          <a:lstStyle/>
          <a:p>
            <a:endParaRPr/>
          </a:p>
        </p:txBody>
      </p:sp>
      <p:sp>
        <p:nvSpPr>
          <p:cNvPr id="25" name="object 25"/>
          <p:cNvSpPr/>
          <p:nvPr/>
        </p:nvSpPr>
        <p:spPr>
          <a:xfrm>
            <a:off x="7343396" y="3446735"/>
            <a:ext cx="75565" cy="84455"/>
          </a:xfrm>
          <a:custGeom>
            <a:avLst/>
            <a:gdLst/>
            <a:ahLst/>
            <a:cxnLst/>
            <a:rect l="l" t="t" r="r" b="b"/>
            <a:pathLst>
              <a:path w="75565" h="84454">
                <a:moveTo>
                  <a:pt x="13792" y="0"/>
                </a:moveTo>
                <a:lnTo>
                  <a:pt x="0" y="84074"/>
                </a:lnTo>
                <a:lnTo>
                  <a:pt x="75526" y="44665"/>
                </a:lnTo>
                <a:lnTo>
                  <a:pt x="13792" y="0"/>
                </a:lnTo>
                <a:close/>
              </a:path>
            </a:pathLst>
          </a:custGeom>
          <a:solidFill>
            <a:srgbClr val="145F82"/>
          </a:solidFill>
        </p:spPr>
        <p:txBody>
          <a:bodyPr wrap="square" lIns="0" tIns="0" rIns="0" bIns="0" rtlCol="0"/>
          <a:lstStyle/>
          <a:p>
            <a:endParaRPr/>
          </a:p>
        </p:txBody>
      </p:sp>
      <p:sp>
        <p:nvSpPr>
          <p:cNvPr id="26" name="object 26"/>
          <p:cNvSpPr txBox="1"/>
          <p:nvPr/>
        </p:nvSpPr>
        <p:spPr>
          <a:xfrm>
            <a:off x="9388801" y="4988531"/>
            <a:ext cx="220345" cy="299720"/>
          </a:xfrm>
          <a:prstGeom prst="rect">
            <a:avLst/>
          </a:prstGeom>
        </p:spPr>
        <p:txBody>
          <a:bodyPr vert="horz" wrap="square" lIns="0" tIns="12700" rIns="0" bIns="0" rtlCol="0">
            <a:spAutoFit/>
          </a:bodyPr>
          <a:lstStyle/>
          <a:p>
            <a:pPr marL="12700">
              <a:lnSpc>
                <a:spcPct val="100000"/>
              </a:lnSpc>
              <a:spcBef>
                <a:spcPts val="100"/>
              </a:spcBef>
            </a:pPr>
            <a:r>
              <a:rPr sz="1800" b="1" spc="-270" dirty="0">
                <a:latin typeface="Arial"/>
                <a:cs typeface="Arial"/>
              </a:rPr>
              <a:t>…</a:t>
            </a:r>
            <a:endParaRPr sz="1800">
              <a:latin typeface="Arial"/>
              <a:cs typeface="Arial"/>
            </a:endParaRPr>
          </a:p>
        </p:txBody>
      </p:sp>
      <p:sp>
        <p:nvSpPr>
          <p:cNvPr id="27" name="object 27"/>
          <p:cNvSpPr/>
          <p:nvPr/>
        </p:nvSpPr>
        <p:spPr>
          <a:xfrm>
            <a:off x="10109454" y="4499609"/>
            <a:ext cx="1205865" cy="925194"/>
          </a:xfrm>
          <a:custGeom>
            <a:avLst/>
            <a:gdLst/>
            <a:ahLst/>
            <a:cxnLst/>
            <a:rect l="l" t="t" r="r" b="b"/>
            <a:pathLst>
              <a:path w="1205865" h="925195">
                <a:moveTo>
                  <a:pt x="0" y="462533"/>
                </a:moveTo>
                <a:lnTo>
                  <a:pt x="2463" y="420434"/>
                </a:lnTo>
                <a:lnTo>
                  <a:pt x="9711" y="379393"/>
                </a:lnTo>
                <a:lnTo>
                  <a:pt x="21530" y="339575"/>
                </a:lnTo>
                <a:lnTo>
                  <a:pt x="37709" y="301141"/>
                </a:lnTo>
                <a:lnTo>
                  <a:pt x="58034" y="264257"/>
                </a:lnTo>
                <a:lnTo>
                  <a:pt x="82293" y="229085"/>
                </a:lnTo>
                <a:lnTo>
                  <a:pt x="110272" y="195788"/>
                </a:lnTo>
                <a:lnTo>
                  <a:pt x="141759" y="164530"/>
                </a:lnTo>
                <a:lnTo>
                  <a:pt x="176541" y="135474"/>
                </a:lnTo>
                <a:lnTo>
                  <a:pt x="214405" y="108783"/>
                </a:lnTo>
                <a:lnTo>
                  <a:pt x="255138" y="84620"/>
                </a:lnTo>
                <a:lnTo>
                  <a:pt x="298529" y="63150"/>
                </a:lnTo>
                <a:lnTo>
                  <a:pt x="344363" y="44534"/>
                </a:lnTo>
                <a:lnTo>
                  <a:pt x="392428" y="28937"/>
                </a:lnTo>
                <a:lnTo>
                  <a:pt x="442511" y="16522"/>
                </a:lnTo>
                <a:lnTo>
                  <a:pt x="494399" y="7452"/>
                </a:lnTo>
                <a:lnTo>
                  <a:pt x="547881" y="1890"/>
                </a:lnTo>
                <a:lnTo>
                  <a:pt x="602742" y="0"/>
                </a:lnTo>
                <a:lnTo>
                  <a:pt x="657602" y="1890"/>
                </a:lnTo>
                <a:lnTo>
                  <a:pt x="711084" y="7452"/>
                </a:lnTo>
                <a:lnTo>
                  <a:pt x="762972" y="16522"/>
                </a:lnTo>
                <a:lnTo>
                  <a:pt x="813055" y="28937"/>
                </a:lnTo>
                <a:lnTo>
                  <a:pt x="861120" y="44534"/>
                </a:lnTo>
                <a:lnTo>
                  <a:pt x="906954" y="63150"/>
                </a:lnTo>
                <a:lnTo>
                  <a:pt x="950345" y="84620"/>
                </a:lnTo>
                <a:lnTo>
                  <a:pt x="991078" y="108783"/>
                </a:lnTo>
                <a:lnTo>
                  <a:pt x="1028942" y="135474"/>
                </a:lnTo>
                <a:lnTo>
                  <a:pt x="1063724" y="164530"/>
                </a:lnTo>
                <a:lnTo>
                  <a:pt x="1095211" y="195788"/>
                </a:lnTo>
                <a:lnTo>
                  <a:pt x="1123190" y="229085"/>
                </a:lnTo>
                <a:lnTo>
                  <a:pt x="1147449" y="264257"/>
                </a:lnTo>
                <a:lnTo>
                  <a:pt x="1167774" y="301141"/>
                </a:lnTo>
                <a:lnTo>
                  <a:pt x="1183953" y="339575"/>
                </a:lnTo>
                <a:lnTo>
                  <a:pt x="1195772" y="379393"/>
                </a:lnTo>
                <a:lnTo>
                  <a:pt x="1203020" y="420434"/>
                </a:lnTo>
                <a:lnTo>
                  <a:pt x="1205484" y="462533"/>
                </a:lnTo>
                <a:lnTo>
                  <a:pt x="1203020" y="504633"/>
                </a:lnTo>
                <a:lnTo>
                  <a:pt x="1195772" y="545674"/>
                </a:lnTo>
                <a:lnTo>
                  <a:pt x="1183953" y="585492"/>
                </a:lnTo>
                <a:lnTo>
                  <a:pt x="1167774" y="623926"/>
                </a:lnTo>
                <a:lnTo>
                  <a:pt x="1147449" y="660810"/>
                </a:lnTo>
                <a:lnTo>
                  <a:pt x="1123190" y="695982"/>
                </a:lnTo>
                <a:lnTo>
                  <a:pt x="1095211" y="729279"/>
                </a:lnTo>
                <a:lnTo>
                  <a:pt x="1063724" y="760537"/>
                </a:lnTo>
                <a:lnTo>
                  <a:pt x="1028942" y="789593"/>
                </a:lnTo>
                <a:lnTo>
                  <a:pt x="991078" y="816284"/>
                </a:lnTo>
                <a:lnTo>
                  <a:pt x="950345" y="840447"/>
                </a:lnTo>
                <a:lnTo>
                  <a:pt x="906954" y="861917"/>
                </a:lnTo>
                <a:lnTo>
                  <a:pt x="861120" y="880533"/>
                </a:lnTo>
                <a:lnTo>
                  <a:pt x="813055" y="896130"/>
                </a:lnTo>
                <a:lnTo>
                  <a:pt x="762972" y="908545"/>
                </a:lnTo>
                <a:lnTo>
                  <a:pt x="711084" y="917615"/>
                </a:lnTo>
                <a:lnTo>
                  <a:pt x="657602" y="923177"/>
                </a:lnTo>
                <a:lnTo>
                  <a:pt x="602742" y="925067"/>
                </a:lnTo>
                <a:lnTo>
                  <a:pt x="547881" y="923177"/>
                </a:lnTo>
                <a:lnTo>
                  <a:pt x="494399" y="917615"/>
                </a:lnTo>
                <a:lnTo>
                  <a:pt x="442511" y="908545"/>
                </a:lnTo>
                <a:lnTo>
                  <a:pt x="392428" y="896130"/>
                </a:lnTo>
                <a:lnTo>
                  <a:pt x="344363" y="880533"/>
                </a:lnTo>
                <a:lnTo>
                  <a:pt x="298529" y="861917"/>
                </a:lnTo>
                <a:lnTo>
                  <a:pt x="255138" y="840447"/>
                </a:lnTo>
                <a:lnTo>
                  <a:pt x="214405" y="816284"/>
                </a:lnTo>
                <a:lnTo>
                  <a:pt x="176541" y="789593"/>
                </a:lnTo>
                <a:lnTo>
                  <a:pt x="141759" y="760537"/>
                </a:lnTo>
                <a:lnTo>
                  <a:pt x="110272" y="729279"/>
                </a:lnTo>
                <a:lnTo>
                  <a:pt x="82293" y="695982"/>
                </a:lnTo>
                <a:lnTo>
                  <a:pt x="58034" y="660810"/>
                </a:lnTo>
                <a:lnTo>
                  <a:pt x="37709" y="623926"/>
                </a:lnTo>
                <a:lnTo>
                  <a:pt x="21530" y="585492"/>
                </a:lnTo>
                <a:lnTo>
                  <a:pt x="9711" y="545674"/>
                </a:lnTo>
                <a:lnTo>
                  <a:pt x="2463" y="504633"/>
                </a:lnTo>
                <a:lnTo>
                  <a:pt x="0" y="462533"/>
                </a:lnTo>
                <a:close/>
              </a:path>
            </a:pathLst>
          </a:custGeom>
          <a:ln w="19050">
            <a:solidFill>
              <a:srgbClr val="042333"/>
            </a:solidFill>
          </a:ln>
        </p:spPr>
        <p:txBody>
          <a:bodyPr wrap="square" lIns="0" tIns="0" rIns="0" bIns="0" rtlCol="0"/>
          <a:lstStyle/>
          <a:p>
            <a:endParaRPr/>
          </a:p>
        </p:txBody>
      </p:sp>
      <p:sp>
        <p:nvSpPr>
          <p:cNvPr id="28" name="object 28"/>
          <p:cNvSpPr txBox="1"/>
          <p:nvPr/>
        </p:nvSpPr>
        <p:spPr>
          <a:xfrm>
            <a:off x="10192061" y="4796960"/>
            <a:ext cx="1183005" cy="299720"/>
          </a:xfrm>
          <a:prstGeom prst="rect">
            <a:avLst/>
          </a:prstGeom>
        </p:spPr>
        <p:txBody>
          <a:bodyPr vert="horz" wrap="square" lIns="0" tIns="12700" rIns="0" bIns="0" rtlCol="0">
            <a:spAutoFit/>
          </a:bodyPr>
          <a:lstStyle/>
          <a:p>
            <a:pPr marL="38100">
              <a:lnSpc>
                <a:spcPct val="100000"/>
              </a:lnSpc>
              <a:spcBef>
                <a:spcPts val="100"/>
              </a:spcBef>
            </a:pPr>
            <a:r>
              <a:rPr sz="1800" spc="-475" dirty="0">
                <a:latin typeface="Cambria Math"/>
                <a:cs typeface="Cambria Math"/>
              </a:rPr>
              <a:t>𝑋</a:t>
            </a:r>
            <a:r>
              <a:rPr sz="1950" spc="-712" baseline="-14957" dirty="0">
                <a:latin typeface="Cambria Math"/>
                <a:cs typeface="Cambria Math"/>
              </a:rPr>
              <a:t>𝑘</a:t>
            </a:r>
            <a:r>
              <a:rPr sz="1950" spc="442" baseline="-14957" dirty="0">
                <a:latin typeface="Cambria Math"/>
                <a:cs typeface="Cambria Math"/>
              </a:rPr>
              <a:t> </a:t>
            </a:r>
            <a:r>
              <a:rPr sz="1800" dirty="0">
                <a:latin typeface="Cambria Math"/>
                <a:cs typeface="Cambria Math"/>
              </a:rPr>
              <a:t>&lt;</a:t>
            </a:r>
            <a:r>
              <a:rPr sz="1800" spc="80" dirty="0">
                <a:latin typeface="Cambria Math"/>
                <a:cs typeface="Cambria Math"/>
              </a:rPr>
              <a:t> </a:t>
            </a:r>
            <a:r>
              <a:rPr sz="1800" spc="-5" dirty="0">
                <a:latin typeface="Cambria Math"/>
                <a:cs typeface="Cambria Math"/>
              </a:rPr>
              <a:t>0.066</a:t>
            </a:r>
            <a:endParaRPr sz="1800" dirty="0">
              <a:latin typeface="Cambria Math"/>
              <a:cs typeface="Cambria Math"/>
            </a:endParaRPr>
          </a:p>
        </p:txBody>
      </p:sp>
      <p:sp>
        <p:nvSpPr>
          <p:cNvPr id="29" name="object 29"/>
          <p:cNvSpPr/>
          <p:nvPr/>
        </p:nvSpPr>
        <p:spPr>
          <a:xfrm>
            <a:off x="9272778" y="5729478"/>
            <a:ext cx="1205865" cy="923925"/>
          </a:xfrm>
          <a:custGeom>
            <a:avLst/>
            <a:gdLst/>
            <a:ahLst/>
            <a:cxnLst/>
            <a:rect l="l" t="t" r="r" b="b"/>
            <a:pathLst>
              <a:path w="1205865" h="923925">
                <a:moveTo>
                  <a:pt x="0" y="461772"/>
                </a:moveTo>
                <a:lnTo>
                  <a:pt x="2463" y="419741"/>
                </a:lnTo>
                <a:lnTo>
                  <a:pt x="9711" y="378768"/>
                </a:lnTo>
                <a:lnTo>
                  <a:pt x="21530" y="339015"/>
                </a:lnTo>
                <a:lnTo>
                  <a:pt x="37709" y="300645"/>
                </a:lnTo>
                <a:lnTo>
                  <a:pt x="58034" y="263821"/>
                </a:lnTo>
                <a:lnTo>
                  <a:pt x="82293" y="228707"/>
                </a:lnTo>
                <a:lnTo>
                  <a:pt x="110272" y="195465"/>
                </a:lnTo>
                <a:lnTo>
                  <a:pt x="141759" y="164258"/>
                </a:lnTo>
                <a:lnTo>
                  <a:pt x="176541" y="135250"/>
                </a:lnTo>
                <a:lnTo>
                  <a:pt x="214405" y="108603"/>
                </a:lnTo>
                <a:lnTo>
                  <a:pt x="255138" y="84480"/>
                </a:lnTo>
                <a:lnTo>
                  <a:pt x="298529" y="63045"/>
                </a:lnTo>
                <a:lnTo>
                  <a:pt x="344363" y="44460"/>
                </a:lnTo>
                <a:lnTo>
                  <a:pt x="392428" y="28889"/>
                </a:lnTo>
                <a:lnTo>
                  <a:pt x="442511" y="16495"/>
                </a:lnTo>
                <a:lnTo>
                  <a:pt x="494399" y="7439"/>
                </a:lnTo>
                <a:lnTo>
                  <a:pt x="547881" y="1887"/>
                </a:lnTo>
                <a:lnTo>
                  <a:pt x="602742" y="0"/>
                </a:lnTo>
                <a:lnTo>
                  <a:pt x="657602" y="1887"/>
                </a:lnTo>
                <a:lnTo>
                  <a:pt x="711084" y="7439"/>
                </a:lnTo>
                <a:lnTo>
                  <a:pt x="762972" y="16495"/>
                </a:lnTo>
                <a:lnTo>
                  <a:pt x="813055" y="28889"/>
                </a:lnTo>
                <a:lnTo>
                  <a:pt x="861120" y="44460"/>
                </a:lnTo>
                <a:lnTo>
                  <a:pt x="906954" y="63045"/>
                </a:lnTo>
                <a:lnTo>
                  <a:pt x="950345" y="84480"/>
                </a:lnTo>
                <a:lnTo>
                  <a:pt x="991078" y="108603"/>
                </a:lnTo>
                <a:lnTo>
                  <a:pt x="1028942" y="135250"/>
                </a:lnTo>
                <a:lnTo>
                  <a:pt x="1063724" y="164258"/>
                </a:lnTo>
                <a:lnTo>
                  <a:pt x="1095211" y="195465"/>
                </a:lnTo>
                <a:lnTo>
                  <a:pt x="1123190" y="228707"/>
                </a:lnTo>
                <a:lnTo>
                  <a:pt x="1147449" y="263821"/>
                </a:lnTo>
                <a:lnTo>
                  <a:pt x="1167774" y="300645"/>
                </a:lnTo>
                <a:lnTo>
                  <a:pt x="1183953" y="339015"/>
                </a:lnTo>
                <a:lnTo>
                  <a:pt x="1195772" y="378768"/>
                </a:lnTo>
                <a:lnTo>
                  <a:pt x="1203020" y="419741"/>
                </a:lnTo>
                <a:lnTo>
                  <a:pt x="1205484" y="461772"/>
                </a:lnTo>
                <a:lnTo>
                  <a:pt x="1203020" y="503802"/>
                </a:lnTo>
                <a:lnTo>
                  <a:pt x="1195772" y="544775"/>
                </a:lnTo>
                <a:lnTo>
                  <a:pt x="1183953" y="584528"/>
                </a:lnTo>
                <a:lnTo>
                  <a:pt x="1167774" y="622898"/>
                </a:lnTo>
                <a:lnTo>
                  <a:pt x="1147449" y="659722"/>
                </a:lnTo>
                <a:lnTo>
                  <a:pt x="1123190" y="694836"/>
                </a:lnTo>
                <a:lnTo>
                  <a:pt x="1095211" y="728078"/>
                </a:lnTo>
                <a:lnTo>
                  <a:pt x="1063724" y="759285"/>
                </a:lnTo>
                <a:lnTo>
                  <a:pt x="1028942" y="788293"/>
                </a:lnTo>
                <a:lnTo>
                  <a:pt x="991078" y="814940"/>
                </a:lnTo>
                <a:lnTo>
                  <a:pt x="950345" y="839063"/>
                </a:lnTo>
                <a:lnTo>
                  <a:pt x="906954" y="860498"/>
                </a:lnTo>
                <a:lnTo>
                  <a:pt x="861120" y="879083"/>
                </a:lnTo>
                <a:lnTo>
                  <a:pt x="813055" y="894654"/>
                </a:lnTo>
                <a:lnTo>
                  <a:pt x="762972" y="907048"/>
                </a:lnTo>
                <a:lnTo>
                  <a:pt x="711084" y="916104"/>
                </a:lnTo>
                <a:lnTo>
                  <a:pt x="657602" y="921656"/>
                </a:lnTo>
                <a:lnTo>
                  <a:pt x="602742" y="923544"/>
                </a:lnTo>
                <a:lnTo>
                  <a:pt x="547881" y="921656"/>
                </a:lnTo>
                <a:lnTo>
                  <a:pt x="494399" y="916104"/>
                </a:lnTo>
                <a:lnTo>
                  <a:pt x="442511" y="907048"/>
                </a:lnTo>
                <a:lnTo>
                  <a:pt x="392428" y="894654"/>
                </a:lnTo>
                <a:lnTo>
                  <a:pt x="344363" y="879083"/>
                </a:lnTo>
                <a:lnTo>
                  <a:pt x="298529" y="860498"/>
                </a:lnTo>
                <a:lnTo>
                  <a:pt x="255138" y="839063"/>
                </a:lnTo>
                <a:lnTo>
                  <a:pt x="214405" y="814940"/>
                </a:lnTo>
                <a:lnTo>
                  <a:pt x="176541" y="788293"/>
                </a:lnTo>
                <a:lnTo>
                  <a:pt x="141759" y="759285"/>
                </a:lnTo>
                <a:lnTo>
                  <a:pt x="110272" y="728078"/>
                </a:lnTo>
                <a:lnTo>
                  <a:pt x="82293" y="694836"/>
                </a:lnTo>
                <a:lnTo>
                  <a:pt x="58034" y="659722"/>
                </a:lnTo>
                <a:lnTo>
                  <a:pt x="37709" y="622898"/>
                </a:lnTo>
                <a:lnTo>
                  <a:pt x="21530" y="584528"/>
                </a:lnTo>
                <a:lnTo>
                  <a:pt x="9711" y="544775"/>
                </a:lnTo>
                <a:lnTo>
                  <a:pt x="2463" y="503802"/>
                </a:lnTo>
                <a:lnTo>
                  <a:pt x="0" y="461772"/>
                </a:lnTo>
                <a:close/>
              </a:path>
            </a:pathLst>
          </a:custGeom>
          <a:ln w="19050">
            <a:solidFill>
              <a:srgbClr val="042333"/>
            </a:solidFill>
          </a:ln>
        </p:spPr>
        <p:txBody>
          <a:bodyPr wrap="square" lIns="0" tIns="0" rIns="0" bIns="0" rtlCol="0"/>
          <a:lstStyle/>
          <a:p>
            <a:endParaRPr/>
          </a:p>
        </p:txBody>
      </p:sp>
      <p:sp>
        <p:nvSpPr>
          <p:cNvPr id="30" name="object 30"/>
          <p:cNvSpPr txBox="1"/>
          <p:nvPr/>
        </p:nvSpPr>
        <p:spPr>
          <a:xfrm>
            <a:off x="9380585" y="5914052"/>
            <a:ext cx="931299" cy="578492"/>
          </a:xfrm>
          <a:prstGeom prst="rect">
            <a:avLst/>
          </a:prstGeom>
        </p:spPr>
        <p:txBody>
          <a:bodyPr vert="horz" wrap="square" lIns="0" tIns="12700" rIns="0" bIns="0" rtlCol="0">
            <a:spAutoFit/>
          </a:bodyPr>
          <a:lstStyle/>
          <a:p>
            <a:pPr marL="91440">
              <a:lnSpc>
                <a:spcPts val="2155"/>
              </a:lnSpc>
              <a:spcBef>
                <a:spcPts val="100"/>
              </a:spcBef>
            </a:pPr>
            <a:r>
              <a:rPr lang="en-US" dirty="0">
                <a:latin typeface="+mj-lt"/>
                <a:cs typeface="Cambria Math"/>
              </a:rPr>
              <a:t>  Class 0</a:t>
            </a:r>
            <a:endParaRPr lang="en-US" dirty="0">
              <a:latin typeface="Arial"/>
              <a:cs typeface="Arial"/>
            </a:endParaRPr>
          </a:p>
          <a:p>
            <a:pPr marL="91440">
              <a:lnSpc>
                <a:spcPts val="2155"/>
              </a:lnSpc>
              <a:spcBef>
                <a:spcPts val="100"/>
              </a:spcBef>
            </a:pPr>
            <a:r>
              <a:rPr lang="en-US" sz="1800" dirty="0">
                <a:latin typeface="Arial"/>
                <a:cs typeface="Arial"/>
              </a:rPr>
              <a:t>(</a:t>
            </a:r>
            <a:r>
              <a:rPr lang="en-US" sz="1800" dirty="0" err="1">
                <a:latin typeface="Arial"/>
                <a:cs typeface="Arial"/>
              </a:rPr>
              <a:t>Gi</a:t>
            </a:r>
            <a:r>
              <a:rPr lang="en-US" dirty="0" err="1">
                <a:latin typeface="Arial"/>
                <a:cs typeface="Arial"/>
              </a:rPr>
              <a:t>ải</a:t>
            </a:r>
            <a:r>
              <a:rPr lang="en-US" dirty="0">
                <a:latin typeface="Arial"/>
                <a:cs typeface="Arial"/>
              </a:rPr>
              <a:t> </a:t>
            </a:r>
            <a:r>
              <a:rPr lang="en-US" dirty="0" err="1">
                <a:latin typeface="Arial"/>
                <a:cs typeface="Arial"/>
              </a:rPr>
              <a:t>trí</a:t>
            </a:r>
            <a:r>
              <a:rPr lang="en-US" dirty="0">
                <a:latin typeface="Arial"/>
                <a:cs typeface="Arial"/>
              </a:rPr>
              <a:t>)</a:t>
            </a:r>
            <a:endParaRPr lang="en-US" sz="1800" dirty="0">
              <a:latin typeface="+mj-lt"/>
              <a:cs typeface="Cambria Math"/>
            </a:endParaRPr>
          </a:p>
        </p:txBody>
      </p:sp>
      <p:sp>
        <p:nvSpPr>
          <p:cNvPr id="31" name="object 31"/>
          <p:cNvSpPr/>
          <p:nvPr/>
        </p:nvSpPr>
        <p:spPr>
          <a:xfrm>
            <a:off x="10883645" y="5729478"/>
            <a:ext cx="1207135" cy="923925"/>
          </a:xfrm>
          <a:custGeom>
            <a:avLst/>
            <a:gdLst/>
            <a:ahLst/>
            <a:cxnLst/>
            <a:rect l="l" t="t" r="r" b="b"/>
            <a:pathLst>
              <a:path w="1207134" h="923925">
                <a:moveTo>
                  <a:pt x="0" y="461772"/>
                </a:moveTo>
                <a:lnTo>
                  <a:pt x="2466" y="419741"/>
                </a:lnTo>
                <a:lnTo>
                  <a:pt x="9723" y="378768"/>
                </a:lnTo>
                <a:lnTo>
                  <a:pt x="21557" y="339015"/>
                </a:lnTo>
                <a:lnTo>
                  <a:pt x="37756" y="300645"/>
                </a:lnTo>
                <a:lnTo>
                  <a:pt x="58106" y="263821"/>
                </a:lnTo>
                <a:lnTo>
                  <a:pt x="82394" y="228707"/>
                </a:lnTo>
                <a:lnTo>
                  <a:pt x="110408" y="195465"/>
                </a:lnTo>
                <a:lnTo>
                  <a:pt x="141934" y="164258"/>
                </a:lnTo>
                <a:lnTo>
                  <a:pt x="176760" y="135250"/>
                </a:lnTo>
                <a:lnTo>
                  <a:pt x="214671" y="108603"/>
                </a:lnTo>
                <a:lnTo>
                  <a:pt x="255456" y="84480"/>
                </a:lnTo>
                <a:lnTo>
                  <a:pt x="298901" y="63045"/>
                </a:lnTo>
                <a:lnTo>
                  <a:pt x="344793" y="44460"/>
                </a:lnTo>
                <a:lnTo>
                  <a:pt x="392919" y="28889"/>
                </a:lnTo>
                <a:lnTo>
                  <a:pt x="443066" y="16495"/>
                </a:lnTo>
                <a:lnTo>
                  <a:pt x="495021" y="7439"/>
                </a:lnTo>
                <a:lnTo>
                  <a:pt x="548572" y="1887"/>
                </a:lnTo>
                <a:lnTo>
                  <a:pt x="603504" y="0"/>
                </a:lnTo>
                <a:lnTo>
                  <a:pt x="658435" y="1887"/>
                </a:lnTo>
                <a:lnTo>
                  <a:pt x="711986" y="7439"/>
                </a:lnTo>
                <a:lnTo>
                  <a:pt x="763941" y="16495"/>
                </a:lnTo>
                <a:lnTo>
                  <a:pt x="814088" y="28889"/>
                </a:lnTo>
                <a:lnTo>
                  <a:pt x="862214" y="44460"/>
                </a:lnTo>
                <a:lnTo>
                  <a:pt x="908106" y="63045"/>
                </a:lnTo>
                <a:lnTo>
                  <a:pt x="951551" y="84480"/>
                </a:lnTo>
                <a:lnTo>
                  <a:pt x="992336" y="108603"/>
                </a:lnTo>
                <a:lnTo>
                  <a:pt x="1030247" y="135250"/>
                </a:lnTo>
                <a:lnTo>
                  <a:pt x="1065073" y="164258"/>
                </a:lnTo>
                <a:lnTo>
                  <a:pt x="1096599" y="195465"/>
                </a:lnTo>
                <a:lnTo>
                  <a:pt x="1124613" y="228707"/>
                </a:lnTo>
                <a:lnTo>
                  <a:pt x="1148901" y="263821"/>
                </a:lnTo>
                <a:lnTo>
                  <a:pt x="1169251" y="300645"/>
                </a:lnTo>
                <a:lnTo>
                  <a:pt x="1185450" y="339015"/>
                </a:lnTo>
                <a:lnTo>
                  <a:pt x="1197284" y="378768"/>
                </a:lnTo>
                <a:lnTo>
                  <a:pt x="1204541" y="419741"/>
                </a:lnTo>
                <a:lnTo>
                  <a:pt x="1207008" y="461772"/>
                </a:lnTo>
                <a:lnTo>
                  <a:pt x="1204541" y="503802"/>
                </a:lnTo>
                <a:lnTo>
                  <a:pt x="1197284" y="544775"/>
                </a:lnTo>
                <a:lnTo>
                  <a:pt x="1185450" y="584528"/>
                </a:lnTo>
                <a:lnTo>
                  <a:pt x="1169251" y="622898"/>
                </a:lnTo>
                <a:lnTo>
                  <a:pt x="1148901" y="659722"/>
                </a:lnTo>
                <a:lnTo>
                  <a:pt x="1124613" y="694836"/>
                </a:lnTo>
                <a:lnTo>
                  <a:pt x="1096599" y="728078"/>
                </a:lnTo>
                <a:lnTo>
                  <a:pt x="1065073" y="759285"/>
                </a:lnTo>
                <a:lnTo>
                  <a:pt x="1030247" y="788293"/>
                </a:lnTo>
                <a:lnTo>
                  <a:pt x="992336" y="814940"/>
                </a:lnTo>
                <a:lnTo>
                  <a:pt x="951551" y="839063"/>
                </a:lnTo>
                <a:lnTo>
                  <a:pt x="908106" y="860498"/>
                </a:lnTo>
                <a:lnTo>
                  <a:pt x="862214" y="879083"/>
                </a:lnTo>
                <a:lnTo>
                  <a:pt x="814088" y="894654"/>
                </a:lnTo>
                <a:lnTo>
                  <a:pt x="763941" y="907048"/>
                </a:lnTo>
                <a:lnTo>
                  <a:pt x="711986" y="916104"/>
                </a:lnTo>
                <a:lnTo>
                  <a:pt x="658435" y="921656"/>
                </a:lnTo>
                <a:lnTo>
                  <a:pt x="603504" y="923544"/>
                </a:lnTo>
                <a:lnTo>
                  <a:pt x="548572" y="921656"/>
                </a:lnTo>
                <a:lnTo>
                  <a:pt x="495021" y="916104"/>
                </a:lnTo>
                <a:lnTo>
                  <a:pt x="443066" y="907048"/>
                </a:lnTo>
                <a:lnTo>
                  <a:pt x="392919" y="894654"/>
                </a:lnTo>
                <a:lnTo>
                  <a:pt x="344793" y="879083"/>
                </a:lnTo>
                <a:lnTo>
                  <a:pt x="298901" y="860498"/>
                </a:lnTo>
                <a:lnTo>
                  <a:pt x="255456" y="839063"/>
                </a:lnTo>
                <a:lnTo>
                  <a:pt x="214671" y="814940"/>
                </a:lnTo>
                <a:lnTo>
                  <a:pt x="176760" y="788293"/>
                </a:lnTo>
                <a:lnTo>
                  <a:pt x="141934" y="759285"/>
                </a:lnTo>
                <a:lnTo>
                  <a:pt x="110408" y="728078"/>
                </a:lnTo>
                <a:lnTo>
                  <a:pt x="82394" y="694836"/>
                </a:lnTo>
                <a:lnTo>
                  <a:pt x="58106" y="659722"/>
                </a:lnTo>
                <a:lnTo>
                  <a:pt x="37756" y="622898"/>
                </a:lnTo>
                <a:lnTo>
                  <a:pt x="21557" y="584528"/>
                </a:lnTo>
                <a:lnTo>
                  <a:pt x="9723" y="544775"/>
                </a:lnTo>
                <a:lnTo>
                  <a:pt x="2466" y="503802"/>
                </a:lnTo>
                <a:lnTo>
                  <a:pt x="0" y="461772"/>
                </a:lnTo>
                <a:close/>
              </a:path>
            </a:pathLst>
          </a:custGeom>
          <a:ln w="19050">
            <a:solidFill>
              <a:srgbClr val="042333"/>
            </a:solidFill>
          </a:ln>
        </p:spPr>
        <p:txBody>
          <a:bodyPr wrap="square" lIns="0" tIns="0" rIns="0" bIns="0" rtlCol="0"/>
          <a:lstStyle/>
          <a:p>
            <a:endParaRPr/>
          </a:p>
        </p:txBody>
      </p:sp>
      <p:sp>
        <p:nvSpPr>
          <p:cNvPr id="32" name="object 32"/>
          <p:cNvSpPr txBox="1"/>
          <p:nvPr/>
        </p:nvSpPr>
        <p:spPr>
          <a:xfrm>
            <a:off x="10929659" y="5898583"/>
            <a:ext cx="1114378" cy="567463"/>
          </a:xfrm>
          <a:prstGeom prst="rect">
            <a:avLst/>
          </a:prstGeom>
        </p:spPr>
        <p:txBody>
          <a:bodyPr vert="horz" wrap="square" lIns="0" tIns="12700" rIns="0" bIns="0" rtlCol="0">
            <a:spAutoFit/>
          </a:bodyPr>
          <a:lstStyle/>
          <a:p>
            <a:pPr algn="ctr">
              <a:lnSpc>
                <a:spcPts val="2155"/>
              </a:lnSpc>
            </a:pPr>
            <a:r>
              <a:rPr lang="en-US" sz="1800" spc="-75" dirty="0">
                <a:solidFill>
                  <a:srgbClr val="FF0000"/>
                </a:solidFill>
                <a:cs typeface="Arial"/>
              </a:rPr>
              <a:t>Class 1</a:t>
            </a:r>
          </a:p>
          <a:p>
            <a:pPr algn="ctr">
              <a:lnSpc>
                <a:spcPts val="2155"/>
              </a:lnSpc>
            </a:pPr>
            <a:r>
              <a:rPr sz="1800" spc="-75" dirty="0">
                <a:solidFill>
                  <a:srgbClr val="FF0000"/>
                </a:solidFill>
                <a:cs typeface="Arial"/>
              </a:rPr>
              <a:t>(</a:t>
            </a:r>
            <a:r>
              <a:rPr lang="en-US" sz="1800" spc="-75" dirty="0">
                <a:solidFill>
                  <a:srgbClr val="FF0000"/>
                </a:solidFill>
                <a:cs typeface="Arial"/>
              </a:rPr>
              <a:t>Kinh </a:t>
            </a:r>
            <a:r>
              <a:rPr lang="en-US" sz="1800" spc="-75" dirty="0" err="1">
                <a:solidFill>
                  <a:srgbClr val="FF0000"/>
                </a:solidFill>
                <a:cs typeface="Arial"/>
              </a:rPr>
              <a:t>doanh</a:t>
            </a:r>
            <a:r>
              <a:rPr sz="1800" spc="-50" dirty="0">
                <a:solidFill>
                  <a:srgbClr val="FF0000"/>
                </a:solidFill>
                <a:cs typeface="Arial"/>
              </a:rPr>
              <a:t>)</a:t>
            </a:r>
            <a:endParaRPr sz="1800" dirty="0">
              <a:cs typeface="Arial"/>
            </a:endParaRPr>
          </a:p>
        </p:txBody>
      </p:sp>
      <p:sp>
        <p:nvSpPr>
          <p:cNvPr id="33" name="object 33"/>
          <p:cNvSpPr/>
          <p:nvPr/>
        </p:nvSpPr>
        <p:spPr>
          <a:xfrm>
            <a:off x="11138154" y="5289041"/>
            <a:ext cx="309245" cy="390525"/>
          </a:xfrm>
          <a:custGeom>
            <a:avLst/>
            <a:gdLst/>
            <a:ahLst/>
            <a:cxnLst/>
            <a:rect l="l" t="t" r="r" b="b"/>
            <a:pathLst>
              <a:path w="309245" h="390525">
                <a:moveTo>
                  <a:pt x="0" y="0"/>
                </a:moveTo>
                <a:lnTo>
                  <a:pt x="308978" y="390398"/>
                </a:lnTo>
              </a:path>
            </a:pathLst>
          </a:custGeom>
          <a:ln w="19050">
            <a:solidFill>
              <a:srgbClr val="145F82"/>
            </a:solidFill>
          </a:ln>
        </p:spPr>
        <p:txBody>
          <a:bodyPr wrap="square" lIns="0" tIns="0" rIns="0" bIns="0" rtlCol="0"/>
          <a:lstStyle/>
          <a:p>
            <a:endParaRPr/>
          </a:p>
        </p:txBody>
      </p:sp>
      <p:sp>
        <p:nvSpPr>
          <p:cNvPr id="34" name="object 34"/>
          <p:cNvSpPr/>
          <p:nvPr/>
        </p:nvSpPr>
        <p:spPr>
          <a:xfrm>
            <a:off x="11409378" y="5645834"/>
            <a:ext cx="77470" cy="83820"/>
          </a:xfrm>
          <a:custGeom>
            <a:avLst/>
            <a:gdLst/>
            <a:ahLst/>
            <a:cxnLst/>
            <a:rect l="l" t="t" r="r" b="b"/>
            <a:pathLst>
              <a:path w="77470" h="83820">
                <a:moveTo>
                  <a:pt x="59753" y="0"/>
                </a:moveTo>
                <a:lnTo>
                  <a:pt x="0" y="47282"/>
                </a:lnTo>
                <a:lnTo>
                  <a:pt x="77165" y="83400"/>
                </a:lnTo>
                <a:lnTo>
                  <a:pt x="59753" y="0"/>
                </a:lnTo>
                <a:close/>
              </a:path>
            </a:pathLst>
          </a:custGeom>
          <a:solidFill>
            <a:srgbClr val="145F82"/>
          </a:solidFill>
        </p:spPr>
        <p:txBody>
          <a:bodyPr wrap="square" lIns="0" tIns="0" rIns="0" bIns="0" rtlCol="0"/>
          <a:lstStyle/>
          <a:p>
            <a:endParaRPr/>
          </a:p>
        </p:txBody>
      </p:sp>
      <p:sp>
        <p:nvSpPr>
          <p:cNvPr id="35" name="object 35"/>
          <p:cNvSpPr/>
          <p:nvPr/>
        </p:nvSpPr>
        <p:spPr>
          <a:xfrm>
            <a:off x="9918058" y="5289041"/>
            <a:ext cx="367665" cy="394335"/>
          </a:xfrm>
          <a:custGeom>
            <a:avLst/>
            <a:gdLst/>
            <a:ahLst/>
            <a:cxnLst/>
            <a:rect l="l" t="t" r="r" b="b"/>
            <a:pathLst>
              <a:path w="367665" h="394335">
                <a:moveTo>
                  <a:pt x="367131" y="0"/>
                </a:moveTo>
                <a:lnTo>
                  <a:pt x="0" y="393750"/>
                </a:lnTo>
              </a:path>
            </a:pathLst>
          </a:custGeom>
          <a:ln w="19050">
            <a:solidFill>
              <a:srgbClr val="145F82"/>
            </a:solidFill>
          </a:ln>
        </p:spPr>
        <p:txBody>
          <a:bodyPr wrap="square" lIns="0" tIns="0" rIns="0" bIns="0" rtlCol="0"/>
          <a:lstStyle/>
          <a:p>
            <a:endParaRPr/>
          </a:p>
        </p:txBody>
      </p:sp>
      <p:sp>
        <p:nvSpPr>
          <p:cNvPr id="36" name="object 36"/>
          <p:cNvSpPr/>
          <p:nvPr/>
        </p:nvSpPr>
        <p:spPr>
          <a:xfrm>
            <a:off x="9874761" y="5647514"/>
            <a:ext cx="80010" cy="81915"/>
          </a:xfrm>
          <a:custGeom>
            <a:avLst/>
            <a:gdLst/>
            <a:ahLst/>
            <a:cxnLst/>
            <a:rect l="l" t="t" r="r" b="b"/>
            <a:pathLst>
              <a:path w="80009" h="81914">
                <a:moveTo>
                  <a:pt x="24091" y="0"/>
                </a:moveTo>
                <a:lnTo>
                  <a:pt x="0" y="81711"/>
                </a:lnTo>
                <a:lnTo>
                  <a:pt x="79832" y="51968"/>
                </a:lnTo>
                <a:lnTo>
                  <a:pt x="24091" y="0"/>
                </a:lnTo>
                <a:close/>
              </a:path>
            </a:pathLst>
          </a:custGeom>
          <a:solidFill>
            <a:srgbClr val="145F82"/>
          </a:solidFill>
        </p:spPr>
        <p:txBody>
          <a:bodyPr wrap="square" lIns="0" tIns="0" rIns="0" bIns="0" rtlCol="0"/>
          <a:lstStyle/>
          <a:p>
            <a:endParaRPr/>
          </a:p>
        </p:txBody>
      </p:sp>
      <p:sp>
        <p:nvSpPr>
          <p:cNvPr id="37" name="object 37"/>
          <p:cNvSpPr/>
          <p:nvPr/>
        </p:nvSpPr>
        <p:spPr>
          <a:xfrm>
            <a:off x="10712957" y="4188714"/>
            <a:ext cx="0" cy="247650"/>
          </a:xfrm>
          <a:custGeom>
            <a:avLst/>
            <a:gdLst/>
            <a:ahLst/>
            <a:cxnLst/>
            <a:rect l="l" t="t" r="r" b="b"/>
            <a:pathLst>
              <a:path h="247650">
                <a:moveTo>
                  <a:pt x="0" y="0"/>
                </a:moveTo>
                <a:lnTo>
                  <a:pt x="0" y="247650"/>
                </a:lnTo>
              </a:path>
            </a:pathLst>
          </a:custGeom>
          <a:ln w="19050">
            <a:solidFill>
              <a:srgbClr val="145F82"/>
            </a:solidFill>
          </a:ln>
        </p:spPr>
        <p:txBody>
          <a:bodyPr wrap="square" lIns="0" tIns="0" rIns="0" bIns="0" rtlCol="0"/>
          <a:lstStyle/>
          <a:p>
            <a:endParaRPr/>
          </a:p>
        </p:txBody>
      </p:sp>
      <p:sp>
        <p:nvSpPr>
          <p:cNvPr id="38" name="object 38"/>
          <p:cNvSpPr/>
          <p:nvPr/>
        </p:nvSpPr>
        <p:spPr>
          <a:xfrm>
            <a:off x="10674861" y="4423666"/>
            <a:ext cx="76200" cy="76200"/>
          </a:xfrm>
          <a:custGeom>
            <a:avLst/>
            <a:gdLst/>
            <a:ahLst/>
            <a:cxnLst/>
            <a:rect l="l" t="t" r="r" b="b"/>
            <a:pathLst>
              <a:path w="76200" h="76200">
                <a:moveTo>
                  <a:pt x="76200" y="0"/>
                </a:moveTo>
                <a:lnTo>
                  <a:pt x="0" y="0"/>
                </a:lnTo>
                <a:lnTo>
                  <a:pt x="38100" y="76200"/>
                </a:lnTo>
                <a:lnTo>
                  <a:pt x="76200" y="0"/>
                </a:lnTo>
                <a:close/>
              </a:path>
            </a:pathLst>
          </a:custGeom>
          <a:solidFill>
            <a:srgbClr val="145F82"/>
          </a:solidFill>
        </p:spPr>
        <p:txBody>
          <a:bodyPr wrap="square" lIns="0" tIns="0" rIns="0" bIns="0" rtlCol="0"/>
          <a:lstStyle/>
          <a:p>
            <a:endParaRPr/>
          </a:p>
        </p:txBody>
      </p:sp>
      <p:sp>
        <p:nvSpPr>
          <p:cNvPr id="39" name="object 39"/>
          <p:cNvSpPr/>
          <p:nvPr/>
        </p:nvSpPr>
        <p:spPr>
          <a:xfrm>
            <a:off x="9367266" y="4330446"/>
            <a:ext cx="121920" cy="581660"/>
          </a:xfrm>
          <a:custGeom>
            <a:avLst/>
            <a:gdLst/>
            <a:ahLst/>
            <a:cxnLst/>
            <a:rect l="l" t="t" r="r" b="b"/>
            <a:pathLst>
              <a:path w="121920" h="581660">
                <a:moveTo>
                  <a:pt x="0" y="0"/>
                </a:moveTo>
                <a:lnTo>
                  <a:pt x="121780" y="581405"/>
                </a:lnTo>
              </a:path>
            </a:pathLst>
          </a:custGeom>
          <a:ln w="19049">
            <a:solidFill>
              <a:srgbClr val="145F82"/>
            </a:solidFill>
          </a:ln>
        </p:spPr>
        <p:txBody>
          <a:bodyPr wrap="square" lIns="0" tIns="0" rIns="0" bIns="0" rtlCol="0"/>
          <a:lstStyle/>
          <a:p>
            <a:endParaRPr/>
          </a:p>
        </p:txBody>
      </p:sp>
      <p:sp>
        <p:nvSpPr>
          <p:cNvPr id="40" name="object 40"/>
          <p:cNvSpPr/>
          <p:nvPr/>
        </p:nvSpPr>
        <p:spPr>
          <a:xfrm>
            <a:off x="9449155" y="4891608"/>
            <a:ext cx="74930" cy="82550"/>
          </a:xfrm>
          <a:custGeom>
            <a:avLst/>
            <a:gdLst/>
            <a:ahLst/>
            <a:cxnLst/>
            <a:rect l="l" t="t" r="r" b="b"/>
            <a:pathLst>
              <a:path w="74929" h="82550">
                <a:moveTo>
                  <a:pt x="74587" y="0"/>
                </a:moveTo>
                <a:lnTo>
                  <a:pt x="0" y="15621"/>
                </a:lnTo>
                <a:lnTo>
                  <a:pt x="52920" y="82397"/>
                </a:lnTo>
                <a:lnTo>
                  <a:pt x="74587" y="0"/>
                </a:lnTo>
                <a:close/>
              </a:path>
            </a:pathLst>
          </a:custGeom>
          <a:solidFill>
            <a:srgbClr val="145F82"/>
          </a:solidFill>
        </p:spPr>
        <p:txBody>
          <a:bodyPr wrap="square" lIns="0" tIns="0" rIns="0" bIns="0" rtlCol="0"/>
          <a:lstStyle/>
          <a:p>
            <a:endParaRPr/>
          </a:p>
        </p:txBody>
      </p:sp>
      <p:sp>
        <p:nvSpPr>
          <p:cNvPr id="41" name="object 41"/>
          <p:cNvSpPr txBox="1"/>
          <p:nvPr/>
        </p:nvSpPr>
        <p:spPr>
          <a:xfrm>
            <a:off x="7784827" y="5138451"/>
            <a:ext cx="220345" cy="299720"/>
          </a:xfrm>
          <a:prstGeom prst="rect">
            <a:avLst/>
          </a:prstGeom>
        </p:spPr>
        <p:txBody>
          <a:bodyPr vert="horz" wrap="square" lIns="0" tIns="12700" rIns="0" bIns="0" rtlCol="0">
            <a:spAutoFit/>
          </a:bodyPr>
          <a:lstStyle/>
          <a:p>
            <a:pPr marL="12700">
              <a:lnSpc>
                <a:spcPct val="100000"/>
              </a:lnSpc>
              <a:spcBef>
                <a:spcPts val="100"/>
              </a:spcBef>
            </a:pPr>
            <a:r>
              <a:rPr sz="1800" b="1" spc="-270" dirty="0">
                <a:latin typeface="Arial"/>
                <a:cs typeface="Arial"/>
              </a:rPr>
              <a:t>…</a:t>
            </a:r>
            <a:endParaRPr sz="1800">
              <a:latin typeface="Arial"/>
              <a:cs typeface="Arial"/>
            </a:endParaRPr>
          </a:p>
        </p:txBody>
      </p:sp>
      <p:sp>
        <p:nvSpPr>
          <p:cNvPr id="42" name="object 42"/>
          <p:cNvSpPr/>
          <p:nvPr/>
        </p:nvSpPr>
        <p:spPr>
          <a:xfrm>
            <a:off x="7770114" y="4319778"/>
            <a:ext cx="118745" cy="742950"/>
          </a:xfrm>
          <a:custGeom>
            <a:avLst/>
            <a:gdLst/>
            <a:ahLst/>
            <a:cxnLst/>
            <a:rect l="l" t="t" r="r" b="b"/>
            <a:pathLst>
              <a:path w="118745" h="742950">
                <a:moveTo>
                  <a:pt x="0" y="0"/>
                </a:moveTo>
                <a:lnTo>
                  <a:pt x="118211" y="742696"/>
                </a:lnTo>
              </a:path>
            </a:pathLst>
          </a:custGeom>
          <a:ln w="19050">
            <a:solidFill>
              <a:srgbClr val="145F82"/>
            </a:solidFill>
          </a:ln>
        </p:spPr>
        <p:txBody>
          <a:bodyPr wrap="square" lIns="0" tIns="0" rIns="0" bIns="0" rtlCol="0"/>
          <a:lstStyle/>
          <a:p>
            <a:endParaRPr/>
          </a:p>
        </p:txBody>
      </p:sp>
      <p:sp>
        <p:nvSpPr>
          <p:cNvPr id="43" name="object 43"/>
          <p:cNvSpPr/>
          <p:nvPr/>
        </p:nvSpPr>
        <p:spPr>
          <a:xfrm>
            <a:off x="7848713" y="5043940"/>
            <a:ext cx="75565" cy="81280"/>
          </a:xfrm>
          <a:custGeom>
            <a:avLst/>
            <a:gdLst/>
            <a:ahLst/>
            <a:cxnLst/>
            <a:rect l="l" t="t" r="r" b="b"/>
            <a:pathLst>
              <a:path w="75565" h="81279">
                <a:moveTo>
                  <a:pt x="75247" y="0"/>
                </a:moveTo>
                <a:lnTo>
                  <a:pt x="0" y="11976"/>
                </a:lnTo>
                <a:lnTo>
                  <a:pt x="49593" y="81241"/>
                </a:lnTo>
                <a:lnTo>
                  <a:pt x="75247" y="0"/>
                </a:lnTo>
                <a:close/>
              </a:path>
            </a:pathLst>
          </a:custGeom>
          <a:solidFill>
            <a:srgbClr val="145F82"/>
          </a:solidFill>
        </p:spPr>
        <p:txBody>
          <a:bodyPr wrap="square" lIns="0" tIns="0" rIns="0" bIns="0" rtlCol="0"/>
          <a:lstStyle/>
          <a:p>
            <a:endParaRPr/>
          </a:p>
        </p:txBody>
      </p:sp>
      <p:sp>
        <p:nvSpPr>
          <p:cNvPr id="44" name="object 44"/>
          <p:cNvSpPr txBox="1"/>
          <p:nvPr/>
        </p:nvSpPr>
        <p:spPr>
          <a:xfrm>
            <a:off x="6502634" y="5045186"/>
            <a:ext cx="220345" cy="299720"/>
          </a:xfrm>
          <a:prstGeom prst="rect">
            <a:avLst/>
          </a:prstGeom>
        </p:spPr>
        <p:txBody>
          <a:bodyPr vert="horz" wrap="square" lIns="0" tIns="12700" rIns="0" bIns="0" rtlCol="0">
            <a:spAutoFit/>
          </a:bodyPr>
          <a:lstStyle/>
          <a:p>
            <a:pPr marL="12700">
              <a:lnSpc>
                <a:spcPct val="100000"/>
              </a:lnSpc>
              <a:spcBef>
                <a:spcPts val="100"/>
              </a:spcBef>
            </a:pPr>
            <a:r>
              <a:rPr sz="1800" b="1" spc="-270" dirty="0">
                <a:latin typeface="Arial"/>
                <a:cs typeface="Arial"/>
              </a:rPr>
              <a:t>…</a:t>
            </a:r>
            <a:endParaRPr sz="1800">
              <a:latin typeface="Arial"/>
              <a:cs typeface="Arial"/>
            </a:endParaRPr>
          </a:p>
        </p:txBody>
      </p:sp>
      <p:sp>
        <p:nvSpPr>
          <p:cNvPr id="45" name="object 45"/>
          <p:cNvSpPr/>
          <p:nvPr/>
        </p:nvSpPr>
        <p:spPr>
          <a:xfrm>
            <a:off x="6639642" y="4319778"/>
            <a:ext cx="276860" cy="654050"/>
          </a:xfrm>
          <a:custGeom>
            <a:avLst/>
            <a:gdLst/>
            <a:ahLst/>
            <a:cxnLst/>
            <a:rect l="l" t="t" r="r" b="b"/>
            <a:pathLst>
              <a:path w="276859" h="654050">
                <a:moveTo>
                  <a:pt x="276301" y="0"/>
                </a:moveTo>
                <a:lnTo>
                  <a:pt x="0" y="653643"/>
                </a:lnTo>
              </a:path>
            </a:pathLst>
          </a:custGeom>
          <a:ln w="19050">
            <a:solidFill>
              <a:srgbClr val="145F82"/>
            </a:solidFill>
          </a:ln>
        </p:spPr>
        <p:txBody>
          <a:bodyPr wrap="square" lIns="0" tIns="0" rIns="0" bIns="0" rtlCol="0"/>
          <a:lstStyle/>
          <a:p>
            <a:endParaRPr/>
          </a:p>
        </p:txBody>
      </p:sp>
      <p:sp>
        <p:nvSpPr>
          <p:cNvPr id="46" name="object 46"/>
          <p:cNvSpPr/>
          <p:nvPr/>
        </p:nvSpPr>
        <p:spPr>
          <a:xfrm>
            <a:off x="6609492" y="4946894"/>
            <a:ext cx="70485" cy="85090"/>
          </a:xfrm>
          <a:custGeom>
            <a:avLst/>
            <a:gdLst/>
            <a:ahLst/>
            <a:cxnLst/>
            <a:rect l="l" t="t" r="r" b="b"/>
            <a:pathLst>
              <a:path w="70484" h="85089">
                <a:moveTo>
                  <a:pt x="0" y="0"/>
                </a:moveTo>
                <a:lnTo>
                  <a:pt x="5422" y="85026"/>
                </a:lnTo>
                <a:lnTo>
                  <a:pt x="70192" y="29667"/>
                </a:lnTo>
                <a:lnTo>
                  <a:pt x="0" y="0"/>
                </a:lnTo>
                <a:close/>
              </a:path>
            </a:pathLst>
          </a:custGeom>
          <a:solidFill>
            <a:srgbClr val="145F82"/>
          </a:solidFill>
        </p:spPr>
        <p:txBody>
          <a:bodyPr wrap="square" lIns="0" tIns="0" rIns="0" bIns="0" rtlCol="0"/>
          <a:lstStyle/>
          <a:p>
            <a:endParaRPr/>
          </a:p>
        </p:txBody>
      </p:sp>
      <p:sp>
        <p:nvSpPr>
          <p:cNvPr id="47" name="object 47"/>
          <p:cNvSpPr txBox="1"/>
          <p:nvPr/>
        </p:nvSpPr>
        <p:spPr>
          <a:xfrm>
            <a:off x="8359378" y="5041803"/>
            <a:ext cx="220345" cy="299720"/>
          </a:xfrm>
          <a:prstGeom prst="rect">
            <a:avLst/>
          </a:prstGeom>
        </p:spPr>
        <p:txBody>
          <a:bodyPr vert="horz" wrap="square" lIns="0" tIns="12700" rIns="0" bIns="0" rtlCol="0">
            <a:spAutoFit/>
          </a:bodyPr>
          <a:lstStyle/>
          <a:p>
            <a:pPr marL="12700">
              <a:lnSpc>
                <a:spcPct val="100000"/>
              </a:lnSpc>
              <a:spcBef>
                <a:spcPts val="100"/>
              </a:spcBef>
            </a:pPr>
            <a:r>
              <a:rPr sz="1800" b="1" spc="-270" dirty="0">
                <a:latin typeface="Arial"/>
                <a:cs typeface="Arial"/>
              </a:rPr>
              <a:t>…</a:t>
            </a:r>
            <a:endParaRPr sz="1800">
              <a:latin typeface="Arial"/>
              <a:cs typeface="Arial"/>
            </a:endParaRPr>
          </a:p>
        </p:txBody>
      </p:sp>
      <p:sp>
        <p:nvSpPr>
          <p:cNvPr id="48" name="object 48"/>
          <p:cNvSpPr/>
          <p:nvPr/>
        </p:nvSpPr>
        <p:spPr>
          <a:xfrm>
            <a:off x="8476471" y="4330446"/>
            <a:ext cx="38100" cy="633730"/>
          </a:xfrm>
          <a:custGeom>
            <a:avLst/>
            <a:gdLst/>
            <a:ahLst/>
            <a:cxnLst/>
            <a:rect l="l" t="t" r="r" b="b"/>
            <a:pathLst>
              <a:path w="38100" h="633729">
                <a:moveTo>
                  <a:pt x="37846" y="0"/>
                </a:moveTo>
                <a:lnTo>
                  <a:pt x="0" y="633437"/>
                </a:lnTo>
              </a:path>
            </a:pathLst>
          </a:custGeom>
          <a:ln w="19050">
            <a:solidFill>
              <a:srgbClr val="145F82"/>
            </a:solidFill>
          </a:ln>
        </p:spPr>
        <p:txBody>
          <a:bodyPr wrap="square" lIns="0" tIns="0" rIns="0" bIns="0" rtlCol="0"/>
          <a:lstStyle/>
          <a:p>
            <a:endParaRPr/>
          </a:p>
        </p:txBody>
      </p:sp>
      <p:sp>
        <p:nvSpPr>
          <p:cNvPr id="49" name="object 49"/>
          <p:cNvSpPr/>
          <p:nvPr/>
        </p:nvSpPr>
        <p:spPr>
          <a:xfrm>
            <a:off x="8439187" y="4948935"/>
            <a:ext cx="76200" cy="78740"/>
          </a:xfrm>
          <a:custGeom>
            <a:avLst/>
            <a:gdLst/>
            <a:ahLst/>
            <a:cxnLst/>
            <a:rect l="l" t="t" r="r" b="b"/>
            <a:pathLst>
              <a:path w="76200" h="78739">
                <a:moveTo>
                  <a:pt x="0" y="0"/>
                </a:moveTo>
                <a:lnTo>
                  <a:pt x="33489" y="78333"/>
                </a:lnTo>
                <a:lnTo>
                  <a:pt x="76060" y="4546"/>
                </a:lnTo>
                <a:lnTo>
                  <a:pt x="0" y="0"/>
                </a:lnTo>
                <a:close/>
              </a:path>
            </a:pathLst>
          </a:custGeom>
          <a:solidFill>
            <a:srgbClr val="145F82"/>
          </a:solidFill>
        </p:spPr>
        <p:txBody>
          <a:bodyPr wrap="square" lIns="0" tIns="0" rIns="0" bIns="0" rtlCol="0"/>
          <a:lstStyle/>
          <a:p>
            <a:endParaRPr/>
          </a:p>
        </p:txBody>
      </p:sp>
      <p:sp>
        <p:nvSpPr>
          <p:cNvPr id="50" name="object 50"/>
          <p:cNvSpPr txBox="1"/>
          <p:nvPr/>
        </p:nvSpPr>
        <p:spPr>
          <a:xfrm>
            <a:off x="7914726" y="1548798"/>
            <a:ext cx="449580" cy="299720"/>
          </a:xfrm>
          <a:prstGeom prst="rect">
            <a:avLst/>
          </a:prstGeom>
        </p:spPr>
        <p:txBody>
          <a:bodyPr vert="horz" wrap="square" lIns="0" tIns="12700" rIns="0" bIns="0" rtlCol="0">
            <a:spAutoFit/>
          </a:bodyPr>
          <a:lstStyle/>
          <a:p>
            <a:pPr marL="12700">
              <a:lnSpc>
                <a:spcPct val="100000"/>
              </a:lnSpc>
              <a:spcBef>
                <a:spcPts val="100"/>
              </a:spcBef>
            </a:pPr>
            <a:r>
              <a:rPr sz="1800" spc="-325" dirty="0">
                <a:solidFill>
                  <a:srgbClr val="153D63"/>
                </a:solidFill>
                <a:latin typeface="Arial"/>
                <a:cs typeface="Arial"/>
              </a:rPr>
              <a:t>T</a:t>
            </a:r>
            <a:r>
              <a:rPr sz="1800" spc="-5" dirty="0">
                <a:solidFill>
                  <a:srgbClr val="153D63"/>
                </a:solidFill>
                <a:latin typeface="Arial"/>
                <a:cs typeface="Arial"/>
              </a:rPr>
              <a:t>r</a:t>
            </a:r>
            <a:r>
              <a:rPr sz="1800" dirty="0">
                <a:solidFill>
                  <a:srgbClr val="153D63"/>
                </a:solidFill>
                <a:latin typeface="Arial"/>
                <a:cs typeface="Arial"/>
              </a:rPr>
              <a:t>u</a:t>
            </a:r>
            <a:r>
              <a:rPr sz="1800" spc="-55" dirty="0">
                <a:solidFill>
                  <a:srgbClr val="153D63"/>
                </a:solidFill>
                <a:latin typeface="Arial"/>
                <a:cs typeface="Arial"/>
              </a:rPr>
              <a:t>e</a:t>
            </a:r>
            <a:endParaRPr sz="1800">
              <a:latin typeface="Arial"/>
              <a:cs typeface="Arial"/>
            </a:endParaRPr>
          </a:p>
        </p:txBody>
      </p:sp>
      <p:sp>
        <p:nvSpPr>
          <p:cNvPr id="51" name="object 51"/>
          <p:cNvSpPr txBox="1"/>
          <p:nvPr/>
        </p:nvSpPr>
        <p:spPr>
          <a:xfrm>
            <a:off x="7106167" y="2957659"/>
            <a:ext cx="449580" cy="299720"/>
          </a:xfrm>
          <a:prstGeom prst="rect">
            <a:avLst/>
          </a:prstGeom>
        </p:spPr>
        <p:txBody>
          <a:bodyPr vert="horz" wrap="square" lIns="0" tIns="12700" rIns="0" bIns="0" rtlCol="0">
            <a:spAutoFit/>
          </a:bodyPr>
          <a:lstStyle/>
          <a:p>
            <a:pPr marL="12700">
              <a:lnSpc>
                <a:spcPct val="100000"/>
              </a:lnSpc>
              <a:spcBef>
                <a:spcPts val="100"/>
              </a:spcBef>
            </a:pPr>
            <a:r>
              <a:rPr sz="1800" spc="-325" dirty="0">
                <a:solidFill>
                  <a:srgbClr val="153D63"/>
                </a:solidFill>
                <a:latin typeface="Arial"/>
                <a:cs typeface="Arial"/>
              </a:rPr>
              <a:t>T</a:t>
            </a:r>
            <a:r>
              <a:rPr sz="1800" spc="-5" dirty="0">
                <a:solidFill>
                  <a:srgbClr val="153D63"/>
                </a:solidFill>
                <a:latin typeface="Arial"/>
                <a:cs typeface="Arial"/>
              </a:rPr>
              <a:t>r</a:t>
            </a:r>
            <a:r>
              <a:rPr sz="1800" dirty="0">
                <a:solidFill>
                  <a:srgbClr val="153D63"/>
                </a:solidFill>
                <a:latin typeface="Arial"/>
                <a:cs typeface="Arial"/>
              </a:rPr>
              <a:t>u</a:t>
            </a:r>
            <a:r>
              <a:rPr sz="1800" spc="-55" dirty="0">
                <a:solidFill>
                  <a:srgbClr val="153D63"/>
                </a:solidFill>
                <a:latin typeface="Arial"/>
                <a:cs typeface="Arial"/>
              </a:rPr>
              <a:t>e</a:t>
            </a:r>
            <a:endParaRPr sz="1800">
              <a:latin typeface="Arial"/>
              <a:cs typeface="Arial"/>
            </a:endParaRPr>
          </a:p>
        </p:txBody>
      </p:sp>
      <p:sp>
        <p:nvSpPr>
          <p:cNvPr id="52" name="object 52"/>
          <p:cNvSpPr txBox="1"/>
          <p:nvPr/>
        </p:nvSpPr>
        <p:spPr>
          <a:xfrm>
            <a:off x="6103299" y="4437615"/>
            <a:ext cx="449580" cy="299720"/>
          </a:xfrm>
          <a:prstGeom prst="rect">
            <a:avLst/>
          </a:prstGeom>
        </p:spPr>
        <p:txBody>
          <a:bodyPr vert="horz" wrap="square" lIns="0" tIns="12700" rIns="0" bIns="0" rtlCol="0">
            <a:spAutoFit/>
          </a:bodyPr>
          <a:lstStyle/>
          <a:p>
            <a:pPr marL="12700">
              <a:lnSpc>
                <a:spcPct val="100000"/>
              </a:lnSpc>
              <a:spcBef>
                <a:spcPts val="100"/>
              </a:spcBef>
            </a:pPr>
            <a:r>
              <a:rPr sz="1800" spc="-325" dirty="0">
                <a:solidFill>
                  <a:srgbClr val="153D63"/>
                </a:solidFill>
                <a:latin typeface="Arial"/>
                <a:cs typeface="Arial"/>
              </a:rPr>
              <a:t>T</a:t>
            </a:r>
            <a:r>
              <a:rPr sz="1800" spc="-5" dirty="0">
                <a:solidFill>
                  <a:srgbClr val="153D63"/>
                </a:solidFill>
                <a:latin typeface="Arial"/>
                <a:cs typeface="Arial"/>
              </a:rPr>
              <a:t>r</a:t>
            </a:r>
            <a:r>
              <a:rPr sz="1800" dirty="0">
                <a:solidFill>
                  <a:srgbClr val="153D63"/>
                </a:solidFill>
                <a:latin typeface="Arial"/>
                <a:cs typeface="Arial"/>
              </a:rPr>
              <a:t>u</a:t>
            </a:r>
            <a:r>
              <a:rPr sz="1800" spc="-55" dirty="0">
                <a:solidFill>
                  <a:srgbClr val="153D63"/>
                </a:solidFill>
                <a:latin typeface="Arial"/>
                <a:cs typeface="Arial"/>
              </a:rPr>
              <a:t>e</a:t>
            </a:r>
            <a:endParaRPr sz="1800">
              <a:latin typeface="Arial"/>
              <a:cs typeface="Arial"/>
            </a:endParaRPr>
          </a:p>
        </p:txBody>
      </p:sp>
      <p:sp>
        <p:nvSpPr>
          <p:cNvPr id="53" name="object 53"/>
          <p:cNvSpPr txBox="1"/>
          <p:nvPr/>
        </p:nvSpPr>
        <p:spPr>
          <a:xfrm>
            <a:off x="8037941" y="4357377"/>
            <a:ext cx="449580" cy="299720"/>
          </a:xfrm>
          <a:prstGeom prst="rect">
            <a:avLst/>
          </a:prstGeom>
        </p:spPr>
        <p:txBody>
          <a:bodyPr vert="horz" wrap="square" lIns="0" tIns="12700" rIns="0" bIns="0" rtlCol="0">
            <a:spAutoFit/>
          </a:bodyPr>
          <a:lstStyle/>
          <a:p>
            <a:pPr marL="12700">
              <a:lnSpc>
                <a:spcPct val="100000"/>
              </a:lnSpc>
              <a:spcBef>
                <a:spcPts val="100"/>
              </a:spcBef>
            </a:pPr>
            <a:r>
              <a:rPr sz="1800" spc="-325" dirty="0">
                <a:solidFill>
                  <a:srgbClr val="153D63"/>
                </a:solidFill>
                <a:latin typeface="Arial"/>
                <a:cs typeface="Arial"/>
              </a:rPr>
              <a:t>T</a:t>
            </a:r>
            <a:r>
              <a:rPr sz="1800" spc="-5" dirty="0">
                <a:solidFill>
                  <a:srgbClr val="153D63"/>
                </a:solidFill>
                <a:latin typeface="Arial"/>
                <a:cs typeface="Arial"/>
              </a:rPr>
              <a:t>r</a:t>
            </a:r>
            <a:r>
              <a:rPr sz="1800" dirty="0">
                <a:solidFill>
                  <a:srgbClr val="153D63"/>
                </a:solidFill>
                <a:latin typeface="Arial"/>
                <a:cs typeface="Arial"/>
              </a:rPr>
              <a:t>u</a:t>
            </a:r>
            <a:r>
              <a:rPr sz="1800" spc="-55" dirty="0">
                <a:solidFill>
                  <a:srgbClr val="153D63"/>
                </a:solidFill>
                <a:latin typeface="Arial"/>
                <a:cs typeface="Arial"/>
              </a:rPr>
              <a:t>e</a:t>
            </a:r>
            <a:endParaRPr sz="1800">
              <a:latin typeface="Arial"/>
              <a:cs typeface="Arial"/>
            </a:endParaRPr>
          </a:p>
        </p:txBody>
      </p:sp>
      <p:sp>
        <p:nvSpPr>
          <p:cNvPr id="54" name="object 54"/>
          <p:cNvSpPr txBox="1"/>
          <p:nvPr/>
        </p:nvSpPr>
        <p:spPr>
          <a:xfrm>
            <a:off x="9819878" y="1562971"/>
            <a:ext cx="55626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153D63"/>
                </a:solidFill>
                <a:latin typeface="Arial"/>
                <a:cs typeface="Arial"/>
              </a:rPr>
              <a:t>F</a:t>
            </a:r>
            <a:r>
              <a:rPr sz="1800" spc="-100" dirty="0">
                <a:solidFill>
                  <a:srgbClr val="153D63"/>
                </a:solidFill>
                <a:latin typeface="Arial"/>
                <a:cs typeface="Arial"/>
              </a:rPr>
              <a:t>a</a:t>
            </a:r>
            <a:r>
              <a:rPr sz="1800" spc="60" dirty="0">
                <a:solidFill>
                  <a:srgbClr val="153D63"/>
                </a:solidFill>
                <a:latin typeface="Arial"/>
                <a:cs typeface="Arial"/>
              </a:rPr>
              <a:t>l</a:t>
            </a:r>
            <a:r>
              <a:rPr sz="1800" spc="-30" dirty="0">
                <a:solidFill>
                  <a:srgbClr val="153D63"/>
                </a:solidFill>
                <a:latin typeface="Arial"/>
                <a:cs typeface="Arial"/>
              </a:rPr>
              <a:t>s</a:t>
            </a:r>
            <a:r>
              <a:rPr sz="1800" spc="-55" dirty="0">
                <a:solidFill>
                  <a:srgbClr val="153D63"/>
                </a:solidFill>
                <a:latin typeface="Arial"/>
                <a:cs typeface="Arial"/>
              </a:rPr>
              <a:t>e</a:t>
            </a:r>
            <a:endParaRPr sz="1800">
              <a:latin typeface="Arial"/>
              <a:cs typeface="Arial"/>
            </a:endParaRPr>
          </a:p>
        </p:txBody>
      </p:sp>
      <p:sp>
        <p:nvSpPr>
          <p:cNvPr id="55" name="object 55"/>
          <p:cNvSpPr txBox="1"/>
          <p:nvPr/>
        </p:nvSpPr>
        <p:spPr>
          <a:xfrm>
            <a:off x="10712332" y="3004065"/>
            <a:ext cx="55626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153D63"/>
                </a:solidFill>
                <a:latin typeface="Arial"/>
                <a:cs typeface="Arial"/>
              </a:rPr>
              <a:t>F</a:t>
            </a:r>
            <a:r>
              <a:rPr sz="1800" spc="-100" dirty="0">
                <a:solidFill>
                  <a:srgbClr val="153D63"/>
                </a:solidFill>
                <a:latin typeface="Arial"/>
                <a:cs typeface="Arial"/>
              </a:rPr>
              <a:t>a</a:t>
            </a:r>
            <a:r>
              <a:rPr sz="1800" spc="60" dirty="0">
                <a:solidFill>
                  <a:srgbClr val="153D63"/>
                </a:solidFill>
                <a:latin typeface="Arial"/>
                <a:cs typeface="Arial"/>
              </a:rPr>
              <a:t>l</a:t>
            </a:r>
            <a:r>
              <a:rPr sz="1800" spc="-30" dirty="0">
                <a:solidFill>
                  <a:srgbClr val="153D63"/>
                </a:solidFill>
                <a:latin typeface="Arial"/>
                <a:cs typeface="Arial"/>
              </a:rPr>
              <a:t>s</a:t>
            </a:r>
            <a:r>
              <a:rPr sz="1800" spc="-55" dirty="0">
                <a:solidFill>
                  <a:srgbClr val="153D63"/>
                </a:solidFill>
                <a:latin typeface="Arial"/>
                <a:cs typeface="Arial"/>
              </a:rPr>
              <a:t>e</a:t>
            </a:r>
            <a:endParaRPr sz="1800">
              <a:latin typeface="Arial"/>
              <a:cs typeface="Arial"/>
            </a:endParaRPr>
          </a:p>
        </p:txBody>
      </p:sp>
      <p:sp>
        <p:nvSpPr>
          <p:cNvPr id="56" name="object 56"/>
          <p:cNvSpPr txBox="1"/>
          <p:nvPr/>
        </p:nvSpPr>
        <p:spPr>
          <a:xfrm>
            <a:off x="11391046" y="5210741"/>
            <a:ext cx="55626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153D63"/>
                </a:solidFill>
                <a:latin typeface="Arial"/>
                <a:cs typeface="Arial"/>
              </a:rPr>
              <a:t>F</a:t>
            </a:r>
            <a:r>
              <a:rPr sz="1800" spc="-100" dirty="0">
                <a:solidFill>
                  <a:srgbClr val="153D63"/>
                </a:solidFill>
                <a:latin typeface="Arial"/>
                <a:cs typeface="Arial"/>
              </a:rPr>
              <a:t>a</a:t>
            </a:r>
            <a:r>
              <a:rPr sz="1800" spc="60" dirty="0">
                <a:solidFill>
                  <a:srgbClr val="153D63"/>
                </a:solidFill>
                <a:latin typeface="Arial"/>
                <a:cs typeface="Arial"/>
              </a:rPr>
              <a:t>l</a:t>
            </a:r>
            <a:r>
              <a:rPr sz="1800" spc="-30" dirty="0">
                <a:solidFill>
                  <a:srgbClr val="153D63"/>
                </a:solidFill>
                <a:latin typeface="Arial"/>
                <a:cs typeface="Arial"/>
              </a:rPr>
              <a:t>s</a:t>
            </a:r>
            <a:r>
              <a:rPr sz="1800" spc="-55" dirty="0">
                <a:solidFill>
                  <a:srgbClr val="153D63"/>
                </a:solidFill>
                <a:latin typeface="Arial"/>
                <a:cs typeface="Arial"/>
              </a:rPr>
              <a:t>e</a:t>
            </a:r>
            <a:endParaRPr sz="1800">
              <a:latin typeface="Arial"/>
              <a:cs typeface="Arial"/>
            </a:endParaRPr>
          </a:p>
        </p:txBody>
      </p:sp>
      <p:sp>
        <p:nvSpPr>
          <p:cNvPr id="57" name="object 57"/>
          <p:cNvSpPr txBox="1"/>
          <p:nvPr/>
        </p:nvSpPr>
        <p:spPr>
          <a:xfrm>
            <a:off x="9471949" y="4378637"/>
            <a:ext cx="55626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153D63"/>
                </a:solidFill>
                <a:latin typeface="Arial"/>
                <a:cs typeface="Arial"/>
              </a:rPr>
              <a:t>F</a:t>
            </a:r>
            <a:r>
              <a:rPr sz="1800" spc="-100" dirty="0">
                <a:solidFill>
                  <a:srgbClr val="153D63"/>
                </a:solidFill>
                <a:latin typeface="Arial"/>
                <a:cs typeface="Arial"/>
              </a:rPr>
              <a:t>a</a:t>
            </a:r>
            <a:r>
              <a:rPr sz="1800" spc="60" dirty="0">
                <a:solidFill>
                  <a:srgbClr val="153D63"/>
                </a:solidFill>
                <a:latin typeface="Arial"/>
                <a:cs typeface="Arial"/>
              </a:rPr>
              <a:t>l</a:t>
            </a:r>
            <a:r>
              <a:rPr sz="1800" spc="-30" dirty="0">
                <a:solidFill>
                  <a:srgbClr val="153D63"/>
                </a:solidFill>
                <a:latin typeface="Arial"/>
                <a:cs typeface="Arial"/>
              </a:rPr>
              <a:t>s</a:t>
            </a:r>
            <a:r>
              <a:rPr sz="1800" spc="-55" dirty="0">
                <a:solidFill>
                  <a:srgbClr val="153D63"/>
                </a:solidFill>
                <a:latin typeface="Arial"/>
                <a:cs typeface="Arial"/>
              </a:rPr>
              <a:t>e</a:t>
            </a:r>
            <a:endParaRPr sz="1800">
              <a:latin typeface="Arial"/>
              <a:cs typeface="Arial"/>
            </a:endParaRPr>
          </a:p>
        </p:txBody>
      </p:sp>
      <p:sp>
        <p:nvSpPr>
          <p:cNvPr id="58" name="object 58"/>
          <p:cNvSpPr txBox="1"/>
          <p:nvPr/>
        </p:nvSpPr>
        <p:spPr>
          <a:xfrm>
            <a:off x="7190064" y="4586206"/>
            <a:ext cx="55626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153D63"/>
                </a:solidFill>
                <a:latin typeface="Arial"/>
                <a:cs typeface="Arial"/>
              </a:rPr>
              <a:t>F</a:t>
            </a:r>
            <a:r>
              <a:rPr sz="1800" spc="-100" dirty="0">
                <a:solidFill>
                  <a:srgbClr val="153D63"/>
                </a:solidFill>
                <a:latin typeface="Arial"/>
                <a:cs typeface="Arial"/>
              </a:rPr>
              <a:t>a</a:t>
            </a:r>
            <a:r>
              <a:rPr sz="1800" spc="60" dirty="0">
                <a:solidFill>
                  <a:srgbClr val="153D63"/>
                </a:solidFill>
                <a:latin typeface="Arial"/>
                <a:cs typeface="Arial"/>
              </a:rPr>
              <a:t>l</a:t>
            </a:r>
            <a:r>
              <a:rPr sz="1800" spc="-30" dirty="0">
                <a:solidFill>
                  <a:srgbClr val="153D63"/>
                </a:solidFill>
                <a:latin typeface="Arial"/>
                <a:cs typeface="Arial"/>
              </a:rPr>
              <a:t>s</a:t>
            </a:r>
            <a:r>
              <a:rPr sz="1800" spc="-55" dirty="0">
                <a:solidFill>
                  <a:srgbClr val="153D63"/>
                </a:solidFill>
                <a:latin typeface="Arial"/>
                <a:cs typeface="Arial"/>
              </a:rPr>
              <a:t>e</a:t>
            </a:r>
            <a:endParaRPr sz="1800">
              <a:latin typeface="Arial"/>
              <a:cs typeface="Arial"/>
            </a:endParaRPr>
          </a:p>
        </p:txBody>
      </p:sp>
      <p:sp>
        <p:nvSpPr>
          <p:cNvPr id="59" name="object 59"/>
          <p:cNvSpPr txBox="1"/>
          <p:nvPr/>
        </p:nvSpPr>
        <p:spPr>
          <a:xfrm>
            <a:off x="8824325" y="2961317"/>
            <a:ext cx="556260" cy="299720"/>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153D63"/>
                </a:solidFill>
                <a:latin typeface="Arial"/>
                <a:cs typeface="Arial"/>
              </a:rPr>
              <a:t>F</a:t>
            </a:r>
            <a:r>
              <a:rPr sz="1800" spc="-100" dirty="0">
                <a:solidFill>
                  <a:srgbClr val="153D63"/>
                </a:solidFill>
                <a:latin typeface="Arial"/>
                <a:cs typeface="Arial"/>
              </a:rPr>
              <a:t>a</a:t>
            </a:r>
            <a:r>
              <a:rPr sz="1800" spc="60" dirty="0">
                <a:solidFill>
                  <a:srgbClr val="153D63"/>
                </a:solidFill>
                <a:latin typeface="Arial"/>
                <a:cs typeface="Arial"/>
              </a:rPr>
              <a:t>l</a:t>
            </a:r>
            <a:r>
              <a:rPr sz="1800" spc="-30" dirty="0">
                <a:solidFill>
                  <a:srgbClr val="153D63"/>
                </a:solidFill>
                <a:latin typeface="Arial"/>
                <a:cs typeface="Arial"/>
              </a:rPr>
              <a:t>s</a:t>
            </a:r>
            <a:r>
              <a:rPr sz="1800" spc="-55" dirty="0">
                <a:solidFill>
                  <a:srgbClr val="153D63"/>
                </a:solidFill>
                <a:latin typeface="Arial"/>
                <a:cs typeface="Arial"/>
              </a:rPr>
              <a:t>e</a:t>
            </a:r>
            <a:endParaRPr sz="1800">
              <a:latin typeface="Arial"/>
              <a:cs typeface="Arial"/>
            </a:endParaRPr>
          </a:p>
        </p:txBody>
      </p:sp>
      <p:sp>
        <p:nvSpPr>
          <p:cNvPr id="60" name="object 60"/>
          <p:cNvSpPr txBox="1"/>
          <p:nvPr/>
        </p:nvSpPr>
        <p:spPr>
          <a:xfrm>
            <a:off x="9625340" y="5221256"/>
            <a:ext cx="449580" cy="299720"/>
          </a:xfrm>
          <a:prstGeom prst="rect">
            <a:avLst/>
          </a:prstGeom>
        </p:spPr>
        <p:txBody>
          <a:bodyPr vert="horz" wrap="square" lIns="0" tIns="12700" rIns="0" bIns="0" rtlCol="0">
            <a:spAutoFit/>
          </a:bodyPr>
          <a:lstStyle/>
          <a:p>
            <a:pPr marL="12700">
              <a:lnSpc>
                <a:spcPct val="100000"/>
              </a:lnSpc>
              <a:spcBef>
                <a:spcPts val="100"/>
              </a:spcBef>
            </a:pPr>
            <a:r>
              <a:rPr sz="1800" spc="-325" dirty="0">
                <a:solidFill>
                  <a:srgbClr val="153D63"/>
                </a:solidFill>
                <a:latin typeface="Arial"/>
                <a:cs typeface="Arial"/>
              </a:rPr>
              <a:t>T</a:t>
            </a:r>
            <a:r>
              <a:rPr sz="1800" spc="-5" dirty="0">
                <a:solidFill>
                  <a:srgbClr val="153D63"/>
                </a:solidFill>
                <a:latin typeface="Arial"/>
                <a:cs typeface="Arial"/>
              </a:rPr>
              <a:t>r</a:t>
            </a:r>
            <a:r>
              <a:rPr sz="1800" dirty="0">
                <a:solidFill>
                  <a:srgbClr val="153D63"/>
                </a:solidFill>
                <a:latin typeface="Arial"/>
                <a:cs typeface="Arial"/>
              </a:rPr>
              <a:t>u</a:t>
            </a:r>
            <a:r>
              <a:rPr sz="1800" spc="-55" dirty="0">
                <a:solidFill>
                  <a:srgbClr val="153D63"/>
                </a:solidFill>
                <a:latin typeface="Arial"/>
                <a:cs typeface="Arial"/>
              </a:rPr>
              <a:t>e</a:t>
            </a:r>
            <a:endParaRPr sz="18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461390"/>
            <a:ext cx="5932805" cy="1028700"/>
          </a:xfrm>
          <a:prstGeom prst="rect">
            <a:avLst/>
          </a:prstGeom>
        </p:spPr>
        <p:txBody>
          <a:bodyPr vert="horz" wrap="square" lIns="0" tIns="12700" rIns="0" bIns="0" rtlCol="0">
            <a:spAutoFit/>
          </a:bodyPr>
          <a:lstStyle/>
          <a:p>
            <a:pPr marL="12700">
              <a:lnSpc>
                <a:spcPts val="2510"/>
              </a:lnSpc>
              <a:spcBef>
                <a:spcPts val="100"/>
              </a:spcBef>
            </a:pPr>
            <a:r>
              <a:rPr spc="30" dirty="0"/>
              <a:t>3.</a:t>
            </a:r>
            <a:r>
              <a:rPr spc="-95" dirty="0"/>
              <a:t> </a:t>
            </a:r>
            <a:r>
              <a:rPr spc="210" dirty="0"/>
              <a:t>CÁC</a:t>
            </a:r>
            <a:r>
              <a:rPr spc="-75" dirty="0"/>
              <a:t> </a:t>
            </a:r>
            <a:r>
              <a:rPr spc="-65" dirty="0"/>
              <a:t>MÔ</a:t>
            </a:r>
            <a:r>
              <a:rPr spc="-110" dirty="0"/>
              <a:t> </a:t>
            </a:r>
            <a:r>
              <a:rPr spc="65" dirty="0"/>
              <a:t>HÌNH/PHƯƠNG</a:t>
            </a:r>
            <a:r>
              <a:rPr spc="-90" dirty="0"/>
              <a:t> </a:t>
            </a:r>
            <a:r>
              <a:rPr spc="95" dirty="0"/>
              <a:t>PHÁP</a:t>
            </a:r>
            <a:r>
              <a:rPr spc="-114" dirty="0"/>
              <a:t> </a:t>
            </a:r>
            <a:r>
              <a:rPr spc="85" dirty="0"/>
              <a:t>PHÂN</a:t>
            </a:r>
            <a:r>
              <a:rPr spc="-105" dirty="0"/>
              <a:t> </a:t>
            </a:r>
            <a:r>
              <a:rPr spc="45" dirty="0"/>
              <a:t>LOẠI</a:t>
            </a:r>
          </a:p>
          <a:p>
            <a:pPr marL="12700">
              <a:lnSpc>
                <a:spcPts val="5390"/>
              </a:lnSpc>
            </a:pPr>
            <a:r>
              <a:rPr sz="4800" b="0" spc="10" dirty="0">
                <a:solidFill>
                  <a:srgbClr val="000000"/>
                </a:solidFill>
                <a:latin typeface="Calibri"/>
                <a:cs typeface="Calibri"/>
              </a:rPr>
              <a:t>Random</a:t>
            </a:r>
            <a:r>
              <a:rPr sz="4800" b="0" spc="-155" dirty="0">
                <a:solidFill>
                  <a:srgbClr val="000000"/>
                </a:solidFill>
                <a:latin typeface="Calibri"/>
                <a:cs typeface="Calibri"/>
              </a:rPr>
              <a:t> </a:t>
            </a:r>
            <a:r>
              <a:rPr sz="4800" b="0" dirty="0">
                <a:solidFill>
                  <a:srgbClr val="000000"/>
                </a:solidFill>
                <a:latin typeface="Calibri"/>
                <a:cs typeface="Calibri"/>
              </a:rPr>
              <a:t>Forest</a:t>
            </a:r>
            <a:endParaRPr sz="4800">
              <a:latin typeface="Calibri"/>
              <a:cs typeface="Calibri"/>
            </a:endParaRPr>
          </a:p>
        </p:txBody>
      </p:sp>
      <p:sp>
        <p:nvSpPr>
          <p:cNvPr id="3" name="object 3"/>
          <p:cNvSpPr txBox="1"/>
          <p:nvPr/>
        </p:nvSpPr>
        <p:spPr>
          <a:xfrm>
            <a:off x="491694" y="1981644"/>
            <a:ext cx="5752465" cy="848360"/>
          </a:xfrm>
          <a:prstGeom prst="rect">
            <a:avLst/>
          </a:prstGeom>
        </p:spPr>
        <p:txBody>
          <a:bodyPr vert="horz" wrap="square" lIns="0" tIns="12700" rIns="0" bIns="0" rtlCol="0">
            <a:spAutoFit/>
          </a:bodyPr>
          <a:lstStyle/>
          <a:p>
            <a:pPr marL="299085" marR="5080" indent="-287020">
              <a:lnSpc>
                <a:spcPct val="150000"/>
              </a:lnSpc>
              <a:spcBef>
                <a:spcPts val="100"/>
              </a:spcBef>
              <a:buChar char="•"/>
              <a:tabLst>
                <a:tab pos="299085" algn="l"/>
                <a:tab pos="299720" algn="l"/>
              </a:tabLst>
            </a:pPr>
            <a:r>
              <a:rPr sz="1800" spc="-40" dirty="0">
                <a:latin typeface="Arial"/>
                <a:cs typeface="Arial"/>
              </a:rPr>
              <a:t>Random </a:t>
            </a:r>
            <a:r>
              <a:rPr sz="1800" spc="-45" dirty="0">
                <a:latin typeface="Arial"/>
                <a:cs typeface="Arial"/>
              </a:rPr>
              <a:t>Forest </a:t>
            </a:r>
            <a:r>
              <a:rPr sz="1800" spc="-80" dirty="0">
                <a:latin typeface="Arial"/>
                <a:cs typeface="Arial"/>
              </a:rPr>
              <a:t>xây </a:t>
            </a:r>
            <a:r>
              <a:rPr sz="1800" spc="-70" dirty="0">
                <a:latin typeface="Arial"/>
                <a:cs typeface="Arial"/>
              </a:rPr>
              <a:t>dựng </a:t>
            </a:r>
            <a:r>
              <a:rPr sz="1800" spc="30" dirty="0">
                <a:latin typeface="Arial"/>
                <a:cs typeface="Arial"/>
              </a:rPr>
              <a:t>một </a:t>
            </a:r>
            <a:r>
              <a:rPr sz="1800" spc="-70" dirty="0">
                <a:latin typeface="Arial"/>
                <a:cs typeface="Arial"/>
              </a:rPr>
              <a:t>rừng </a:t>
            </a:r>
            <a:r>
              <a:rPr sz="1800" spc="-35" dirty="0">
                <a:latin typeface="Arial"/>
                <a:cs typeface="Arial"/>
              </a:rPr>
              <a:t>cây </a:t>
            </a:r>
            <a:r>
              <a:rPr sz="1800" spc="-10" dirty="0">
                <a:latin typeface="Arial"/>
                <a:cs typeface="Arial"/>
              </a:rPr>
              <a:t>quyết </a:t>
            </a:r>
            <a:r>
              <a:rPr sz="1800" dirty="0">
                <a:latin typeface="Arial"/>
                <a:cs typeface="Arial"/>
              </a:rPr>
              <a:t>định</a:t>
            </a:r>
            <a:r>
              <a:rPr sz="1800" spc="-315" dirty="0">
                <a:latin typeface="Arial"/>
                <a:cs typeface="Arial"/>
              </a:rPr>
              <a:t> </a:t>
            </a:r>
            <a:r>
              <a:rPr sz="1800" spc="-50" dirty="0">
                <a:latin typeface="Arial"/>
                <a:cs typeface="Arial"/>
              </a:rPr>
              <a:t>bằng  </a:t>
            </a:r>
            <a:r>
              <a:rPr sz="1800" spc="5" dirty="0">
                <a:latin typeface="Arial"/>
                <a:cs typeface="Arial"/>
              </a:rPr>
              <a:t>cách</a:t>
            </a:r>
            <a:r>
              <a:rPr sz="1800" spc="-145" dirty="0">
                <a:latin typeface="Arial"/>
                <a:cs typeface="Arial"/>
              </a:rPr>
              <a:t> </a:t>
            </a:r>
            <a:r>
              <a:rPr sz="1800" spc="-80" dirty="0">
                <a:latin typeface="Arial"/>
                <a:cs typeface="Arial"/>
              </a:rPr>
              <a:t>sử</a:t>
            </a:r>
            <a:r>
              <a:rPr sz="1800" spc="-140" dirty="0">
                <a:latin typeface="Arial"/>
                <a:cs typeface="Arial"/>
              </a:rPr>
              <a:t> </a:t>
            </a:r>
            <a:r>
              <a:rPr sz="1800" spc="-35" dirty="0">
                <a:latin typeface="Arial"/>
                <a:cs typeface="Arial"/>
              </a:rPr>
              <a:t>dụng</a:t>
            </a:r>
            <a:r>
              <a:rPr sz="1800" spc="-150" dirty="0">
                <a:latin typeface="Arial"/>
                <a:cs typeface="Arial"/>
              </a:rPr>
              <a:t> </a:t>
            </a:r>
            <a:r>
              <a:rPr sz="1800" spc="10" dirty="0">
                <a:latin typeface="Arial"/>
                <a:cs typeface="Arial"/>
              </a:rPr>
              <a:t>tập</a:t>
            </a:r>
            <a:r>
              <a:rPr sz="1800" spc="-120" dirty="0">
                <a:latin typeface="Arial"/>
                <a:cs typeface="Arial"/>
              </a:rPr>
              <a:t> </a:t>
            </a:r>
            <a:r>
              <a:rPr sz="1800" spc="-60" dirty="0">
                <a:latin typeface="Arial"/>
                <a:cs typeface="Arial"/>
              </a:rPr>
              <a:t>hợp</a:t>
            </a:r>
            <a:r>
              <a:rPr sz="1800" spc="-145" dirty="0">
                <a:latin typeface="Arial"/>
                <a:cs typeface="Arial"/>
              </a:rPr>
              <a:t> </a:t>
            </a:r>
            <a:r>
              <a:rPr sz="1800" spc="-65" dirty="0">
                <a:latin typeface="Arial"/>
                <a:cs typeface="Arial"/>
              </a:rPr>
              <a:t>dữ</a:t>
            </a:r>
            <a:r>
              <a:rPr sz="1800" spc="-140" dirty="0">
                <a:latin typeface="Arial"/>
                <a:cs typeface="Arial"/>
              </a:rPr>
              <a:t> </a:t>
            </a:r>
            <a:r>
              <a:rPr sz="1800" spc="10" dirty="0">
                <a:latin typeface="Arial"/>
                <a:cs typeface="Arial"/>
              </a:rPr>
              <a:t>liệu</a:t>
            </a:r>
            <a:r>
              <a:rPr sz="1800" spc="-150" dirty="0">
                <a:latin typeface="Arial"/>
                <a:cs typeface="Arial"/>
              </a:rPr>
              <a:t> </a:t>
            </a:r>
            <a:r>
              <a:rPr sz="1800" spc="5" dirty="0">
                <a:latin typeface="Arial"/>
                <a:cs typeface="Arial"/>
              </a:rPr>
              <a:t>con</a:t>
            </a:r>
            <a:r>
              <a:rPr sz="1800" spc="-155" dirty="0">
                <a:latin typeface="Arial"/>
                <a:cs typeface="Arial"/>
              </a:rPr>
              <a:t> </a:t>
            </a:r>
            <a:r>
              <a:rPr sz="1800" spc="-70" dirty="0">
                <a:latin typeface="Arial"/>
                <a:cs typeface="Arial"/>
              </a:rPr>
              <a:t>và</a:t>
            </a:r>
            <a:r>
              <a:rPr sz="1800" spc="-140" dirty="0">
                <a:latin typeface="Arial"/>
                <a:cs typeface="Arial"/>
              </a:rPr>
              <a:t> </a:t>
            </a:r>
            <a:r>
              <a:rPr sz="1800" spc="20" dirty="0">
                <a:latin typeface="Arial"/>
                <a:cs typeface="Arial"/>
              </a:rPr>
              <a:t>thuộc</a:t>
            </a:r>
            <a:r>
              <a:rPr sz="1800" spc="-150" dirty="0">
                <a:latin typeface="Arial"/>
                <a:cs typeface="Arial"/>
              </a:rPr>
              <a:t> </a:t>
            </a:r>
            <a:r>
              <a:rPr sz="1800" spc="-5" dirty="0">
                <a:latin typeface="Arial"/>
                <a:cs typeface="Arial"/>
              </a:rPr>
              <a:t>tính</a:t>
            </a:r>
            <a:r>
              <a:rPr sz="1800" spc="-150" dirty="0">
                <a:latin typeface="Arial"/>
                <a:cs typeface="Arial"/>
              </a:rPr>
              <a:t> </a:t>
            </a:r>
            <a:r>
              <a:rPr sz="1800" spc="5" dirty="0">
                <a:latin typeface="Arial"/>
                <a:cs typeface="Arial"/>
              </a:rPr>
              <a:t>con</a:t>
            </a:r>
            <a:endParaRPr sz="1800" dirty="0">
              <a:latin typeface="Arial"/>
              <a:cs typeface="Arial"/>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299720" marR="6350" indent="-287655">
              <a:lnSpc>
                <a:spcPct val="150000"/>
              </a:lnSpc>
              <a:spcBef>
                <a:spcPts val="100"/>
              </a:spcBef>
              <a:buChar char="-"/>
              <a:tabLst>
                <a:tab pos="299085" algn="l"/>
                <a:tab pos="299720" algn="l"/>
              </a:tabLst>
            </a:pPr>
            <a:r>
              <a:rPr spc="-160" dirty="0"/>
              <a:t>Sử </a:t>
            </a:r>
            <a:r>
              <a:rPr spc="-40" dirty="0"/>
              <a:t>dụng </a:t>
            </a:r>
            <a:r>
              <a:rPr spc="-80" dirty="0"/>
              <a:t>phương </a:t>
            </a:r>
            <a:r>
              <a:rPr spc="-15" dirty="0"/>
              <a:t>pháp Bootstrap </a:t>
            </a:r>
            <a:r>
              <a:rPr spc="-25" dirty="0"/>
              <a:t>để </a:t>
            </a:r>
            <a:r>
              <a:rPr spc="-80" dirty="0"/>
              <a:t>xây </a:t>
            </a:r>
            <a:r>
              <a:rPr spc="-70" dirty="0"/>
              <a:t>dựng </a:t>
            </a:r>
            <a:r>
              <a:rPr spc="10" dirty="0"/>
              <a:t>tập  </a:t>
            </a:r>
            <a:r>
              <a:rPr spc="-65" dirty="0"/>
              <a:t>dữ </a:t>
            </a:r>
            <a:r>
              <a:rPr spc="10" dirty="0"/>
              <a:t>liệu</a:t>
            </a:r>
            <a:r>
              <a:rPr spc="-229" dirty="0"/>
              <a:t> </a:t>
            </a:r>
            <a:r>
              <a:rPr spc="5" dirty="0"/>
              <a:t>con</a:t>
            </a:r>
          </a:p>
          <a:p>
            <a:pPr marL="298450" marR="5080" indent="-286385">
              <a:lnSpc>
                <a:spcPct val="150000"/>
              </a:lnSpc>
              <a:buChar char="-"/>
              <a:tabLst>
                <a:tab pos="299085" algn="l"/>
                <a:tab pos="299720" algn="l"/>
              </a:tabLst>
            </a:pPr>
            <a:r>
              <a:rPr spc="-25" dirty="0"/>
              <a:t>Chọn </a:t>
            </a:r>
            <a:r>
              <a:rPr spc="-50" dirty="0"/>
              <a:t>ngẫu </a:t>
            </a:r>
            <a:r>
              <a:rPr spc="-15" dirty="0"/>
              <a:t>nhiên </a:t>
            </a:r>
            <a:r>
              <a:rPr spc="-25" dirty="0"/>
              <a:t>k </a:t>
            </a:r>
            <a:r>
              <a:rPr spc="20" dirty="0"/>
              <a:t>thuộc </a:t>
            </a:r>
            <a:r>
              <a:rPr spc="-10" dirty="0"/>
              <a:t>tính </a:t>
            </a:r>
            <a:r>
              <a:rPr spc="-30" dirty="0"/>
              <a:t>từ </a:t>
            </a:r>
            <a:r>
              <a:rPr spc="-10" dirty="0"/>
              <a:t>n </a:t>
            </a:r>
            <a:r>
              <a:rPr spc="20" dirty="0"/>
              <a:t>thuộc </a:t>
            </a:r>
            <a:r>
              <a:rPr spc="-10" dirty="0"/>
              <a:t>tính </a:t>
            </a:r>
            <a:r>
              <a:rPr dirty="0"/>
              <a:t>của  </a:t>
            </a:r>
            <a:r>
              <a:rPr spc="-65" dirty="0"/>
              <a:t>dữ</a:t>
            </a:r>
            <a:r>
              <a:rPr spc="-145" dirty="0"/>
              <a:t> </a:t>
            </a:r>
            <a:r>
              <a:rPr spc="10" dirty="0"/>
              <a:t>liệu</a:t>
            </a:r>
          </a:p>
          <a:p>
            <a:pPr marL="299085" indent="-287020">
              <a:lnSpc>
                <a:spcPct val="100000"/>
              </a:lnSpc>
              <a:spcBef>
                <a:spcPts val="1080"/>
              </a:spcBef>
              <a:buChar char="-"/>
              <a:tabLst>
                <a:tab pos="299085" algn="l"/>
                <a:tab pos="299720" algn="l"/>
              </a:tabLst>
            </a:pPr>
            <a:r>
              <a:rPr spc="-114" dirty="0"/>
              <a:t>Xây</a:t>
            </a:r>
            <a:r>
              <a:rPr spc="-140" dirty="0"/>
              <a:t> </a:t>
            </a:r>
            <a:r>
              <a:rPr spc="-70" dirty="0"/>
              <a:t>dựng</a:t>
            </a:r>
            <a:r>
              <a:rPr spc="-140" dirty="0"/>
              <a:t> </a:t>
            </a:r>
            <a:r>
              <a:rPr spc="-35" dirty="0"/>
              <a:t>cây</a:t>
            </a:r>
            <a:r>
              <a:rPr spc="-140" dirty="0"/>
              <a:t> </a:t>
            </a:r>
            <a:r>
              <a:rPr spc="-10" dirty="0"/>
              <a:t>quyết</a:t>
            </a:r>
            <a:r>
              <a:rPr spc="-135" dirty="0"/>
              <a:t> </a:t>
            </a:r>
            <a:r>
              <a:rPr dirty="0"/>
              <a:t>định</a:t>
            </a:r>
            <a:r>
              <a:rPr spc="-160" dirty="0"/>
              <a:t> </a:t>
            </a:r>
            <a:r>
              <a:rPr spc="5" dirty="0"/>
              <a:t>cho</a:t>
            </a:r>
            <a:r>
              <a:rPr spc="-155" dirty="0"/>
              <a:t> </a:t>
            </a:r>
            <a:r>
              <a:rPr spc="15" dirty="0"/>
              <a:t>mỗi</a:t>
            </a:r>
            <a:r>
              <a:rPr spc="-150" dirty="0"/>
              <a:t> </a:t>
            </a:r>
            <a:r>
              <a:rPr spc="10" dirty="0"/>
              <a:t>tập</a:t>
            </a:r>
            <a:r>
              <a:rPr spc="-120" dirty="0"/>
              <a:t> </a:t>
            </a:r>
            <a:r>
              <a:rPr spc="-60" dirty="0"/>
              <a:t>hợp</a:t>
            </a:r>
            <a:r>
              <a:rPr spc="-145" dirty="0"/>
              <a:t> </a:t>
            </a:r>
            <a:r>
              <a:rPr spc="-5" dirty="0"/>
              <a:t>trên.</a:t>
            </a:r>
          </a:p>
        </p:txBody>
      </p:sp>
      <p:sp>
        <p:nvSpPr>
          <p:cNvPr id="5" name="object 5"/>
          <p:cNvSpPr txBox="1"/>
          <p:nvPr/>
        </p:nvSpPr>
        <p:spPr>
          <a:xfrm>
            <a:off x="491694" y="4862003"/>
            <a:ext cx="5750560" cy="848360"/>
          </a:xfrm>
          <a:prstGeom prst="rect">
            <a:avLst/>
          </a:prstGeom>
        </p:spPr>
        <p:txBody>
          <a:bodyPr vert="horz" wrap="square" lIns="0" tIns="12700" rIns="0" bIns="0" rtlCol="0">
            <a:spAutoFit/>
          </a:bodyPr>
          <a:lstStyle/>
          <a:p>
            <a:pPr marL="299085" marR="5080" indent="-287020">
              <a:lnSpc>
                <a:spcPct val="150000"/>
              </a:lnSpc>
              <a:spcBef>
                <a:spcPts val="100"/>
              </a:spcBef>
              <a:buChar char="•"/>
              <a:tabLst>
                <a:tab pos="299085" algn="l"/>
                <a:tab pos="299720" algn="l"/>
              </a:tabLst>
            </a:pPr>
            <a:r>
              <a:rPr sz="1800" spc="-50" dirty="0">
                <a:latin typeface="Arial"/>
                <a:cs typeface="Arial"/>
              </a:rPr>
              <a:t>Kết </a:t>
            </a:r>
            <a:r>
              <a:rPr sz="1800" spc="-15" dirty="0">
                <a:latin typeface="Arial"/>
                <a:cs typeface="Arial"/>
              </a:rPr>
              <a:t>quả đầu </a:t>
            </a:r>
            <a:r>
              <a:rPr sz="1800" spc="-50" dirty="0">
                <a:latin typeface="Arial"/>
                <a:cs typeface="Arial"/>
              </a:rPr>
              <a:t>ra </a:t>
            </a:r>
            <a:r>
              <a:rPr sz="1800" spc="-30" dirty="0">
                <a:latin typeface="Arial"/>
                <a:cs typeface="Arial"/>
              </a:rPr>
              <a:t>từ </a:t>
            </a:r>
            <a:r>
              <a:rPr sz="1800" spc="-40" dirty="0">
                <a:latin typeface="Arial"/>
                <a:cs typeface="Arial"/>
              </a:rPr>
              <a:t>Random Forest </a:t>
            </a:r>
            <a:r>
              <a:rPr sz="1800" spc="-65" dirty="0">
                <a:latin typeface="Arial"/>
                <a:cs typeface="Arial"/>
              </a:rPr>
              <a:t>được </a:t>
            </a:r>
            <a:r>
              <a:rPr sz="1800" spc="-20" dirty="0">
                <a:latin typeface="Arial"/>
                <a:cs typeface="Arial"/>
              </a:rPr>
              <a:t>tổng </a:t>
            </a:r>
            <a:r>
              <a:rPr sz="1800" spc="-60" dirty="0">
                <a:latin typeface="Arial"/>
                <a:cs typeface="Arial"/>
              </a:rPr>
              <a:t>hợp </a:t>
            </a:r>
            <a:r>
              <a:rPr sz="1800" spc="-30" dirty="0">
                <a:latin typeface="Arial"/>
                <a:cs typeface="Arial"/>
              </a:rPr>
              <a:t>từ </a:t>
            </a:r>
            <a:r>
              <a:rPr sz="1800" spc="40" dirty="0">
                <a:latin typeface="Arial"/>
                <a:cs typeface="Arial"/>
              </a:rPr>
              <a:t>tất  </a:t>
            </a:r>
            <a:r>
              <a:rPr sz="1800" dirty="0">
                <a:latin typeface="Arial"/>
                <a:cs typeface="Arial"/>
              </a:rPr>
              <a:t>cả </a:t>
            </a:r>
            <a:r>
              <a:rPr sz="1800" spc="-35" dirty="0">
                <a:latin typeface="Arial"/>
                <a:cs typeface="Arial"/>
              </a:rPr>
              <a:t>cây </a:t>
            </a:r>
            <a:r>
              <a:rPr sz="1800" spc="-25" dirty="0">
                <a:latin typeface="Arial"/>
                <a:cs typeface="Arial"/>
              </a:rPr>
              <a:t>trong</a:t>
            </a:r>
            <a:r>
              <a:rPr sz="1800" spc="-385" dirty="0">
                <a:latin typeface="Arial"/>
                <a:cs typeface="Arial"/>
              </a:rPr>
              <a:t> </a:t>
            </a:r>
            <a:r>
              <a:rPr sz="1800" spc="-70" dirty="0">
                <a:latin typeface="Arial"/>
                <a:cs typeface="Arial"/>
              </a:rPr>
              <a:t>rừng</a:t>
            </a:r>
            <a:endParaRPr sz="1800" dirty="0">
              <a:latin typeface="Arial"/>
              <a:cs typeface="Arial"/>
            </a:endParaRPr>
          </a:p>
        </p:txBody>
      </p:sp>
      <p:sp>
        <p:nvSpPr>
          <p:cNvPr id="6" name="object 6"/>
          <p:cNvSpPr/>
          <p:nvPr/>
        </p:nvSpPr>
        <p:spPr>
          <a:xfrm>
            <a:off x="8399526" y="1288541"/>
            <a:ext cx="243840" cy="252983"/>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8399526" y="1288541"/>
            <a:ext cx="243840" cy="253365"/>
          </a:xfrm>
          <a:custGeom>
            <a:avLst/>
            <a:gdLst/>
            <a:ahLst/>
            <a:cxnLst/>
            <a:rect l="l" t="t" r="r" b="b"/>
            <a:pathLst>
              <a:path w="243840" h="253365">
                <a:moveTo>
                  <a:pt x="0" y="126491"/>
                </a:moveTo>
                <a:lnTo>
                  <a:pt x="9580" y="77254"/>
                </a:lnTo>
                <a:lnTo>
                  <a:pt x="35709" y="37047"/>
                </a:lnTo>
                <a:lnTo>
                  <a:pt x="74462" y="9939"/>
                </a:lnTo>
                <a:lnTo>
                  <a:pt x="121920" y="0"/>
                </a:lnTo>
                <a:lnTo>
                  <a:pt x="169377" y="9939"/>
                </a:lnTo>
                <a:lnTo>
                  <a:pt x="208130" y="37047"/>
                </a:lnTo>
                <a:lnTo>
                  <a:pt x="234259" y="77254"/>
                </a:lnTo>
                <a:lnTo>
                  <a:pt x="243840" y="126491"/>
                </a:lnTo>
                <a:lnTo>
                  <a:pt x="234259" y="175729"/>
                </a:lnTo>
                <a:lnTo>
                  <a:pt x="208130" y="215936"/>
                </a:lnTo>
                <a:lnTo>
                  <a:pt x="169377" y="243044"/>
                </a:lnTo>
                <a:lnTo>
                  <a:pt x="121920" y="252983"/>
                </a:lnTo>
                <a:lnTo>
                  <a:pt x="74462" y="243044"/>
                </a:lnTo>
                <a:lnTo>
                  <a:pt x="35709" y="215936"/>
                </a:lnTo>
                <a:lnTo>
                  <a:pt x="9580" y="175729"/>
                </a:lnTo>
                <a:lnTo>
                  <a:pt x="0" y="126491"/>
                </a:lnTo>
                <a:close/>
              </a:path>
            </a:pathLst>
          </a:custGeom>
          <a:ln w="19050">
            <a:solidFill>
              <a:srgbClr val="4EA72D"/>
            </a:solidFill>
          </a:ln>
        </p:spPr>
        <p:txBody>
          <a:bodyPr wrap="square" lIns="0" tIns="0" rIns="0" bIns="0" rtlCol="0"/>
          <a:lstStyle/>
          <a:p>
            <a:endParaRPr/>
          </a:p>
        </p:txBody>
      </p:sp>
      <p:sp>
        <p:nvSpPr>
          <p:cNvPr id="8" name="object 8"/>
          <p:cNvSpPr/>
          <p:nvPr/>
        </p:nvSpPr>
        <p:spPr>
          <a:xfrm>
            <a:off x="8281889" y="1503425"/>
            <a:ext cx="153670" cy="325120"/>
          </a:xfrm>
          <a:custGeom>
            <a:avLst/>
            <a:gdLst/>
            <a:ahLst/>
            <a:cxnLst/>
            <a:rect l="l" t="t" r="r" b="b"/>
            <a:pathLst>
              <a:path w="153670" h="325119">
                <a:moveTo>
                  <a:pt x="153479" y="0"/>
                </a:moveTo>
                <a:lnTo>
                  <a:pt x="0" y="324586"/>
                </a:lnTo>
              </a:path>
            </a:pathLst>
          </a:custGeom>
          <a:ln w="19050">
            <a:solidFill>
              <a:srgbClr val="4EA72D"/>
            </a:solidFill>
          </a:ln>
        </p:spPr>
        <p:txBody>
          <a:bodyPr wrap="square" lIns="0" tIns="0" rIns="0" bIns="0" rtlCol="0"/>
          <a:lstStyle/>
          <a:p>
            <a:endParaRPr/>
          </a:p>
        </p:txBody>
      </p:sp>
      <p:sp>
        <p:nvSpPr>
          <p:cNvPr id="9" name="object 9"/>
          <p:cNvSpPr/>
          <p:nvPr/>
        </p:nvSpPr>
        <p:spPr>
          <a:xfrm>
            <a:off x="8252872" y="1800245"/>
            <a:ext cx="69215" cy="85725"/>
          </a:xfrm>
          <a:custGeom>
            <a:avLst/>
            <a:gdLst/>
            <a:ahLst/>
            <a:cxnLst/>
            <a:rect l="l" t="t" r="r" b="b"/>
            <a:pathLst>
              <a:path w="69215" h="85725">
                <a:moveTo>
                  <a:pt x="0" y="0"/>
                </a:moveTo>
                <a:lnTo>
                  <a:pt x="1879" y="85178"/>
                </a:lnTo>
                <a:lnTo>
                  <a:pt x="68884" y="32575"/>
                </a:lnTo>
                <a:lnTo>
                  <a:pt x="0" y="0"/>
                </a:lnTo>
                <a:close/>
              </a:path>
            </a:pathLst>
          </a:custGeom>
          <a:solidFill>
            <a:srgbClr val="4EA72D"/>
          </a:solidFill>
        </p:spPr>
        <p:txBody>
          <a:bodyPr wrap="square" lIns="0" tIns="0" rIns="0" bIns="0" rtlCol="0"/>
          <a:lstStyle/>
          <a:p>
            <a:endParaRPr/>
          </a:p>
        </p:txBody>
      </p:sp>
      <p:sp>
        <p:nvSpPr>
          <p:cNvPr id="10" name="object 10"/>
          <p:cNvSpPr/>
          <p:nvPr/>
        </p:nvSpPr>
        <p:spPr>
          <a:xfrm>
            <a:off x="8608314" y="1503425"/>
            <a:ext cx="200660" cy="349250"/>
          </a:xfrm>
          <a:custGeom>
            <a:avLst/>
            <a:gdLst/>
            <a:ahLst/>
            <a:cxnLst/>
            <a:rect l="l" t="t" r="r" b="b"/>
            <a:pathLst>
              <a:path w="200659" h="349250">
                <a:moveTo>
                  <a:pt x="0" y="0"/>
                </a:moveTo>
                <a:lnTo>
                  <a:pt x="200342" y="348945"/>
                </a:lnTo>
              </a:path>
            </a:pathLst>
          </a:custGeom>
          <a:ln w="19050">
            <a:solidFill>
              <a:srgbClr val="000000"/>
            </a:solidFill>
          </a:ln>
        </p:spPr>
        <p:txBody>
          <a:bodyPr wrap="square" lIns="0" tIns="0" rIns="0" bIns="0" rtlCol="0"/>
          <a:lstStyle/>
          <a:p>
            <a:endParaRPr/>
          </a:p>
        </p:txBody>
      </p:sp>
      <p:sp>
        <p:nvSpPr>
          <p:cNvPr id="11" name="object 11"/>
          <p:cNvSpPr/>
          <p:nvPr/>
        </p:nvSpPr>
        <p:spPr>
          <a:xfrm>
            <a:off x="8769282" y="1822386"/>
            <a:ext cx="71120" cy="85090"/>
          </a:xfrm>
          <a:custGeom>
            <a:avLst/>
            <a:gdLst/>
            <a:ahLst/>
            <a:cxnLst/>
            <a:rect l="l" t="t" r="r" b="b"/>
            <a:pathLst>
              <a:path w="71120" h="85089">
                <a:moveTo>
                  <a:pt x="66090" y="0"/>
                </a:moveTo>
                <a:lnTo>
                  <a:pt x="0" y="37934"/>
                </a:lnTo>
                <a:lnTo>
                  <a:pt x="70980" y="85051"/>
                </a:lnTo>
                <a:lnTo>
                  <a:pt x="66090" y="0"/>
                </a:lnTo>
                <a:close/>
              </a:path>
            </a:pathLst>
          </a:custGeom>
          <a:solidFill>
            <a:srgbClr val="000000"/>
          </a:solidFill>
        </p:spPr>
        <p:txBody>
          <a:bodyPr wrap="square" lIns="0" tIns="0" rIns="0" bIns="0" rtlCol="0"/>
          <a:lstStyle/>
          <a:p>
            <a:endParaRPr/>
          </a:p>
        </p:txBody>
      </p:sp>
      <p:sp>
        <p:nvSpPr>
          <p:cNvPr id="12" name="object 12"/>
          <p:cNvSpPr/>
          <p:nvPr/>
        </p:nvSpPr>
        <p:spPr>
          <a:xfrm>
            <a:off x="8254745" y="2064257"/>
            <a:ext cx="120650" cy="287655"/>
          </a:xfrm>
          <a:custGeom>
            <a:avLst/>
            <a:gdLst/>
            <a:ahLst/>
            <a:cxnLst/>
            <a:rect l="l" t="t" r="r" b="b"/>
            <a:pathLst>
              <a:path w="120650" h="287655">
                <a:moveTo>
                  <a:pt x="0" y="0"/>
                </a:moveTo>
                <a:lnTo>
                  <a:pt x="120446" y="287451"/>
                </a:lnTo>
              </a:path>
            </a:pathLst>
          </a:custGeom>
          <a:ln w="19049">
            <a:solidFill>
              <a:srgbClr val="4EA72D"/>
            </a:solidFill>
          </a:ln>
        </p:spPr>
        <p:txBody>
          <a:bodyPr wrap="square" lIns="0" tIns="0" rIns="0" bIns="0" rtlCol="0"/>
          <a:lstStyle/>
          <a:p>
            <a:endParaRPr/>
          </a:p>
        </p:txBody>
      </p:sp>
      <p:sp>
        <p:nvSpPr>
          <p:cNvPr id="13" name="object 13"/>
          <p:cNvSpPr/>
          <p:nvPr/>
        </p:nvSpPr>
        <p:spPr>
          <a:xfrm>
            <a:off x="8335146" y="2325267"/>
            <a:ext cx="70485" cy="85090"/>
          </a:xfrm>
          <a:custGeom>
            <a:avLst/>
            <a:gdLst/>
            <a:ahLst/>
            <a:cxnLst/>
            <a:rect l="l" t="t" r="r" b="b"/>
            <a:pathLst>
              <a:path w="70484" h="85089">
                <a:moveTo>
                  <a:pt x="70281" y="0"/>
                </a:moveTo>
                <a:lnTo>
                  <a:pt x="0" y="29451"/>
                </a:lnTo>
                <a:lnTo>
                  <a:pt x="64592" y="85001"/>
                </a:lnTo>
                <a:lnTo>
                  <a:pt x="70281" y="0"/>
                </a:lnTo>
                <a:close/>
              </a:path>
            </a:pathLst>
          </a:custGeom>
          <a:solidFill>
            <a:srgbClr val="4EA72D"/>
          </a:solidFill>
        </p:spPr>
        <p:txBody>
          <a:bodyPr wrap="square" lIns="0" tIns="0" rIns="0" bIns="0" rtlCol="0"/>
          <a:lstStyle/>
          <a:p>
            <a:endParaRPr/>
          </a:p>
        </p:txBody>
      </p:sp>
      <p:sp>
        <p:nvSpPr>
          <p:cNvPr id="14" name="object 14"/>
          <p:cNvSpPr/>
          <p:nvPr/>
        </p:nvSpPr>
        <p:spPr>
          <a:xfrm>
            <a:off x="7936176" y="2064257"/>
            <a:ext cx="146685" cy="328295"/>
          </a:xfrm>
          <a:custGeom>
            <a:avLst/>
            <a:gdLst/>
            <a:ahLst/>
            <a:cxnLst/>
            <a:rect l="l" t="t" r="r" b="b"/>
            <a:pathLst>
              <a:path w="146684" h="328294">
                <a:moveTo>
                  <a:pt x="146278" y="0"/>
                </a:moveTo>
                <a:lnTo>
                  <a:pt x="0" y="328091"/>
                </a:lnTo>
              </a:path>
            </a:pathLst>
          </a:custGeom>
          <a:ln w="19049">
            <a:solidFill>
              <a:srgbClr val="000000"/>
            </a:solidFill>
          </a:ln>
        </p:spPr>
        <p:txBody>
          <a:bodyPr wrap="square" lIns="0" tIns="0" rIns="0" bIns="0" rtlCol="0"/>
          <a:lstStyle/>
          <a:p>
            <a:endParaRPr/>
          </a:p>
        </p:txBody>
      </p:sp>
      <p:sp>
        <p:nvSpPr>
          <p:cNvPr id="15" name="object 15"/>
          <p:cNvSpPr/>
          <p:nvPr/>
        </p:nvSpPr>
        <p:spPr>
          <a:xfrm>
            <a:off x="7906549" y="2365235"/>
            <a:ext cx="69850" cy="85725"/>
          </a:xfrm>
          <a:custGeom>
            <a:avLst/>
            <a:gdLst/>
            <a:ahLst/>
            <a:cxnLst/>
            <a:rect l="l" t="t" r="r" b="b"/>
            <a:pathLst>
              <a:path w="69850" h="85725">
                <a:moveTo>
                  <a:pt x="0" y="0"/>
                </a:moveTo>
                <a:lnTo>
                  <a:pt x="3771" y="85115"/>
                </a:lnTo>
                <a:lnTo>
                  <a:pt x="69596" y="31026"/>
                </a:lnTo>
                <a:lnTo>
                  <a:pt x="0" y="0"/>
                </a:lnTo>
                <a:close/>
              </a:path>
            </a:pathLst>
          </a:custGeom>
          <a:solidFill>
            <a:srgbClr val="000000"/>
          </a:solidFill>
        </p:spPr>
        <p:txBody>
          <a:bodyPr wrap="square" lIns="0" tIns="0" rIns="0" bIns="0" rtlCol="0"/>
          <a:lstStyle/>
          <a:p>
            <a:endParaRPr/>
          </a:p>
        </p:txBody>
      </p:sp>
      <p:sp>
        <p:nvSpPr>
          <p:cNvPr id="16" name="object 16"/>
          <p:cNvSpPr/>
          <p:nvPr/>
        </p:nvSpPr>
        <p:spPr>
          <a:xfrm>
            <a:off x="8047481" y="1849373"/>
            <a:ext cx="243840" cy="251459"/>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8047481" y="1849373"/>
            <a:ext cx="243840" cy="251460"/>
          </a:xfrm>
          <a:custGeom>
            <a:avLst/>
            <a:gdLst/>
            <a:ahLst/>
            <a:cxnLst/>
            <a:rect l="l" t="t" r="r" b="b"/>
            <a:pathLst>
              <a:path w="243840" h="251460">
                <a:moveTo>
                  <a:pt x="0" y="125729"/>
                </a:moveTo>
                <a:lnTo>
                  <a:pt x="9580" y="76788"/>
                </a:lnTo>
                <a:lnTo>
                  <a:pt x="35709" y="36823"/>
                </a:lnTo>
                <a:lnTo>
                  <a:pt x="74462" y="9879"/>
                </a:lnTo>
                <a:lnTo>
                  <a:pt x="121920" y="0"/>
                </a:lnTo>
                <a:lnTo>
                  <a:pt x="169377" y="9879"/>
                </a:lnTo>
                <a:lnTo>
                  <a:pt x="208130" y="36823"/>
                </a:lnTo>
                <a:lnTo>
                  <a:pt x="234259" y="76788"/>
                </a:lnTo>
                <a:lnTo>
                  <a:pt x="243840" y="125729"/>
                </a:lnTo>
                <a:lnTo>
                  <a:pt x="234259" y="174671"/>
                </a:lnTo>
                <a:lnTo>
                  <a:pt x="208130" y="214636"/>
                </a:lnTo>
                <a:lnTo>
                  <a:pt x="169377" y="241580"/>
                </a:lnTo>
                <a:lnTo>
                  <a:pt x="121920" y="251459"/>
                </a:lnTo>
                <a:lnTo>
                  <a:pt x="74462" y="241580"/>
                </a:lnTo>
                <a:lnTo>
                  <a:pt x="35709" y="214636"/>
                </a:lnTo>
                <a:lnTo>
                  <a:pt x="9580" y="174671"/>
                </a:lnTo>
                <a:lnTo>
                  <a:pt x="0" y="125729"/>
                </a:lnTo>
                <a:close/>
              </a:path>
            </a:pathLst>
          </a:custGeom>
          <a:ln w="19050">
            <a:solidFill>
              <a:srgbClr val="4EA72D"/>
            </a:solidFill>
          </a:ln>
        </p:spPr>
        <p:txBody>
          <a:bodyPr wrap="square" lIns="0" tIns="0" rIns="0" bIns="0" rtlCol="0"/>
          <a:lstStyle/>
          <a:p>
            <a:endParaRPr/>
          </a:p>
        </p:txBody>
      </p:sp>
      <p:sp>
        <p:nvSpPr>
          <p:cNvPr id="18" name="object 18"/>
          <p:cNvSpPr/>
          <p:nvPr/>
        </p:nvSpPr>
        <p:spPr>
          <a:xfrm>
            <a:off x="7703057" y="2413254"/>
            <a:ext cx="243840" cy="252983"/>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7703057" y="2413254"/>
            <a:ext cx="243840" cy="253365"/>
          </a:xfrm>
          <a:custGeom>
            <a:avLst/>
            <a:gdLst/>
            <a:ahLst/>
            <a:cxnLst/>
            <a:rect l="l" t="t" r="r" b="b"/>
            <a:pathLst>
              <a:path w="243840" h="253364">
                <a:moveTo>
                  <a:pt x="0" y="126491"/>
                </a:moveTo>
                <a:lnTo>
                  <a:pt x="9580" y="77254"/>
                </a:lnTo>
                <a:lnTo>
                  <a:pt x="35709" y="37047"/>
                </a:lnTo>
                <a:lnTo>
                  <a:pt x="74462" y="9939"/>
                </a:lnTo>
                <a:lnTo>
                  <a:pt x="121920" y="0"/>
                </a:lnTo>
                <a:lnTo>
                  <a:pt x="169377" y="9939"/>
                </a:lnTo>
                <a:lnTo>
                  <a:pt x="208130" y="37047"/>
                </a:lnTo>
                <a:lnTo>
                  <a:pt x="234259" y="77254"/>
                </a:lnTo>
                <a:lnTo>
                  <a:pt x="243840" y="126491"/>
                </a:lnTo>
                <a:lnTo>
                  <a:pt x="234259" y="175729"/>
                </a:lnTo>
                <a:lnTo>
                  <a:pt x="208130" y="215936"/>
                </a:lnTo>
                <a:lnTo>
                  <a:pt x="169377" y="243044"/>
                </a:lnTo>
                <a:lnTo>
                  <a:pt x="121920" y="252983"/>
                </a:lnTo>
                <a:lnTo>
                  <a:pt x="74462" y="243044"/>
                </a:lnTo>
                <a:lnTo>
                  <a:pt x="35709" y="215936"/>
                </a:lnTo>
                <a:lnTo>
                  <a:pt x="9580" y="175729"/>
                </a:lnTo>
                <a:lnTo>
                  <a:pt x="0" y="126491"/>
                </a:lnTo>
                <a:close/>
              </a:path>
            </a:pathLst>
          </a:custGeom>
          <a:ln w="19050">
            <a:solidFill>
              <a:srgbClr val="042333"/>
            </a:solidFill>
          </a:ln>
        </p:spPr>
        <p:txBody>
          <a:bodyPr wrap="square" lIns="0" tIns="0" rIns="0" bIns="0" rtlCol="0"/>
          <a:lstStyle/>
          <a:p>
            <a:endParaRPr/>
          </a:p>
        </p:txBody>
      </p:sp>
      <p:sp>
        <p:nvSpPr>
          <p:cNvPr id="20" name="object 20"/>
          <p:cNvSpPr/>
          <p:nvPr/>
        </p:nvSpPr>
        <p:spPr>
          <a:xfrm>
            <a:off x="8364473" y="2373629"/>
            <a:ext cx="243840" cy="251459"/>
          </a:xfrm>
          <a:prstGeom prst="rect">
            <a:avLst/>
          </a:prstGeom>
          <a:blipFill>
            <a:blip r:embed="rId4" cstate="print"/>
            <a:stretch>
              <a:fillRect/>
            </a:stretch>
          </a:blipFill>
        </p:spPr>
        <p:txBody>
          <a:bodyPr wrap="square" lIns="0" tIns="0" rIns="0" bIns="0" rtlCol="0"/>
          <a:lstStyle/>
          <a:p>
            <a:endParaRPr/>
          </a:p>
        </p:txBody>
      </p:sp>
      <p:sp>
        <p:nvSpPr>
          <p:cNvPr id="21" name="object 21"/>
          <p:cNvSpPr/>
          <p:nvPr/>
        </p:nvSpPr>
        <p:spPr>
          <a:xfrm>
            <a:off x="8364473" y="2373629"/>
            <a:ext cx="243840" cy="251460"/>
          </a:xfrm>
          <a:custGeom>
            <a:avLst/>
            <a:gdLst/>
            <a:ahLst/>
            <a:cxnLst/>
            <a:rect l="l" t="t" r="r" b="b"/>
            <a:pathLst>
              <a:path w="243840" h="251460">
                <a:moveTo>
                  <a:pt x="0" y="125729"/>
                </a:moveTo>
                <a:lnTo>
                  <a:pt x="9580" y="76788"/>
                </a:lnTo>
                <a:lnTo>
                  <a:pt x="35709" y="36823"/>
                </a:lnTo>
                <a:lnTo>
                  <a:pt x="74462" y="9879"/>
                </a:lnTo>
                <a:lnTo>
                  <a:pt x="121920" y="0"/>
                </a:lnTo>
                <a:lnTo>
                  <a:pt x="169377" y="9879"/>
                </a:lnTo>
                <a:lnTo>
                  <a:pt x="208130" y="36823"/>
                </a:lnTo>
                <a:lnTo>
                  <a:pt x="234259" y="76788"/>
                </a:lnTo>
                <a:lnTo>
                  <a:pt x="243840" y="125729"/>
                </a:lnTo>
                <a:lnTo>
                  <a:pt x="234259" y="174671"/>
                </a:lnTo>
                <a:lnTo>
                  <a:pt x="208130" y="214636"/>
                </a:lnTo>
                <a:lnTo>
                  <a:pt x="169377" y="241580"/>
                </a:lnTo>
                <a:lnTo>
                  <a:pt x="121920" y="251459"/>
                </a:lnTo>
                <a:lnTo>
                  <a:pt x="74462" y="241580"/>
                </a:lnTo>
                <a:lnTo>
                  <a:pt x="35709" y="214636"/>
                </a:lnTo>
                <a:lnTo>
                  <a:pt x="9580" y="174671"/>
                </a:lnTo>
                <a:lnTo>
                  <a:pt x="0" y="125729"/>
                </a:lnTo>
                <a:close/>
              </a:path>
            </a:pathLst>
          </a:custGeom>
          <a:ln w="19050">
            <a:solidFill>
              <a:srgbClr val="C04F14"/>
            </a:solidFill>
          </a:ln>
        </p:spPr>
        <p:txBody>
          <a:bodyPr wrap="square" lIns="0" tIns="0" rIns="0" bIns="0" rtlCol="0"/>
          <a:lstStyle/>
          <a:p>
            <a:endParaRPr/>
          </a:p>
        </p:txBody>
      </p:sp>
      <p:sp>
        <p:nvSpPr>
          <p:cNvPr id="22" name="object 22"/>
          <p:cNvSpPr txBox="1"/>
          <p:nvPr/>
        </p:nvSpPr>
        <p:spPr>
          <a:xfrm>
            <a:off x="8177800" y="2782949"/>
            <a:ext cx="66738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Arial"/>
                <a:cs typeface="Arial"/>
              </a:rPr>
              <a:t>Giải</a:t>
            </a:r>
            <a:r>
              <a:rPr sz="1800" spc="-215" dirty="0">
                <a:latin typeface="Arial"/>
                <a:cs typeface="Arial"/>
              </a:rPr>
              <a:t> </a:t>
            </a:r>
            <a:r>
              <a:rPr sz="1800" spc="-5" dirty="0">
                <a:latin typeface="Arial"/>
                <a:cs typeface="Arial"/>
              </a:rPr>
              <a:t>trí</a:t>
            </a:r>
            <a:endParaRPr sz="1800">
              <a:latin typeface="Arial"/>
              <a:cs typeface="Arial"/>
            </a:endParaRPr>
          </a:p>
        </p:txBody>
      </p:sp>
      <p:sp>
        <p:nvSpPr>
          <p:cNvPr id="23" name="object 23"/>
          <p:cNvSpPr/>
          <p:nvPr/>
        </p:nvSpPr>
        <p:spPr>
          <a:xfrm>
            <a:off x="8804909" y="1870710"/>
            <a:ext cx="242316" cy="252983"/>
          </a:xfrm>
          <a:prstGeom prst="rect">
            <a:avLst/>
          </a:prstGeom>
          <a:blipFill>
            <a:blip r:embed="rId5" cstate="print"/>
            <a:stretch>
              <a:fillRect/>
            </a:stretch>
          </a:blipFill>
        </p:spPr>
        <p:txBody>
          <a:bodyPr wrap="square" lIns="0" tIns="0" rIns="0" bIns="0" rtlCol="0"/>
          <a:lstStyle/>
          <a:p>
            <a:endParaRPr/>
          </a:p>
        </p:txBody>
      </p:sp>
      <p:sp>
        <p:nvSpPr>
          <p:cNvPr id="24" name="object 24"/>
          <p:cNvSpPr/>
          <p:nvPr/>
        </p:nvSpPr>
        <p:spPr>
          <a:xfrm>
            <a:off x="8804909" y="1870710"/>
            <a:ext cx="242570" cy="253365"/>
          </a:xfrm>
          <a:custGeom>
            <a:avLst/>
            <a:gdLst/>
            <a:ahLst/>
            <a:cxnLst/>
            <a:rect l="l" t="t" r="r" b="b"/>
            <a:pathLst>
              <a:path w="242570" h="253364">
                <a:moveTo>
                  <a:pt x="0" y="126491"/>
                </a:moveTo>
                <a:lnTo>
                  <a:pt x="9520" y="77254"/>
                </a:lnTo>
                <a:lnTo>
                  <a:pt x="35485" y="37047"/>
                </a:lnTo>
                <a:lnTo>
                  <a:pt x="73996" y="9939"/>
                </a:lnTo>
                <a:lnTo>
                  <a:pt x="121157" y="0"/>
                </a:lnTo>
                <a:lnTo>
                  <a:pt x="168319" y="9939"/>
                </a:lnTo>
                <a:lnTo>
                  <a:pt x="206830" y="37047"/>
                </a:lnTo>
                <a:lnTo>
                  <a:pt x="232795" y="77254"/>
                </a:lnTo>
                <a:lnTo>
                  <a:pt x="242315" y="126491"/>
                </a:lnTo>
                <a:lnTo>
                  <a:pt x="232795" y="175729"/>
                </a:lnTo>
                <a:lnTo>
                  <a:pt x="206830" y="215936"/>
                </a:lnTo>
                <a:lnTo>
                  <a:pt x="168319" y="243044"/>
                </a:lnTo>
                <a:lnTo>
                  <a:pt x="121157" y="252983"/>
                </a:lnTo>
                <a:lnTo>
                  <a:pt x="73996" y="243044"/>
                </a:lnTo>
                <a:lnTo>
                  <a:pt x="35485" y="215936"/>
                </a:lnTo>
                <a:lnTo>
                  <a:pt x="9520" y="175729"/>
                </a:lnTo>
                <a:lnTo>
                  <a:pt x="0" y="126491"/>
                </a:lnTo>
                <a:close/>
              </a:path>
            </a:pathLst>
          </a:custGeom>
          <a:ln w="19050">
            <a:solidFill>
              <a:srgbClr val="042333"/>
            </a:solidFill>
          </a:ln>
        </p:spPr>
        <p:txBody>
          <a:bodyPr wrap="square" lIns="0" tIns="0" rIns="0" bIns="0" rtlCol="0"/>
          <a:lstStyle/>
          <a:p>
            <a:endParaRPr/>
          </a:p>
        </p:txBody>
      </p:sp>
      <p:sp>
        <p:nvSpPr>
          <p:cNvPr id="25" name="object 25"/>
          <p:cNvSpPr/>
          <p:nvPr/>
        </p:nvSpPr>
        <p:spPr>
          <a:xfrm>
            <a:off x="10580369" y="1288541"/>
            <a:ext cx="242316" cy="252983"/>
          </a:xfrm>
          <a:prstGeom prst="rect">
            <a:avLst/>
          </a:prstGeom>
          <a:blipFill>
            <a:blip r:embed="rId6" cstate="print"/>
            <a:stretch>
              <a:fillRect/>
            </a:stretch>
          </a:blipFill>
        </p:spPr>
        <p:txBody>
          <a:bodyPr wrap="square" lIns="0" tIns="0" rIns="0" bIns="0" rtlCol="0"/>
          <a:lstStyle/>
          <a:p>
            <a:endParaRPr/>
          </a:p>
        </p:txBody>
      </p:sp>
      <p:sp>
        <p:nvSpPr>
          <p:cNvPr id="26" name="object 26"/>
          <p:cNvSpPr/>
          <p:nvPr/>
        </p:nvSpPr>
        <p:spPr>
          <a:xfrm>
            <a:off x="10580368" y="1288541"/>
            <a:ext cx="242570" cy="253365"/>
          </a:xfrm>
          <a:custGeom>
            <a:avLst/>
            <a:gdLst/>
            <a:ahLst/>
            <a:cxnLst/>
            <a:rect l="l" t="t" r="r" b="b"/>
            <a:pathLst>
              <a:path w="242570" h="253365">
                <a:moveTo>
                  <a:pt x="0" y="126491"/>
                </a:moveTo>
                <a:lnTo>
                  <a:pt x="9520" y="77254"/>
                </a:lnTo>
                <a:lnTo>
                  <a:pt x="35485" y="37047"/>
                </a:lnTo>
                <a:lnTo>
                  <a:pt x="73996" y="9939"/>
                </a:lnTo>
                <a:lnTo>
                  <a:pt x="121157" y="0"/>
                </a:lnTo>
                <a:lnTo>
                  <a:pt x="168319" y="9939"/>
                </a:lnTo>
                <a:lnTo>
                  <a:pt x="206830" y="37047"/>
                </a:lnTo>
                <a:lnTo>
                  <a:pt x="232795" y="77254"/>
                </a:lnTo>
                <a:lnTo>
                  <a:pt x="242315" y="126491"/>
                </a:lnTo>
                <a:lnTo>
                  <a:pt x="232795" y="175729"/>
                </a:lnTo>
                <a:lnTo>
                  <a:pt x="206830" y="215936"/>
                </a:lnTo>
                <a:lnTo>
                  <a:pt x="168319" y="243044"/>
                </a:lnTo>
                <a:lnTo>
                  <a:pt x="121157" y="252983"/>
                </a:lnTo>
                <a:lnTo>
                  <a:pt x="73996" y="243044"/>
                </a:lnTo>
                <a:lnTo>
                  <a:pt x="35485" y="215936"/>
                </a:lnTo>
                <a:lnTo>
                  <a:pt x="9520" y="175729"/>
                </a:lnTo>
                <a:lnTo>
                  <a:pt x="0" y="126491"/>
                </a:lnTo>
                <a:close/>
              </a:path>
            </a:pathLst>
          </a:custGeom>
          <a:ln w="19050">
            <a:solidFill>
              <a:srgbClr val="4EA72D"/>
            </a:solidFill>
          </a:ln>
        </p:spPr>
        <p:txBody>
          <a:bodyPr wrap="square" lIns="0" tIns="0" rIns="0" bIns="0" rtlCol="0"/>
          <a:lstStyle/>
          <a:p>
            <a:endParaRPr/>
          </a:p>
        </p:txBody>
      </p:sp>
      <p:sp>
        <p:nvSpPr>
          <p:cNvPr id="27" name="object 27"/>
          <p:cNvSpPr/>
          <p:nvPr/>
        </p:nvSpPr>
        <p:spPr>
          <a:xfrm>
            <a:off x="10461209" y="1503425"/>
            <a:ext cx="153670" cy="325120"/>
          </a:xfrm>
          <a:custGeom>
            <a:avLst/>
            <a:gdLst/>
            <a:ahLst/>
            <a:cxnLst/>
            <a:rect l="l" t="t" r="r" b="b"/>
            <a:pathLst>
              <a:path w="153670" h="325119">
                <a:moveTo>
                  <a:pt x="153479" y="0"/>
                </a:moveTo>
                <a:lnTo>
                  <a:pt x="0" y="324586"/>
                </a:lnTo>
              </a:path>
            </a:pathLst>
          </a:custGeom>
          <a:ln w="19050">
            <a:solidFill>
              <a:srgbClr val="4EA72D"/>
            </a:solidFill>
          </a:ln>
        </p:spPr>
        <p:txBody>
          <a:bodyPr wrap="square" lIns="0" tIns="0" rIns="0" bIns="0" rtlCol="0"/>
          <a:lstStyle/>
          <a:p>
            <a:endParaRPr/>
          </a:p>
        </p:txBody>
      </p:sp>
      <p:sp>
        <p:nvSpPr>
          <p:cNvPr id="28" name="object 28"/>
          <p:cNvSpPr/>
          <p:nvPr/>
        </p:nvSpPr>
        <p:spPr>
          <a:xfrm>
            <a:off x="10432191" y="1800245"/>
            <a:ext cx="69215" cy="85725"/>
          </a:xfrm>
          <a:custGeom>
            <a:avLst/>
            <a:gdLst/>
            <a:ahLst/>
            <a:cxnLst/>
            <a:rect l="l" t="t" r="r" b="b"/>
            <a:pathLst>
              <a:path w="69215" h="85725">
                <a:moveTo>
                  <a:pt x="0" y="0"/>
                </a:moveTo>
                <a:lnTo>
                  <a:pt x="1879" y="85178"/>
                </a:lnTo>
                <a:lnTo>
                  <a:pt x="68884" y="32575"/>
                </a:lnTo>
                <a:lnTo>
                  <a:pt x="0" y="0"/>
                </a:lnTo>
                <a:close/>
              </a:path>
            </a:pathLst>
          </a:custGeom>
          <a:solidFill>
            <a:srgbClr val="4EA72D"/>
          </a:solidFill>
        </p:spPr>
        <p:txBody>
          <a:bodyPr wrap="square" lIns="0" tIns="0" rIns="0" bIns="0" rtlCol="0"/>
          <a:lstStyle/>
          <a:p>
            <a:endParaRPr/>
          </a:p>
        </p:txBody>
      </p:sp>
      <p:sp>
        <p:nvSpPr>
          <p:cNvPr id="29" name="object 29"/>
          <p:cNvSpPr/>
          <p:nvPr/>
        </p:nvSpPr>
        <p:spPr>
          <a:xfrm>
            <a:off x="10787633" y="1503425"/>
            <a:ext cx="285115" cy="334010"/>
          </a:xfrm>
          <a:custGeom>
            <a:avLst/>
            <a:gdLst/>
            <a:ahLst/>
            <a:cxnLst/>
            <a:rect l="l" t="t" r="r" b="b"/>
            <a:pathLst>
              <a:path w="285115" h="334010">
                <a:moveTo>
                  <a:pt x="0" y="0"/>
                </a:moveTo>
                <a:lnTo>
                  <a:pt x="284924" y="333705"/>
                </a:lnTo>
              </a:path>
            </a:pathLst>
          </a:custGeom>
          <a:ln w="19050">
            <a:solidFill>
              <a:srgbClr val="000000"/>
            </a:solidFill>
          </a:ln>
        </p:spPr>
        <p:txBody>
          <a:bodyPr wrap="square" lIns="0" tIns="0" rIns="0" bIns="0" rtlCol="0"/>
          <a:lstStyle/>
          <a:p>
            <a:endParaRPr/>
          </a:p>
        </p:txBody>
      </p:sp>
      <p:sp>
        <p:nvSpPr>
          <p:cNvPr id="30" name="object 30"/>
          <p:cNvSpPr/>
          <p:nvPr/>
        </p:nvSpPr>
        <p:spPr>
          <a:xfrm>
            <a:off x="11035341" y="1802728"/>
            <a:ext cx="78740" cy="83185"/>
          </a:xfrm>
          <a:custGeom>
            <a:avLst/>
            <a:gdLst/>
            <a:ahLst/>
            <a:cxnLst/>
            <a:rect l="l" t="t" r="r" b="b"/>
            <a:pathLst>
              <a:path w="78740" h="83185">
                <a:moveTo>
                  <a:pt x="57950" y="0"/>
                </a:moveTo>
                <a:lnTo>
                  <a:pt x="0" y="49479"/>
                </a:lnTo>
                <a:lnTo>
                  <a:pt x="78447" y="82689"/>
                </a:lnTo>
                <a:lnTo>
                  <a:pt x="57950" y="0"/>
                </a:lnTo>
                <a:close/>
              </a:path>
            </a:pathLst>
          </a:custGeom>
          <a:solidFill>
            <a:srgbClr val="000000"/>
          </a:solidFill>
        </p:spPr>
        <p:txBody>
          <a:bodyPr wrap="square" lIns="0" tIns="0" rIns="0" bIns="0" rtlCol="0"/>
          <a:lstStyle/>
          <a:p>
            <a:endParaRPr/>
          </a:p>
        </p:txBody>
      </p:sp>
      <p:sp>
        <p:nvSpPr>
          <p:cNvPr id="31" name="object 31"/>
          <p:cNvSpPr/>
          <p:nvPr/>
        </p:nvSpPr>
        <p:spPr>
          <a:xfrm>
            <a:off x="10434066" y="2064257"/>
            <a:ext cx="109220" cy="406400"/>
          </a:xfrm>
          <a:custGeom>
            <a:avLst/>
            <a:gdLst/>
            <a:ahLst/>
            <a:cxnLst/>
            <a:rect l="l" t="t" r="r" b="b"/>
            <a:pathLst>
              <a:path w="109220" h="406400">
                <a:moveTo>
                  <a:pt x="0" y="0"/>
                </a:moveTo>
                <a:lnTo>
                  <a:pt x="108889" y="406196"/>
                </a:lnTo>
              </a:path>
            </a:pathLst>
          </a:custGeom>
          <a:ln w="19050">
            <a:solidFill>
              <a:srgbClr val="000000"/>
            </a:solidFill>
          </a:ln>
        </p:spPr>
        <p:txBody>
          <a:bodyPr wrap="square" lIns="0" tIns="0" rIns="0" bIns="0" rtlCol="0"/>
          <a:lstStyle/>
          <a:p>
            <a:endParaRPr/>
          </a:p>
        </p:txBody>
      </p:sp>
      <p:sp>
        <p:nvSpPr>
          <p:cNvPr id="32" name="object 32"/>
          <p:cNvSpPr/>
          <p:nvPr/>
        </p:nvSpPr>
        <p:spPr>
          <a:xfrm>
            <a:off x="10502872" y="2448319"/>
            <a:ext cx="73660" cy="83820"/>
          </a:xfrm>
          <a:custGeom>
            <a:avLst/>
            <a:gdLst/>
            <a:ahLst/>
            <a:cxnLst/>
            <a:rect l="l" t="t" r="r" b="b"/>
            <a:pathLst>
              <a:path w="73659" h="83819">
                <a:moveTo>
                  <a:pt x="73596" y="0"/>
                </a:moveTo>
                <a:lnTo>
                  <a:pt x="0" y="19723"/>
                </a:lnTo>
                <a:lnTo>
                  <a:pt x="56527" y="83464"/>
                </a:lnTo>
                <a:lnTo>
                  <a:pt x="73596" y="0"/>
                </a:lnTo>
                <a:close/>
              </a:path>
            </a:pathLst>
          </a:custGeom>
          <a:solidFill>
            <a:srgbClr val="000000"/>
          </a:solidFill>
        </p:spPr>
        <p:txBody>
          <a:bodyPr wrap="square" lIns="0" tIns="0" rIns="0" bIns="0" rtlCol="0"/>
          <a:lstStyle/>
          <a:p>
            <a:endParaRPr/>
          </a:p>
        </p:txBody>
      </p:sp>
      <p:sp>
        <p:nvSpPr>
          <p:cNvPr id="33" name="object 33"/>
          <p:cNvSpPr/>
          <p:nvPr/>
        </p:nvSpPr>
        <p:spPr>
          <a:xfrm>
            <a:off x="10117020" y="2064257"/>
            <a:ext cx="146685" cy="328295"/>
          </a:xfrm>
          <a:custGeom>
            <a:avLst/>
            <a:gdLst/>
            <a:ahLst/>
            <a:cxnLst/>
            <a:rect l="l" t="t" r="r" b="b"/>
            <a:pathLst>
              <a:path w="146684" h="328294">
                <a:moveTo>
                  <a:pt x="146278" y="0"/>
                </a:moveTo>
                <a:lnTo>
                  <a:pt x="0" y="328091"/>
                </a:lnTo>
              </a:path>
            </a:pathLst>
          </a:custGeom>
          <a:ln w="19049">
            <a:solidFill>
              <a:srgbClr val="4EA72D"/>
            </a:solidFill>
          </a:ln>
        </p:spPr>
        <p:txBody>
          <a:bodyPr wrap="square" lIns="0" tIns="0" rIns="0" bIns="0" rtlCol="0"/>
          <a:lstStyle/>
          <a:p>
            <a:endParaRPr/>
          </a:p>
        </p:txBody>
      </p:sp>
      <p:sp>
        <p:nvSpPr>
          <p:cNvPr id="34" name="object 34"/>
          <p:cNvSpPr/>
          <p:nvPr/>
        </p:nvSpPr>
        <p:spPr>
          <a:xfrm>
            <a:off x="10087392" y="2365235"/>
            <a:ext cx="69850" cy="85725"/>
          </a:xfrm>
          <a:custGeom>
            <a:avLst/>
            <a:gdLst/>
            <a:ahLst/>
            <a:cxnLst/>
            <a:rect l="l" t="t" r="r" b="b"/>
            <a:pathLst>
              <a:path w="69850" h="85725">
                <a:moveTo>
                  <a:pt x="0" y="0"/>
                </a:moveTo>
                <a:lnTo>
                  <a:pt x="3771" y="85115"/>
                </a:lnTo>
                <a:lnTo>
                  <a:pt x="69596" y="31026"/>
                </a:lnTo>
                <a:lnTo>
                  <a:pt x="0" y="0"/>
                </a:lnTo>
                <a:close/>
              </a:path>
            </a:pathLst>
          </a:custGeom>
          <a:solidFill>
            <a:srgbClr val="4EA72D"/>
          </a:solidFill>
        </p:spPr>
        <p:txBody>
          <a:bodyPr wrap="square" lIns="0" tIns="0" rIns="0" bIns="0" rtlCol="0"/>
          <a:lstStyle/>
          <a:p>
            <a:endParaRPr/>
          </a:p>
        </p:txBody>
      </p:sp>
      <p:sp>
        <p:nvSpPr>
          <p:cNvPr id="35" name="object 35"/>
          <p:cNvSpPr/>
          <p:nvPr/>
        </p:nvSpPr>
        <p:spPr>
          <a:xfrm>
            <a:off x="10226802" y="1849373"/>
            <a:ext cx="243840" cy="251459"/>
          </a:xfrm>
          <a:prstGeom prst="rect">
            <a:avLst/>
          </a:prstGeom>
          <a:blipFill>
            <a:blip r:embed="rId7" cstate="print"/>
            <a:stretch>
              <a:fillRect/>
            </a:stretch>
          </a:blipFill>
        </p:spPr>
        <p:txBody>
          <a:bodyPr wrap="square" lIns="0" tIns="0" rIns="0" bIns="0" rtlCol="0"/>
          <a:lstStyle/>
          <a:p>
            <a:endParaRPr/>
          </a:p>
        </p:txBody>
      </p:sp>
      <p:sp>
        <p:nvSpPr>
          <p:cNvPr id="36" name="object 36"/>
          <p:cNvSpPr/>
          <p:nvPr/>
        </p:nvSpPr>
        <p:spPr>
          <a:xfrm>
            <a:off x="10226802" y="1849373"/>
            <a:ext cx="243840" cy="251460"/>
          </a:xfrm>
          <a:custGeom>
            <a:avLst/>
            <a:gdLst/>
            <a:ahLst/>
            <a:cxnLst/>
            <a:rect l="l" t="t" r="r" b="b"/>
            <a:pathLst>
              <a:path w="243840" h="251460">
                <a:moveTo>
                  <a:pt x="0" y="125729"/>
                </a:moveTo>
                <a:lnTo>
                  <a:pt x="9580" y="76788"/>
                </a:lnTo>
                <a:lnTo>
                  <a:pt x="35709" y="36823"/>
                </a:lnTo>
                <a:lnTo>
                  <a:pt x="74462" y="9879"/>
                </a:lnTo>
                <a:lnTo>
                  <a:pt x="121920" y="0"/>
                </a:lnTo>
                <a:lnTo>
                  <a:pt x="169377" y="9879"/>
                </a:lnTo>
                <a:lnTo>
                  <a:pt x="208130" y="36823"/>
                </a:lnTo>
                <a:lnTo>
                  <a:pt x="234259" y="76788"/>
                </a:lnTo>
                <a:lnTo>
                  <a:pt x="243840" y="125729"/>
                </a:lnTo>
                <a:lnTo>
                  <a:pt x="234259" y="174671"/>
                </a:lnTo>
                <a:lnTo>
                  <a:pt x="208130" y="214636"/>
                </a:lnTo>
                <a:lnTo>
                  <a:pt x="169377" y="241580"/>
                </a:lnTo>
                <a:lnTo>
                  <a:pt x="121920" y="251459"/>
                </a:lnTo>
                <a:lnTo>
                  <a:pt x="74462" y="241580"/>
                </a:lnTo>
                <a:lnTo>
                  <a:pt x="35709" y="214636"/>
                </a:lnTo>
                <a:lnTo>
                  <a:pt x="9580" y="174671"/>
                </a:lnTo>
                <a:lnTo>
                  <a:pt x="0" y="125729"/>
                </a:lnTo>
                <a:close/>
              </a:path>
            </a:pathLst>
          </a:custGeom>
          <a:ln w="19050">
            <a:solidFill>
              <a:srgbClr val="4EA72D"/>
            </a:solidFill>
          </a:ln>
        </p:spPr>
        <p:txBody>
          <a:bodyPr wrap="square" lIns="0" tIns="0" rIns="0" bIns="0" rtlCol="0"/>
          <a:lstStyle/>
          <a:p>
            <a:endParaRPr/>
          </a:p>
        </p:txBody>
      </p:sp>
      <p:sp>
        <p:nvSpPr>
          <p:cNvPr id="37" name="object 37"/>
          <p:cNvSpPr/>
          <p:nvPr/>
        </p:nvSpPr>
        <p:spPr>
          <a:xfrm>
            <a:off x="9882378" y="2413254"/>
            <a:ext cx="243840" cy="252983"/>
          </a:xfrm>
          <a:prstGeom prst="rect">
            <a:avLst/>
          </a:prstGeom>
          <a:blipFill>
            <a:blip r:embed="rId8" cstate="print"/>
            <a:stretch>
              <a:fillRect/>
            </a:stretch>
          </a:blipFill>
        </p:spPr>
        <p:txBody>
          <a:bodyPr wrap="square" lIns="0" tIns="0" rIns="0" bIns="0" rtlCol="0"/>
          <a:lstStyle/>
          <a:p>
            <a:endParaRPr/>
          </a:p>
        </p:txBody>
      </p:sp>
      <p:sp>
        <p:nvSpPr>
          <p:cNvPr id="38" name="object 38"/>
          <p:cNvSpPr/>
          <p:nvPr/>
        </p:nvSpPr>
        <p:spPr>
          <a:xfrm>
            <a:off x="9882378" y="2413254"/>
            <a:ext cx="243840" cy="253365"/>
          </a:xfrm>
          <a:custGeom>
            <a:avLst/>
            <a:gdLst/>
            <a:ahLst/>
            <a:cxnLst/>
            <a:rect l="l" t="t" r="r" b="b"/>
            <a:pathLst>
              <a:path w="243840" h="253364">
                <a:moveTo>
                  <a:pt x="0" y="126491"/>
                </a:moveTo>
                <a:lnTo>
                  <a:pt x="9580" y="77254"/>
                </a:lnTo>
                <a:lnTo>
                  <a:pt x="35709" y="37047"/>
                </a:lnTo>
                <a:lnTo>
                  <a:pt x="74462" y="9939"/>
                </a:lnTo>
                <a:lnTo>
                  <a:pt x="121920" y="0"/>
                </a:lnTo>
                <a:lnTo>
                  <a:pt x="169377" y="9939"/>
                </a:lnTo>
                <a:lnTo>
                  <a:pt x="208130" y="37047"/>
                </a:lnTo>
                <a:lnTo>
                  <a:pt x="234259" y="77254"/>
                </a:lnTo>
                <a:lnTo>
                  <a:pt x="243840" y="126491"/>
                </a:lnTo>
                <a:lnTo>
                  <a:pt x="234259" y="175729"/>
                </a:lnTo>
                <a:lnTo>
                  <a:pt x="208130" y="215936"/>
                </a:lnTo>
                <a:lnTo>
                  <a:pt x="169377" y="243044"/>
                </a:lnTo>
                <a:lnTo>
                  <a:pt x="121920" y="252983"/>
                </a:lnTo>
                <a:lnTo>
                  <a:pt x="74462" y="243044"/>
                </a:lnTo>
                <a:lnTo>
                  <a:pt x="35709" y="215936"/>
                </a:lnTo>
                <a:lnTo>
                  <a:pt x="9580" y="175729"/>
                </a:lnTo>
                <a:lnTo>
                  <a:pt x="0" y="126491"/>
                </a:lnTo>
                <a:close/>
              </a:path>
            </a:pathLst>
          </a:custGeom>
          <a:ln w="19050">
            <a:solidFill>
              <a:srgbClr val="C04F14"/>
            </a:solidFill>
          </a:ln>
        </p:spPr>
        <p:txBody>
          <a:bodyPr wrap="square" lIns="0" tIns="0" rIns="0" bIns="0" rtlCol="0"/>
          <a:lstStyle/>
          <a:p>
            <a:endParaRPr/>
          </a:p>
        </p:txBody>
      </p:sp>
      <p:sp>
        <p:nvSpPr>
          <p:cNvPr id="39" name="object 39"/>
          <p:cNvSpPr/>
          <p:nvPr/>
        </p:nvSpPr>
        <p:spPr>
          <a:xfrm>
            <a:off x="10523981" y="2495550"/>
            <a:ext cx="243840" cy="251459"/>
          </a:xfrm>
          <a:prstGeom prst="rect">
            <a:avLst/>
          </a:prstGeom>
          <a:blipFill>
            <a:blip r:embed="rId5" cstate="print"/>
            <a:stretch>
              <a:fillRect/>
            </a:stretch>
          </a:blipFill>
        </p:spPr>
        <p:txBody>
          <a:bodyPr wrap="square" lIns="0" tIns="0" rIns="0" bIns="0" rtlCol="0"/>
          <a:lstStyle/>
          <a:p>
            <a:endParaRPr/>
          </a:p>
        </p:txBody>
      </p:sp>
      <p:sp>
        <p:nvSpPr>
          <p:cNvPr id="40" name="object 40"/>
          <p:cNvSpPr/>
          <p:nvPr/>
        </p:nvSpPr>
        <p:spPr>
          <a:xfrm>
            <a:off x="10523980" y="2495550"/>
            <a:ext cx="243840" cy="251460"/>
          </a:xfrm>
          <a:custGeom>
            <a:avLst/>
            <a:gdLst/>
            <a:ahLst/>
            <a:cxnLst/>
            <a:rect l="l" t="t" r="r" b="b"/>
            <a:pathLst>
              <a:path w="243840" h="251460">
                <a:moveTo>
                  <a:pt x="0" y="125729"/>
                </a:moveTo>
                <a:lnTo>
                  <a:pt x="9580" y="76788"/>
                </a:lnTo>
                <a:lnTo>
                  <a:pt x="35709" y="36823"/>
                </a:lnTo>
                <a:lnTo>
                  <a:pt x="74462" y="9879"/>
                </a:lnTo>
                <a:lnTo>
                  <a:pt x="121920" y="0"/>
                </a:lnTo>
                <a:lnTo>
                  <a:pt x="169377" y="9879"/>
                </a:lnTo>
                <a:lnTo>
                  <a:pt x="208130" y="36823"/>
                </a:lnTo>
                <a:lnTo>
                  <a:pt x="234259" y="76788"/>
                </a:lnTo>
                <a:lnTo>
                  <a:pt x="243840" y="125729"/>
                </a:lnTo>
                <a:lnTo>
                  <a:pt x="234259" y="174671"/>
                </a:lnTo>
                <a:lnTo>
                  <a:pt x="208130" y="214636"/>
                </a:lnTo>
                <a:lnTo>
                  <a:pt x="169377" y="241580"/>
                </a:lnTo>
                <a:lnTo>
                  <a:pt x="121920" y="251459"/>
                </a:lnTo>
                <a:lnTo>
                  <a:pt x="74462" y="241580"/>
                </a:lnTo>
                <a:lnTo>
                  <a:pt x="35709" y="214636"/>
                </a:lnTo>
                <a:lnTo>
                  <a:pt x="9580" y="174671"/>
                </a:lnTo>
                <a:lnTo>
                  <a:pt x="0" y="125729"/>
                </a:lnTo>
                <a:close/>
              </a:path>
            </a:pathLst>
          </a:custGeom>
          <a:ln w="19050">
            <a:solidFill>
              <a:srgbClr val="000000"/>
            </a:solidFill>
          </a:ln>
        </p:spPr>
        <p:txBody>
          <a:bodyPr wrap="square" lIns="0" tIns="0" rIns="0" bIns="0" rtlCol="0"/>
          <a:lstStyle/>
          <a:p>
            <a:endParaRPr/>
          </a:p>
        </p:txBody>
      </p:sp>
      <p:sp>
        <p:nvSpPr>
          <p:cNvPr id="41" name="object 41"/>
          <p:cNvSpPr txBox="1"/>
          <p:nvPr/>
        </p:nvSpPr>
        <p:spPr>
          <a:xfrm>
            <a:off x="9372600" y="2812911"/>
            <a:ext cx="1121549" cy="289823"/>
          </a:xfrm>
          <a:prstGeom prst="rect">
            <a:avLst/>
          </a:prstGeom>
        </p:spPr>
        <p:txBody>
          <a:bodyPr vert="horz" wrap="square" lIns="0" tIns="12700" rIns="0" bIns="0" rtlCol="0">
            <a:spAutoFit/>
          </a:bodyPr>
          <a:lstStyle/>
          <a:p>
            <a:pPr marL="12700">
              <a:lnSpc>
                <a:spcPct val="100000"/>
              </a:lnSpc>
              <a:spcBef>
                <a:spcPts val="100"/>
              </a:spcBef>
            </a:pPr>
            <a:r>
              <a:rPr lang="en-US" sz="1800" spc="-70" dirty="0">
                <a:latin typeface="Arial"/>
                <a:cs typeface="Arial"/>
              </a:rPr>
              <a:t>Kinh </a:t>
            </a:r>
            <a:r>
              <a:rPr lang="en-US" sz="1800" spc="-70" dirty="0" err="1">
                <a:latin typeface="Arial"/>
                <a:cs typeface="Arial"/>
              </a:rPr>
              <a:t>doanh</a:t>
            </a:r>
            <a:endParaRPr sz="1800" dirty="0">
              <a:latin typeface="Arial"/>
              <a:cs typeface="Arial"/>
            </a:endParaRPr>
          </a:p>
        </p:txBody>
      </p:sp>
      <p:sp>
        <p:nvSpPr>
          <p:cNvPr id="42" name="object 42"/>
          <p:cNvSpPr/>
          <p:nvPr/>
        </p:nvSpPr>
        <p:spPr>
          <a:xfrm>
            <a:off x="11078718" y="1849373"/>
            <a:ext cx="242316" cy="251459"/>
          </a:xfrm>
          <a:prstGeom prst="rect">
            <a:avLst/>
          </a:prstGeom>
          <a:blipFill>
            <a:blip r:embed="rId5" cstate="print"/>
            <a:stretch>
              <a:fillRect/>
            </a:stretch>
          </a:blipFill>
        </p:spPr>
        <p:txBody>
          <a:bodyPr wrap="square" lIns="0" tIns="0" rIns="0" bIns="0" rtlCol="0"/>
          <a:lstStyle/>
          <a:p>
            <a:endParaRPr/>
          </a:p>
        </p:txBody>
      </p:sp>
      <p:sp>
        <p:nvSpPr>
          <p:cNvPr id="43" name="object 43"/>
          <p:cNvSpPr/>
          <p:nvPr/>
        </p:nvSpPr>
        <p:spPr>
          <a:xfrm>
            <a:off x="11078718" y="1849373"/>
            <a:ext cx="242570" cy="251460"/>
          </a:xfrm>
          <a:custGeom>
            <a:avLst/>
            <a:gdLst/>
            <a:ahLst/>
            <a:cxnLst/>
            <a:rect l="l" t="t" r="r" b="b"/>
            <a:pathLst>
              <a:path w="242570" h="251460">
                <a:moveTo>
                  <a:pt x="0" y="125729"/>
                </a:moveTo>
                <a:lnTo>
                  <a:pt x="9520" y="76788"/>
                </a:lnTo>
                <a:lnTo>
                  <a:pt x="35485" y="36823"/>
                </a:lnTo>
                <a:lnTo>
                  <a:pt x="73996" y="9879"/>
                </a:lnTo>
                <a:lnTo>
                  <a:pt x="121157" y="0"/>
                </a:lnTo>
                <a:lnTo>
                  <a:pt x="168319" y="9879"/>
                </a:lnTo>
                <a:lnTo>
                  <a:pt x="206830" y="36823"/>
                </a:lnTo>
                <a:lnTo>
                  <a:pt x="232795" y="76788"/>
                </a:lnTo>
                <a:lnTo>
                  <a:pt x="242315" y="125729"/>
                </a:lnTo>
                <a:lnTo>
                  <a:pt x="232795" y="174671"/>
                </a:lnTo>
                <a:lnTo>
                  <a:pt x="206830" y="214636"/>
                </a:lnTo>
                <a:lnTo>
                  <a:pt x="168319" y="241580"/>
                </a:lnTo>
                <a:lnTo>
                  <a:pt x="121157" y="251459"/>
                </a:lnTo>
                <a:lnTo>
                  <a:pt x="73996" y="241580"/>
                </a:lnTo>
                <a:lnTo>
                  <a:pt x="35485" y="214636"/>
                </a:lnTo>
                <a:lnTo>
                  <a:pt x="9520" y="174671"/>
                </a:lnTo>
                <a:lnTo>
                  <a:pt x="0" y="125729"/>
                </a:lnTo>
                <a:close/>
              </a:path>
            </a:pathLst>
          </a:custGeom>
          <a:ln w="19049">
            <a:solidFill>
              <a:srgbClr val="042333"/>
            </a:solidFill>
          </a:ln>
        </p:spPr>
        <p:txBody>
          <a:bodyPr wrap="square" lIns="0" tIns="0" rIns="0" bIns="0" rtlCol="0"/>
          <a:lstStyle/>
          <a:p>
            <a:endParaRPr/>
          </a:p>
        </p:txBody>
      </p:sp>
      <p:sp>
        <p:nvSpPr>
          <p:cNvPr id="44" name="object 44"/>
          <p:cNvSpPr/>
          <p:nvPr/>
        </p:nvSpPr>
        <p:spPr>
          <a:xfrm>
            <a:off x="11285981" y="2064257"/>
            <a:ext cx="133350" cy="454659"/>
          </a:xfrm>
          <a:custGeom>
            <a:avLst/>
            <a:gdLst/>
            <a:ahLst/>
            <a:cxnLst/>
            <a:rect l="l" t="t" r="r" b="b"/>
            <a:pathLst>
              <a:path w="133350" h="454660">
                <a:moveTo>
                  <a:pt x="0" y="0"/>
                </a:moveTo>
                <a:lnTo>
                  <a:pt x="133261" y="454291"/>
                </a:lnTo>
              </a:path>
            </a:pathLst>
          </a:custGeom>
          <a:ln w="19050">
            <a:solidFill>
              <a:srgbClr val="000000"/>
            </a:solidFill>
          </a:ln>
        </p:spPr>
        <p:txBody>
          <a:bodyPr wrap="square" lIns="0" tIns="0" rIns="0" bIns="0" rtlCol="0"/>
          <a:lstStyle/>
          <a:p>
            <a:endParaRPr/>
          </a:p>
        </p:txBody>
      </p:sp>
      <p:sp>
        <p:nvSpPr>
          <p:cNvPr id="45" name="object 45"/>
          <p:cNvSpPr/>
          <p:nvPr/>
        </p:nvSpPr>
        <p:spPr>
          <a:xfrm>
            <a:off x="11379110" y="2495638"/>
            <a:ext cx="265012" cy="298615"/>
          </a:xfrm>
          <a:prstGeom prst="rect">
            <a:avLst/>
          </a:prstGeom>
          <a:blipFill>
            <a:blip r:embed="rId9" cstate="print"/>
            <a:stretch>
              <a:fillRect/>
            </a:stretch>
          </a:blipFill>
        </p:spPr>
        <p:txBody>
          <a:bodyPr wrap="square" lIns="0" tIns="0" rIns="0" bIns="0" rtlCol="0"/>
          <a:lstStyle/>
          <a:p>
            <a:endParaRPr/>
          </a:p>
        </p:txBody>
      </p:sp>
      <p:sp>
        <p:nvSpPr>
          <p:cNvPr id="46" name="object 46"/>
          <p:cNvSpPr/>
          <p:nvPr/>
        </p:nvSpPr>
        <p:spPr>
          <a:xfrm>
            <a:off x="11401806" y="2542794"/>
            <a:ext cx="242570" cy="251460"/>
          </a:xfrm>
          <a:custGeom>
            <a:avLst/>
            <a:gdLst/>
            <a:ahLst/>
            <a:cxnLst/>
            <a:rect l="l" t="t" r="r" b="b"/>
            <a:pathLst>
              <a:path w="242570" h="251460">
                <a:moveTo>
                  <a:pt x="0" y="125729"/>
                </a:moveTo>
                <a:lnTo>
                  <a:pt x="9520" y="76788"/>
                </a:lnTo>
                <a:lnTo>
                  <a:pt x="35485" y="36823"/>
                </a:lnTo>
                <a:lnTo>
                  <a:pt x="73996" y="9879"/>
                </a:lnTo>
                <a:lnTo>
                  <a:pt x="121157" y="0"/>
                </a:lnTo>
                <a:lnTo>
                  <a:pt x="168319" y="9879"/>
                </a:lnTo>
                <a:lnTo>
                  <a:pt x="206830" y="36823"/>
                </a:lnTo>
                <a:lnTo>
                  <a:pt x="232795" y="76788"/>
                </a:lnTo>
                <a:lnTo>
                  <a:pt x="242315" y="125729"/>
                </a:lnTo>
                <a:lnTo>
                  <a:pt x="232795" y="174671"/>
                </a:lnTo>
                <a:lnTo>
                  <a:pt x="206830" y="214636"/>
                </a:lnTo>
                <a:lnTo>
                  <a:pt x="168319" y="241580"/>
                </a:lnTo>
                <a:lnTo>
                  <a:pt x="121157" y="251459"/>
                </a:lnTo>
                <a:lnTo>
                  <a:pt x="73996" y="241580"/>
                </a:lnTo>
                <a:lnTo>
                  <a:pt x="35485" y="214636"/>
                </a:lnTo>
                <a:lnTo>
                  <a:pt x="9520" y="174671"/>
                </a:lnTo>
                <a:lnTo>
                  <a:pt x="0" y="125729"/>
                </a:lnTo>
                <a:close/>
              </a:path>
            </a:pathLst>
          </a:custGeom>
          <a:ln w="19049">
            <a:solidFill>
              <a:srgbClr val="042333"/>
            </a:solidFill>
          </a:ln>
        </p:spPr>
        <p:txBody>
          <a:bodyPr wrap="square" lIns="0" tIns="0" rIns="0" bIns="0" rtlCol="0"/>
          <a:lstStyle/>
          <a:p>
            <a:endParaRPr/>
          </a:p>
        </p:txBody>
      </p:sp>
      <p:sp>
        <p:nvSpPr>
          <p:cNvPr id="47" name="object 47"/>
          <p:cNvSpPr/>
          <p:nvPr/>
        </p:nvSpPr>
        <p:spPr>
          <a:xfrm>
            <a:off x="11066172" y="2064257"/>
            <a:ext cx="47625" cy="412750"/>
          </a:xfrm>
          <a:custGeom>
            <a:avLst/>
            <a:gdLst/>
            <a:ahLst/>
            <a:cxnLst/>
            <a:rect l="l" t="t" r="r" b="b"/>
            <a:pathLst>
              <a:path w="47625" h="412750">
                <a:moveTo>
                  <a:pt x="47536" y="0"/>
                </a:moveTo>
                <a:lnTo>
                  <a:pt x="0" y="412280"/>
                </a:lnTo>
              </a:path>
            </a:pathLst>
          </a:custGeom>
          <a:ln w="19050">
            <a:solidFill>
              <a:srgbClr val="000000"/>
            </a:solidFill>
          </a:ln>
        </p:spPr>
        <p:txBody>
          <a:bodyPr wrap="square" lIns="0" tIns="0" rIns="0" bIns="0" rtlCol="0"/>
          <a:lstStyle/>
          <a:p>
            <a:endParaRPr/>
          </a:p>
        </p:txBody>
      </p:sp>
      <p:sp>
        <p:nvSpPr>
          <p:cNvPr id="48" name="object 48"/>
          <p:cNvSpPr/>
          <p:nvPr/>
        </p:nvSpPr>
        <p:spPr>
          <a:xfrm>
            <a:off x="10936985" y="2459558"/>
            <a:ext cx="243840" cy="331647"/>
          </a:xfrm>
          <a:prstGeom prst="rect">
            <a:avLst/>
          </a:prstGeom>
          <a:blipFill>
            <a:blip r:embed="rId10" cstate="print"/>
            <a:stretch>
              <a:fillRect/>
            </a:stretch>
          </a:blipFill>
        </p:spPr>
        <p:txBody>
          <a:bodyPr wrap="square" lIns="0" tIns="0" rIns="0" bIns="0" rtlCol="0"/>
          <a:lstStyle/>
          <a:p>
            <a:endParaRPr/>
          </a:p>
        </p:txBody>
      </p:sp>
      <p:sp>
        <p:nvSpPr>
          <p:cNvPr id="49" name="object 49"/>
          <p:cNvSpPr/>
          <p:nvPr/>
        </p:nvSpPr>
        <p:spPr>
          <a:xfrm>
            <a:off x="10936985" y="2539745"/>
            <a:ext cx="243840" cy="251460"/>
          </a:xfrm>
          <a:custGeom>
            <a:avLst/>
            <a:gdLst/>
            <a:ahLst/>
            <a:cxnLst/>
            <a:rect l="l" t="t" r="r" b="b"/>
            <a:pathLst>
              <a:path w="243840" h="251460">
                <a:moveTo>
                  <a:pt x="0" y="125729"/>
                </a:moveTo>
                <a:lnTo>
                  <a:pt x="9580" y="76788"/>
                </a:lnTo>
                <a:lnTo>
                  <a:pt x="35709" y="36823"/>
                </a:lnTo>
                <a:lnTo>
                  <a:pt x="74462" y="9879"/>
                </a:lnTo>
                <a:lnTo>
                  <a:pt x="121920" y="0"/>
                </a:lnTo>
                <a:lnTo>
                  <a:pt x="169377" y="9879"/>
                </a:lnTo>
                <a:lnTo>
                  <a:pt x="208130" y="36823"/>
                </a:lnTo>
                <a:lnTo>
                  <a:pt x="234259" y="76788"/>
                </a:lnTo>
                <a:lnTo>
                  <a:pt x="243840" y="125729"/>
                </a:lnTo>
                <a:lnTo>
                  <a:pt x="234259" y="174671"/>
                </a:lnTo>
                <a:lnTo>
                  <a:pt x="208130" y="214636"/>
                </a:lnTo>
                <a:lnTo>
                  <a:pt x="169377" y="241580"/>
                </a:lnTo>
                <a:lnTo>
                  <a:pt x="121920" y="251459"/>
                </a:lnTo>
                <a:lnTo>
                  <a:pt x="74462" y="241580"/>
                </a:lnTo>
                <a:lnTo>
                  <a:pt x="35709" y="214636"/>
                </a:lnTo>
                <a:lnTo>
                  <a:pt x="9580" y="174671"/>
                </a:lnTo>
                <a:lnTo>
                  <a:pt x="0" y="125729"/>
                </a:lnTo>
                <a:close/>
              </a:path>
            </a:pathLst>
          </a:custGeom>
          <a:ln w="19050">
            <a:solidFill>
              <a:srgbClr val="042333"/>
            </a:solidFill>
          </a:ln>
        </p:spPr>
        <p:txBody>
          <a:bodyPr wrap="square" lIns="0" tIns="0" rIns="0" bIns="0" rtlCol="0"/>
          <a:lstStyle/>
          <a:p>
            <a:endParaRPr/>
          </a:p>
        </p:txBody>
      </p:sp>
      <p:sp>
        <p:nvSpPr>
          <p:cNvPr id="50" name="object 50"/>
          <p:cNvSpPr/>
          <p:nvPr/>
        </p:nvSpPr>
        <p:spPr>
          <a:xfrm>
            <a:off x="8254745" y="3816858"/>
            <a:ext cx="243840" cy="251460"/>
          </a:xfrm>
          <a:prstGeom prst="rect">
            <a:avLst/>
          </a:prstGeom>
          <a:blipFill>
            <a:blip r:embed="rId2" cstate="print"/>
            <a:stretch>
              <a:fillRect/>
            </a:stretch>
          </a:blipFill>
        </p:spPr>
        <p:txBody>
          <a:bodyPr wrap="square" lIns="0" tIns="0" rIns="0" bIns="0" rtlCol="0"/>
          <a:lstStyle/>
          <a:p>
            <a:endParaRPr/>
          </a:p>
        </p:txBody>
      </p:sp>
      <p:sp>
        <p:nvSpPr>
          <p:cNvPr id="51" name="object 51"/>
          <p:cNvSpPr/>
          <p:nvPr/>
        </p:nvSpPr>
        <p:spPr>
          <a:xfrm>
            <a:off x="8254745" y="3816858"/>
            <a:ext cx="243840" cy="251460"/>
          </a:xfrm>
          <a:custGeom>
            <a:avLst/>
            <a:gdLst/>
            <a:ahLst/>
            <a:cxnLst/>
            <a:rect l="l" t="t" r="r" b="b"/>
            <a:pathLst>
              <a:path w="243840" h="251460">
                <a:moveTo>
                  <a:pt x="0" y="125730"/>
                </a:moveTo>
                <a:lnTo>
                  <a:pt x="9580" y="76788"/>
                </a:lnTo>
                <a:lnTo>
                  <a:pt x="35709" y="36823"/>
                </a:lnTo>
                <a:lnTo>
                  <a:pt x="74462" y="9879"/>
                </a:lnTo>
                <a:lnTo>
                  <a:pt x="121920" y="0"/>
                </a:lnTo>
                <a:lnTo>
                  <a:pt x="169377" y="9879"/>
                </a:lnTo>
                <a:lnTo>
                  <a:pt x="208130" y="36823"/>
                </a:lnTo>
                <a:lnTo>
                  <a:pt x="234259" y="76788"/>
                </a:lnTo>
                <a:lnTo>
                  <a:pt x="243840" y="125730"/>
                </a:lnTo>
                <a:lnTo>
                  <a:pt x="234259" y="174671"/>
                </a:lnTo>
                <a:lnTo>
                  <a:pt x="208130" y="214636"/>
                </a:lnTo>
                <a:lnTo>
                  <a:pt x="169377" y="241580"/>
                </a:lnTo>
                <a:lnTo>
                  <a:pt x="121920" y="251460"/>
                </a:lnTo>
                <a:lnTo>
                  <a:pt x="74462" y="241580"/>
                </a:lnTo>
                <a:lnTo>
                  <a:pt x="35709" y="214636"/>
                </a:lnTo>
                <a:lnTo>
                  <a:pt x="9580" y="174671"/>
                </a:lnTo>
                <a:lnTo>
                  <a:pt x="0" y="125730"/>
                </a:lnTo>
                <a:close/>
              </a:path>
            </a:pathLst>
          </a:custGeom>
          <a:ln w="19050">
            <a:solidFill>
              <a:srgbClr val="4EA72D"/>
            </a:solidFill>
          </a:ln>
        </p:spPr>
        <p:txBody>
          <a:bodyPr wrap="square" lIns="0" tIns="0" rIns="0" bIns="0" rtlCol="0"/>
          <a:lstStyle/>
          <a:p>
            <a:endParaRPr/>
          </a:p>
        </p:txBody>
      </p:sp>
      <p:sp>
        <p:nvSpPr>
          <p:cNvPr id="52" name="object 52"/>
          <p:cNvSpPr/>
          <p:nvPr/>
        </p:nvSpPr>
        <p:spPr>
          <a:xfrm>
            <a:off x="8086764" y="4031741"/>
            <a:ext cx="203835" cy="311785"/>
          </a:xfrm>
          <a:custGeom>
            <a:avLst/>
            <a:gdLst/>
            <a:ahLst/>
            <a:cxnLst/>
            <a:rect l="l" t="t" r="r" b="b"/>
            <a:pathLst>
              <a:path w="203834" h="311785">
                <a:moveTo>
                  <a:pt x="203568" y="0"/>
                </a:moveTo>
                <a:lnTo>
                  <a:pt x="0" y="311759"/>
                </a:lnTo>
              </a:path>
            </a:pathLst>
          </a:custGeom>
          <a:ln w="19049">
            <a:solidFill>
              <a:srgbClr val="000000"/>
            </a:solidFill>
          </a:ln>
        </p:spPr>
        <p:txBody>
          <a:bodyPr wrap="square" lIns="0" tIns="0" rIns="0" bIns="0" rtlCol="0"/>
          <a:lstStyle/>
          <a:p>
            <a:endParaRPr/>
          </a:p>
        </p:txBody>
      </p:sp>
      <p:sp>
        <p:nvSpPr>
          <p:cNvPr id="53" name="object 53"/>
          <p:cNvSpPr/>
          <p:nvPr/>
        </p:nvSpPr>
        <p:spPr>
          <a:xfrm>
            <a:off x="8052054" y="4312037"/>
            <a:ext cx="73660" cy="85090"/>
          </a:xfrm>
          <a:custGeom>
            <a:avLst/>
            <a:gdLst/>
            <a:ahLst/>
            <a:cxnLst/>
            <a:rect l="l" t="t" r="r" b="b"/>
            <a:pathLst>
              <a:path w="73659" h="85089">
                <a:moveTo>
                  <a:pt x="9753" y="0"/>
                </a:moveTo>
                <a:lnTo>
                  <a:pt x="0" y="84632"/>
                </a:lnTo>
                <a:lnTo>
                  <a:pt x="73558" y="41656"/>
                </a:lnTo>
                <a:lnTo>
                  <a:pt x="9753" y="0"/>
                </a:lnTo>
                <a:close/>
              </a:path>
            </a:pathLst>
          </a:custGeom>
          <a:solidFill>
            <a:srgbClr val="000000"/>
          </a:solidFill>
        </p:spPr>
        <p:txBody>
          <a:bodyPr wrap="square" lIns="0" tIns="0" rIns="0" bIns="0" rtlCol="0"/>
          <a:lstStyle/>
          <a:p>
            <a:endParaRPr/>
          </a:p>
        </p:txBody>
      </p:sp>
      <p:sp>
        <p:nvSpPr>
          <p:cNvPr id="54" name="object 54"/>
          <p:cNvSpPr/>
          <p:nvPr/>
        </p:nvSpPr>
        <p:spPr>
          <a:xfrm>
            <a:off x="8463533" y="4031741"/>
            <a:ext cx="231140" cy="314325"/>
          </a:xfrm>
          <a:custGeom>
            <a:avLst/>
            <a:gdLst/>
            <a:ahLst/>
            <a:cxnLst/>
            <a:rect l="l" t="t" r="r" b="b"/>
            <a:pathLst>
              <a:path w="231140" h="314325">
                <a:moveTo>
                  <a:pt x="0" y="0"/>
                </a:moveTo>
                <a:lnTo>
                  <a:pt x="230873" y="313778"/>
                </a:lnTo>
              </a:path>
            </a:pathLst>
          </a:custGeom>
          <a:ln w="19050">
            <a:solidFill>
              <a:srgbClr val="4EA72D"/>
            </a:solidFill>
          </a:ln>
        </p:spPr>
        <p:txBody>
          <a:bodyPr wrap="square" lIns="0" tIns="0" rIns="0" bIns="0" rtlCol="0"/>
          <a:lstStyle/>
          <a:p>
            <a:endParaRPr/>
          </a:p>
        </p:txBody>
      </p:sp>
      <p:sp>
        <p:nvSpPr>
          <p:cNvPr id="55" name="object 55"/>
          <p:cNvSpPr/>
          <p:nvPr/>
        </p:nvSpPr>
        <p:spPr>
          <a:xfrm>
            <a:off x="8656191" y="4312714"/>
            <a:ext cx="76200" cy="84455"/>
          </a:xfrm>
          <a:custGeom>
            <a:avLst/>
            <a:gdLst/>
            <a:ahLst/>
            <a:cxnLst/>
            <a:rect l="l" t="t" r="r" b="b"/>
            <a:pathLst>
              <a:path w="76200" h="84454">
                <a:moveTo>
                  <a:pt x="61379" y="0"/>
                </a:moveTo>
                <a:lnTo>
                  <a:pt x="0" y="45161"/>
                </a:lnTo>
                <a:lnTo>
                  <a:pt x="75844" y="83959"/>
                </a:lnTo>
                <a:lnTo>
                  <a:pt x="61379" y="0"/>
                </a:lnTo>
                <a:close/>
              </a:path>
            </a:pathLst>
          </a:custGeom>
          <a:solidFill>
            <a:srgbClr val="4EA72D"/>
          </a:solidFill>
        </p:spPr>
        <p:txBody>
          <a:bodyPr wrap="square" lIns="0" tIns="0" rIns="0" bIns="0" rtlCol="0"/>
          <a:lstStyle/>
          <a:p>
            <a:endParaRPr/>
          </a:p>
        </p:txBody>
      </p:sp>
      <p:sp>
        <p:nvSpPr>
          <p:cNvPr id="56" name="object 56"/>
          <p:cNvSpPr/>
          <p:nvPr/>
        </p:nvSpPr>
        <p:spPr>
          <a:xfrm>
            <a:off x="8052054" y="4574285"/>
            <a:ext cx="81915" cy="399415"/>
          </a:xfrm>
          <a:custGeom>
            <a:avLst/>
            <a:gdLst/>
            <a:ahLst/>
            <a:cxnLst/>
            <a:rect l="l" t="t" r="r" b="b"/>
            <a:pathLst>
              <a:path w="81915" h="399414">
                <a:moveTo>
                  <a:pt x="0" y="0"/>
                </a:moveTo>
                <a:lnTo>
                  <a:pt x="81838" y="399326"/>
                </a:lnTo>
              </a:path>
            </a:pathLst>
          </a:custGeom>
          <a:ln w="19050">
            <a:solidFill>
              <a:srgbClr val="000000"/>
            </a:solidFill>
          </a:ln>
        </p:spPr>
        <p:txBody>
          <a:bodyPr wrap="square" lIns="0" tIns="0" rIns="0" bIns="0" rtlCol="0"/>
          <a:lstStyle/>
          <a:p>
            <a:endParaRPr/>
          </a:p>
        </p:txBody>
      </p:sp>
      <p:sp>
        <p:nvSpPr>
          <p:cNvPr id="57" name="object 57"/>
          <p:cNvSpPr/>
          <p:nvPr/>
        </p:nvSpPr>
        <p:spPr>
          <a:xfrm>
            <a:off x="8094018" y="4953515"/>
            <a:ext cx="74930" cy="82550"/>
          </a:xfrm>
          <a:custGeom>
            <a:avLst/>
            <a:gdLst/>
            <a:ahLst/>
            <a:cxnLst/>
            <a:rect l="l" t="t" r="r" b="b"/>
            <a:pathLst>
              <a:path w="74929" h="82550">
                <a:moveTo>
                  <a:pt x="74650" y="0"/>
                </a:moveTo>
                <a:lnTo>
                  <a:pt x="0" y="15290"/>
                </a:lnTo>
                <a:lnTo>
                  <a:pt x="52616" y="82295"/>
                </a:lnTo>
                <a:lnTo>
                  <a:pt x="74650" y="0"/>
                </a:lnTo>
                <a:close/>
              </a:path>
            </a:pathLst>
          </a:custGeom>
          <a:solidFill>
            <a:srgbClr val="000000"/>
          </a:solidFill>
        </p:spPr>
        <p:txBody>
          <a:bodyPr wrap="square" lIns="0" tIns="0" rIns="0" bIns="0" rtlCol="0"/>
          <a:lstStyle/>
          <a:p>
            <a:endParaRPr/>
          </a:p>
        </p:txBody>
      </p:sp>
      <p:sp>
        <p:nvSpPr>
          <p:cNvPr id="58" name="object 58"/>
          <p:cNvSpPr/>
          <p:nvPr/>
        </p:nvSpPr>
        <p:spPr>
          <a:xfrm>
            <a:off x="7798076" y="4574285"/>
            <a:ext cx="83185" cy="405765"/>
          </a:xfrm>
          <a:custGeom>
            <a:avLst/>
            <a:gdLst/>
            <a:ahLst/>
            <a:cxnLst/>
            <a:rect l="l" t="t" r="r" b="b"/>
            <a:pathLst>
              <a:path w="83184" h="405764">
                <a:moveTo>
                  <a:pt x="82867" y="0"/>
                </a:moveTo>
                <a:lnTo>
                  <a:pt x="0" y="405320"/>
                </a:lnTo>
              </a:path>
            </a:pathLst>
          </a:custGeom>
          <a:ln w="19050">
            <a:solidFill>
              <a:srgbClr val="000000"/>
            </a:solidFill>
          </a:ln>
        </p:spPr>
        <p:txBody>
          <a:bodyPr wrap="square" lIns="0" tIns="0" rIns="0" bIns="0" rtlCol="0"/>
          <a:lstStyle/>
          <a:p>
            <a:endParaRPr/>
          </a:p>
        </p:txBody>
      </p:sp>
      <p:sp>
        <p:nvSpPr>
          <p:cNvPr id="59" name="object 59"/>
          <p:cNvSpPr/>
          <p:nvPr/>
        </p:nvSpPr>
        <p:spPr>
          <a:xfrm>
            <a:off x="7763285" y="4959527"/>
            <a:ext cx="74930" cy="82550"/>
          </a:xfrm>
          <a:custGeom>
            <a:avLst/>
            <a:gdLst/>
            <a:ahLst/>
            <a:cxnLst/>
            <a:rect l="l" t="t" r="r" b="b"/>
            <a:pathLst>
              <a:path w="74929" h="82550">
                <a:moveTo>
                  <a:pt x="0" y="0"/>
                </a:moveTo>
                <a:lnTo>
                  <a:pt x="22072" y="82283"/>
                </a:lnTo>
                <a:lnTo>
                  <a:pt x="74650" y="15265"/>
                </a:lnTo>
                <a:lnTo>
                  <a:pt x="0" y="0"/>
                </a:lnTo>
                <a:close/>
              </a:path>
            </a:pathLst>
          </a:custGeom>
          <a:solidFill>
            <a:srgbClr val="000000"/>
          </a:solidFill>
        </p:spPr>
        <p:txBody>
          <a:bodyPr wrap="square" lIns="0" tIns="0" rIns="0" bIns="0" rtlCol="0"/>
          <a:lstStyle/>
          <a:p>
            <a:endParaRPr/>
          </a:p>
        </p:txBody>
      </p:sp>
      <p:sp>
        <p:nvSpPr>
          <p:cNvPr id="60" name="object 60"/>
          <p:cNvSpPr/>
          <p:nvPr/>
        </p:nvSpPr>
        <p:spPr>
          <a:xfrm>
            <a:off x="7844790" y="4359402"/>
            <a:ext cx="243840" cy="252984"/>
          </a:xfrm>
          <a:prstGeom prst="rect">
            <a:avLst/>
          </a:prstGeom>
          <a:blipFill>
            <a:blip r:embed="rId5" cstate="print"/>
            <a:stretch>
              <a:fillRect/>
            </a:stretch>
          </a:blipFill>
        </p:spPr>
        <p:txBody>
          <a:bodyPr wrap="square" lIns="0" tIns="0" rIns="0" bIns="0" rtlCol="0"/>
          <a:lstStyle/>
          <a:p>
            <a:endParaRPr/>
          </a:p>
        </p:txBody>
      </p:sp>
      <p:sp>
        <p:nvSpPr>
          <p:cNvPr id="61" name="object 61"/>
          <p:cNvSpPr/>
          <p:nvPr/>
        </p:nvSpPr>
        <p:spPr>
          <a:xfrm>
            <a:off x="7844790" y="4359402"/>
            <a:ext cx="243840" cy="253365"/>
          </a:xfrm>
          <a:custGeom>
            <a:avLst/>
            <a:gdLst/>
            <a:ahLst/>
            <a:cxnLst/>
            <a:rect l="l" t="t" r="r" b="b"/>
            <a:pathLst>
              <a:path w="243840" h="253364">
                <a:moveTo>
                  <a:pt x="0" y="126492"/>
                </a:moveTo>
                <a:lnTo>
                  <a:pt x="9580" y="77254"/>
                </a:lnTo>
                <a:lnTo>
                  <a:pt x="35709" y="37047"/>
                </a:lnTo>
                <a:lnTo>
                  <a:pt x="74462" y="9939"/>
                </a:lnTo>
                <a:lnTo>
                  <a:pt x="121920" y="0"/>
                </a:lnTo>
                <a:lnTo>
                  <a:pt x="169377" y="9939"/>
                </a:lnTo>
                <a:lnTo>
                  <a:pt x="208130" y="37047"/>
                </a:lnTo>
                <a:lnTo>
                  <a:pt x="234259" y="77254"/>
                </a:lnTo>
                <a:lnTo>
                  <a:pt x="243840" y="126492"/>
                </a:lnTo>
                <a:lnTo>
                  <a:pt x="234259" y="175729"/>
                </a:lnTo>
                <a:lnTo>
                  <a:pt x="208130" y="215936"/>
                </a:lnTo>
                <a:lnTo>
                  <a:pt x="169377" y="243044"/>
                </a:lnTo>
                <a:lnTo>
                  <a:pt x="121920" y="252984"/>
                </a:lnTo>
                <a:lnTo>
                  <a:pt x="74462" y="243044"/>
                </a:lnTo>
                <a:lnTo>
                  <a:pt x="35709" y="215936"/>
                </a:lnTo>
                <a:lnTo>
                  <a:pt x="9580" y="175729"/>
                </a:lnTo>
                <a:lnTo>
                  <a:pt x="0" y="126492"/>
                </a:lnTo>
                <a:close/>
              </a:path>
            </a:pathLst>
          </a:custGeom>
          <a:ln w="19050">
            <a:solidFill>
              <a:srgbClr val="000000"/>
            </a:solidFill>
          </a:ln>
        </p:spPr>
        <p:txBody>
          <a:bodyPr wrap="square" lIns="0" tIns="0" rIns="0" bIns="0" rtlCol="0"/>
          <a:lstStyle/>
          <a:p>
            <a:endParaRPr/>
          </a:p>
        </p:txBody>
      </p:sp>
      <p:sp>
        <p:nvSpPr>
          <p:cNvPr id="62" name="object 62"/>
          <p:cNvSpPr/>
          <p:nvPr/>
        </p:nvSpPr>
        <p:spPr>
          <a:xfrm>
            <a:off x="7576566" y="5005578"/>
            <a:ext cx="243840" cy="251460"/>
          </a:xfrm>
          <a:prstGeom prst="rect">
            <a:avLst/>
          </a:prstGeom>
          <a:blipFill>
            <a:blip r:embed="rId5" cstate="print"/>
            <a:stretch>
              <a:fillRect/>
            </a:stretch>
          </a:blipFill>
        </p:spPr>
        <p:txBody>
          <a:bodyPr wrap="square" lIns="0" tIns="0" rIns="0" bIns="0" rtlCol="0"/>
          <a:lstStyle/>
          <a:p>
            <a:endParaRPr/>
          </a:p>
        </p:txBody>
      </p:sp>
      <p:sp>
        <p:nvSpPr>
          <p:cNvPr id="63" name="object 63"/>
          <p:cNvSpPr/>
          <p:nvPr/>
        </p:nvSpPr>
        <p:spPr>
          <a:xfrm>
            <a:off x="7576566" y="5005578"/>
            <a:ext cx="243840" cy="251460"/>
          </a:xfrm>
          <a:custGeom>
            <a:avLst/>
            <a:gdLst/>
            <a:ahLst/>
            <a:cxnLst/>
            <a:rect l="l" t="t" r="r" b="b"/>
            <a:pathLst>
              <a:path w="243840" h="251460">
                <a:moveTo>
                  <a:pt x="0" y="125730"/>
                </a:moveTo>
                <a:lnTo>
                  <a:pt x="9580" y="76788"/>
                </a:lnTo>
                <a:lnTo>
                  <a:pt x="35709" y="36823"/>
                </a:lnTo>
                <a:lnTo>
                  <a:pt x="74462" y="9879"/>
                </a:lnTo>
                <a:lnTo>
                  <a:pt x="121920" y="0"/>
                </a:lnTo>
                <a:lnTo>
                  <a:pt x="169377" y="9879"/>
                </a:lnTo>
                <a:lnTo>
                  <a:pt x="208130" y="36823"/>
                </a:lnTo>
                <a:lnTo>
                  <a:pt x="234259" y="76788"/>
                </a:lnTo>
                <a:lnTo>
                  <a:pt x="243840" y="125730"/>
                </a:lnTo>
                <a:lnTo>
                  <a:pt x="234259" y="174671"/>
                </a:lnTo>
                <a:lnTo>
                  <a:pt x="208130" y="214636"/>
                </a:lnTo>
                <a:lnTo>
                  <a:pt x="169377" y="241580"/>
                </a:lnTo>
                <a:lnTo>
                  <a:pt x="121920" y="251460"/>
                </a:lnTo>
                <a:lnTo>
                  <a:pt x="74462" y="241580"/>
                </a:lnTo>
                <a:lnTo>
                  <a:pt x="35709" y="214636"/>
                </a:lnTo>
                <a:lnTo>
                  <a:pt x="9580" y="174671"/>
                </a:lnTo>
                <a:lnTo>
                  <a:pt x="0" y="125730"/>
                </a:lnTo>
                <a:close/>
              </a:path>
            </a:pathLst>
          </a:custGeom>
          <a:ln w="19050">
            <a:solidFill>
              <a:srgbClr val="000000"/>
            </a:solidFill>
          </a:ln>
        </p:spPr>
        <p:txBody>
          <a:bodyPr wrap="square" lIns="0" tIns="0" rIns="0" bIns="0" rtlCol="0"/>
          <a:lstStyle/>
          <a:p>
            <a:endParaRPr/>
          </a:p>
        </p:txBody>
      </p:sp>
      <p:sp>
        <p:nvSpPr>
          <p:cNvPr id="64" name="object 64"/>
          <p:cNvSpPr/>
          <p:nvPr/>
        </p:nvSpPr>
        <p:spPr>
          <a:xfrm>
            <a:off x="8111490" y="4999482"/>
            <a:ext cx="243840" cy="251460"/>
          </a:xfrm>
          <a:prstGeom prst="rect">
            <a:avLst/>
          </a:prstGeom>
          <a:blipFill>
            <a:blip r:embed="rId5" cstate="print"/>
            <a:stretch>
              <a:fillRect/>
            </a:stretch>
          </a:blipFill>
        </p:spPr>
        <p:txBody>
          <a:bodyPr wrap="square" lIns="0" tIns="0" rIns="0" bIns="0" rtlCol="0"/>
          <a:lstStyle/>
          <a:p>
            <a:endParaRPr/>
          </a:p>
        </p:txBody>
      </p:sp>
      <p:sp>
        <p:nvSpPr>
          <p:cNvPr id="65" name="object 65"/>
          <p:cNvSpPr/>
          <p:nvPr/>
        </p:nvSpPr>
        <p:spPr>
          <a:xfrm>
            <a:off x="8111490" y="4999482"/>
            <a:ext cx="243840" cy="251460"/>
          </a:xfrm>
          <a:custGeom>
            <a:avLst/>
            <a:gdLst/>
            <a:ahLst/>
            <a:cxnLst/>
            <a:rect l="l" t="t" r="r" b="b"/>
            <a:pathLst>
              <a:path w="243840" h="251460">
                <a:moveTo>
                  <a:pt x="0" y="125730"/>
                </a:moveTo>
                <a:lnTo>
                  <a:pt x="9580" y="76788"/>
                </a:lnTo>
                <a:lnTo>
                  <a:pt x="35709" y="36823"/>
                </a:lnTo>
                <a:lnTo>
                  <a:pt x="74462" y="9879"/>
                </a:lnTo>
                <a:lnTo>
                  <a:pt x="121920" y="0"/>
                </a:lnTo>
                <a:lnTo>
                  <a:pt x="169377" y="9879"/>
                </a:lnTo>
                <a:lnTo>
                  <a:pt x="208130" y="36823"/>
                </a:lnTo>
                <a:lnTo>
                  <a:pt x="234259" y="76788"/>
                </a:lnTo>
                <a:lnTo>
                  <a:pt x="243840" y="125730"/>
                </a:lnTo>
                <a:lnTo>
                  <a:pt x="234259" y="174671"/>
                </a:lnTo>
                <a:lnTo>
                  <a:pt x="208130" y="214636"/>
                </a:lnTo>
                <a:lnTo>
                  <a:pt x="169377" y="241580"/>
                </a:lnTo>
                <a:lnTo>
                  <a:pt x="121920" y="251460"/>
                </a:lnTo>
                <a:lnTo>
                  <a:pt x="74462" y="241580"/>
                </a:lnTo>
                <a:lnTo>
                  <a:pt x="35709" y="214636"/>
                </a:lnTo>
                <a:lnTo>
                  <a:pt x="9580" y="174671"/>
                </a:lnTo>
                <a:lnTo>
                  <a:pt x="0" y="125730"/>
                </a:lnTo>
                <a:close/>
              </a:path>
            </a:pathLst>
          </a:custGeom>
          <a:ln w="19050">
            <a:solidFill>
              <a:srgbClr val="000000"/>
            </a:solidFill>
          </a:ln>
        </p:spPr>
        <p:txBody>
          <a:bodyPr wrap="square" lIns="0" tIns="0" rIns="0" bIns="0" rtlCol="0"/>
          <a:lstStyle/>
          <a:p>
            <a:endParaRPr/>
          </a:p>
        </p:txBody>
      </p:sp>
      <p:sp>
        <p:nvSpPr>
          <p:cNvPr id="66" name="object 66"/>
          <p:cNvSpPr/>
          <p:nvPr/>
        </p:nvSpPr>
        <p:spPr>
          <a:xfrm>
            <a:off x="8695181" y="4359402"/>
            <a:ext cx="243840" cy="252984"/>
          </a:xfrm>
          <a:prstGeom prst="rect">
            <a:avLst/>
          </a:prstGeom>
          <a:blipFill>
            <a:blip r:embed="rId2" cstate="print"/>
            <a:stretch>
              <a:fillRect/>
            </a:stretch>
          </a:blipFill>
        </p:spPr>
        <p:txBody>
          <a:bodyPr wrap="square" lIns="0" tIns="0" rIns="0" bIns="0" rtlCol="0"/>
          <a:lstStyle/>
          <a:p>
            <a:endParaRPr/>
          </a:p>
        </p:txBody>
      </p:sp>
      <p:sp>
        <p:nvSpPr>
          <p:cNvPr id="67" name="object 67"/>
          <p:cNvSpPr/>
          <p:nvPr/>
        </p:nvSpPr>
        <p:spPr>
          <a:xfrm>
            <a:off x="8695180" y="4359402"/>
            <a:ext cx="243840" cy="253365"/>
          </a:xfrm>
          <a:custGeom>
            <a:avLst/>
            <a:gdLst/>
            <a:ahLst/>
            <a:cxnLst/>
            <a:rect l="l" t="t" r="r" b="b"/>
            <a:pathLst>
              <a:path w="243840" h="253364">
                <a:moveTo>
                  <a:pt x="0" y="126492"/>
                </a:moveTo>
                <a:lnTo>
                  <a:pt x="9580" y="77254"/>
                </a:lnTo>
                <a:lnTo>
                  <a:pt x="35709" y="37047"/>
                </a:lnTo>
                <a:lnTo>
                  <a:pt x="74462" y="9939"/>
                </a:lnTo>
                <a:lnTo>
                  <a:pt x="121920" y="0"/>
                </a:lnTo>
                <a:lnTo>
                  <a:pt x="169377" y="9939"/>
                </a:lnTo>
                <a:lnTo>
                  <a:pt x="208130" y="37047"/>
                </a:lnTo>
                <a:lnTo>
                  <a:pt x="234259" y="77254"/>
                </a:lnTo>
                <a:lnTo>
                  <a:pt x="243840" y="126492"/>
                </a:lnTo>
                <a:lnTo>
                  <a:pt x="234259" y="175729"/>
                </a:lnTo>
                <a:lnTo>
                  <a:pt x="208130" y="215936"/>
                </a:lnTo>
                <a:lnTo>
                  <a:pt x="169377" y="243044"/>
                </a:lnTo>
                <a:lnTo>
                  <a:pt x="121920" y="252984"/>
                </a:lnTo>
                <a:lnTo>
                  <a:pt x="74462" y="243044"/>
                </a:lnTo>
                <a:lnTo>
                  <a:pt x="35709" y="215936"/>
                </a:lnTo>
                <a:lnTo>
                  <a:pt x="9580" y="175729"/>
                </a:lnTo>
                <a:lnTo>
                  <a:pt x="0" y="126492"/>
                </a:lnTo>
                <a:close/>
              </a:path>
            </a:pathLst>
          </a:custGeom>
          <a:ln w="19050">
            <a:solidFill>
              <a:srgbClr val="4EA72D"/>
            </a:solidFill>
          </a:ln>
        </p:spPr>
        <p:txBody>
          <a:bodyPr wrap="square" lIns="0" tIns="0" rIns="0" bIns="0" rtlCol="0"/>
          <a:lstStyle/>
          <a:p>
            <a:endParaRPr/>
          </a:p>
        </p:txBody>
      </p:sp>
      <p:sp>
        <p:nvSpPr>
          <p:cNvPr id="68" name="object 68"/>
          <p:cNvSpPr/>
          <p:nvPr/>
        </p:nvSpPr>
        <p:spPr>
          <a:xfrm>
            <a:off x="8903969" y="4574285"/>
            <a:ext cx="146685" cy="349250"/>
          </a:xfrm>
          <a:custGeom>
            <a:avLst/>
            <a:gdLst/>
            <a:ahLst/>
            <a:cxnLst/>
            <a:rect l="l" t="t" r="r" b="b"/>
            <a:pathLst>
              <a:path w="146684" h="349250">
                <a:moveTo>
                  <a:pt x="0" y="0"/>
                </a:moveTo>
                <a:lnTo>
                  <a:pt x="146685" y="349097"/>
                </a:lnTo>
              </a:path>
            </a:pathLst>
          </a:custGeom>
          <a:ln w="19050">
            <a:solidFill>
              <a:srgbClr val="4EA72D"/>
            </a:solidFill>
          </a:ln>
        </p:spPr>
        <p:txBody>
          <a:bodyPr wrap="square" lIns="0" tIns="0" rIns="0" bIns="0" rtlCol="0"/>
          <a:lstStyle/>
          <a:p>
            <a:endParaRPr/>
          </a:p>
        </p:txBody>
      </p:sp>
      <p:sp>
        <p:nvSpPr>
          <p:cNvPr id="69" name="object 69"/>
          <p:cNvSpPr/>
          <p:nvPr/>
        </p:nvSpPr>
        <p:spPr>
          <a:xfrm>
            <a:off x="9010608" y="4896909"/>
            <a:ext cx="271313" cy="300692"/>
          </a:xfrm>
          <a:prstGeom prst="rect">
            <a:avLst/>
          </a:prstGeom>
          <a:blipFill>
            <a:blip r:embed="rId11" cstate="print"/>
            <a:stretch>
              <a:fillRect/>
            </a:stretch>
          </a:blipFill>
        </p:spPr>
        <p:txBody>
          <a:bodyPr wrap="square" lIns="0" tIns="0" rIns="0" bIns="0" rtlCol="0"/>
          <a:lstStyle/>
          <a:p>
            <a:endParaRPr/>
          </a:p>
        </p:txBody>
      </p:sp>
      <p:sp>
        <p:nvSpPr>
          <p:cNvPr id="70" name="object 70"/>
          <p:cNvSpPr/>
          <p:nvPr/>
        </p:nvSpPr>
        <p:spPr>
          <a:xfrm>
            <a:off x="9039606" y="4946141"/>
            <a:ext cx="242570" cy="251460"/>
          </a:xfrm>
          <a:custGeom>
            <a:avLst/>
            <a:gdLst/>
            <a:ahLst/>
            <a:cxnLst/>
            <a:rect l="l" t="t" r="r" b="b"/>
            <a:pathLst>
              <a:path w="242570" h="251460">
                <a:moveTo>
                  <a:pt x="0" y="125729"/>
                </a:moveTo>
                <a:lnTo>
                  <a:pt x="9520" y="76788"/>
                </a:lnTo>
                <a:lnTo>
                  <a:pt x="35485" y="36823"/>
                </a:lnTo>
                <a:lnTo>
                  <a:pt x="73996" y="9879"/>
                </a:lnTo>
                <a:lnTo>
                  <a:pt x="121157" y="0"/>
                </a:lnTo>
                <a:lnTo>
                  <a:pt x="168319" y="9879"/>
                </a:lnTo>
                <a:lnTo>
                  <a:pt x="206830" y="36823"/>
                </a:lnTo>
                <a:lnTo>
                  <a:pt x="232795" y="76788"/>
                </a:lnTo>
                <a:lnTo>
                  <a:pt x="242315" y="125729"/>
                </a:lnTo>
                <a:lnTo>
                  <a:pt x="232795" y="174671"/>
                </a:lnTo>
                <a:lnTo>
                  <a:pt x="206830" y="214636"/>
                </a:lnTo>
                <a:lnTo>
                  <a:pt x="168319" y="241580"/>
                </a:lnTo>
                <a:lnTo>
                  <a:pt x="121157" y="251459"/>
                </a:lnTo>
                <a:lnTo>
                  <a:pt x="73996" y="241580"/>
                </a:lnTo>
                <a:lnTo>
                  <a:pt x="35485" y="214636"/>
                </a:lnTo>
                <a:lnTo>
                  <a:pt x="9520" y="174671"/>
                </a:lnTo>
                <a:lnTo>
                  <a:pt x="0" y="125729"/>
                </a:lnTo>
                <a:close/>
              </a:path>
            </a:pathLst>
          </a:custGeom>
          <a:ln w="19049">
            <a:solidFill>
              <a:srgbClr val="C04F14"/>
            </a:solidFill>
          </a:ln>
        </p:spPr>
        <p:txBody>
          <a:bodyPr wrap="square" lIns="0" tIns="0" rIns="0" bIns="0" rtlCol="0"/>
          <a:lstStyle/>
          <a:p>
            <a:endParaRPr/>
          </a:p>
        </p:txBody>
      </p:sp>
      <p:sp>
        <p:nvSpPr>
          <p:cNvPr id="71" name="object 71"/>
          <p:cNvSpPr/>
          <p:nvPr/>
        </p:nvSpPr>
        <p:spPr>
          <a:xfrm>
            <a:off x="8626051" y="4574285"/>
            <a:ext cx="106045" cy="363855"/>
          </a:xfrm>
          <a:custGeom>
            <a:avLst/>
            <a:gdLst/>
            <a:ahLst/>
            <a:cxnLst/>
            <a:rect l="l" t="t" r="r" b="b"/>
            <a:pathLst>
              <a:path w="106045" h="363854">
                <a:moveTo>
                  <a:pt x="105778" y="0"/>
                </a:moveTo>
                <a:lnTo>
                  <a:pt x="0" y="363626"/>
                </a:lnTo>
              </a:path>
            </a:pathLst>
          </a:custGeom>
          <a:ln w="19050">
            <a:solidFill>
              <a:srgbClr val="000000"/>
            </a:solidFill>
          </a:ln>
        </p:spPr>
        <p:txBody>
          <a:bodyPr wrap="square" lIns="0" tIns="0" rIns="0" bIns="0" rtlCol="0"/>
          <a:lstStyle/>
          <a:p>
            <a:endParaRPr/>
          </a:p>
        </p:txBody>
      </p:sp>
      <p:sp>
        <p:nvSpPr>
          <p:cNvPr id="72" name="object 72"/>
          <p:cNvSpPr/>
          <p:nvPr/>
        </p:nvSpPr>
        <p:spPr>
          <a:xfrm>
            <a:off x="8486393" y="4915071"/>
            <a:ext cx="243840" cy="335870"/>
          </a:xfrm>
          <a:prstGeom prst="rect">
            <a:avLst/>
          </a:prstGeom>
          <a:blipFill>
            <a:blip r:embed="rId12" cstate="print"/>
            <a:stretch>
              <a:fillRect/>
            </a:stretch>
          </a:blipFill>
        </p:spPr>
        <p:txBody>
          <a:bodyPr wrap="square" lIns="0" tIns="0" rIns="0" bIns="0" rtlCol="0"/>
          <a:lstStyle/>
          <a:p>
            <a:endParaRPr/>
          </a:p>
        </p:txBody>
      </p:sp>
      <p:sp>
        <p:nvSpPr>
          <p:cNvPr id="73" name="object 73"/>
          <p:cNvSpPr/>
          <p:nvPr/>
        </p:nvSpPr>
        <p:spPr>
          <a:xfrm>
            <a:off x="8486392" y="4999482"/>
            <a:ext cx="243840" cy="251460"/>
          </a:xfrm>
          <a:custGeom>
            <a:avLst/>
            <a:gdLst/>
            <a:ahLst/>
            <a:cxnLst/>
            <a:rect l="l" t="t" r="r" b="b"/>
            <a:pathLst>
              <a:path w="243840" h="251460">
                <a:moveTo>
                  <a:pt x="0" y="125730"/>
                </a:moveTo>
                <a:lnTo>
                  <a:pt x="9580" y="76788"/>
                </a:lnTo>
                <a:lnTo>
                  <a:pt x="35709" y="36823"/>
                </a:lnTo>
                <a:lnTo>
                  <a:pt x="74462" y="9879"/>
                </a:lnTo>
                <a:lnTo>
                  <a:pt x="121920" y="0"/>
                </a:lnTo>
                <a:lnTo>
                  <a:pt x="169377" y="9879"/>
                </a:lnTo>
                <a:lnTo>
                  <a:pt x="208130" y="36823"/>
                </a:lnTo>
                <a:lnTo>
                  <a:pt x="234259" y="76788"/>
                </a:lnTo>
                <a:lnTo>
                  <a:pt x="243840" y="125730"/>
                </a:lnTo>
                <a:lnTo>
                  <a:pt x="234259" y="174671"/>
                </a:lnTo>
                <a:lnTo>
                  <a:pt x="208130" y="214636"/>
                </a:lnTo>
                <a:lnTo>
                  <a:pt x="169377" y="241580"/>
                </a:lnTo>
                <a:lnTo>
                  <a:pt x="121920" y="251460"/>
                </a:lnTo>
                <a:lnTo>
                  <a:pt x="74462" y="241580"/>
                </a:lnTo>
                <a:lnTo>
                  <a:pt x="35709" y="214636"/>
                </a:lnTo>
                <a:lnTo>
                  <a:pt x="9580" y="174671"/>
                </a:lnTo>
                <a:lnTo>
                  <a:pt x="0" y="125730"/>
                </a:lnTo>
                <a:close/>
              </a:path>
            </a:pathLst>
          </a:custGeom>
          <a:ln w="19050">
            <a:solidFill>
              <a:srgbClr val="042333"/>
            </a:solidFill>
          </a:ln>
        </p:spPr>
        <p:txBody>
          <a:bodyPr wrap="square" lIns="0" tIns="0" rIns="0" bIns="0" rtlCol="0"/>
          <a:lstStyle/>
          <a:p>
            <a:endParaRPr/>
          </a:p>
        </p:txBody>
      </p:sp>
      <p:sp>
        <p:nvSpPr>
          <p:cNvPr id="74" name="object 74"/>
          <p:cNvSpPr txBox="1"/>
          <p:nvPr/>
        </p:nvSpPr>
        <p:spPr>
          <a:xfrm>
            <a:off x="8882162" y="5386904"/>
            <a:ext cx="66738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Arial"/>
                <a:cs typeface="Arial"/>
              </a:rPr>
              <a:t>Giải</a:t>
            </a:r>
            <a:r>
              <a:rPr sz="1800" spc="-215" dirty="0">
                <a:latin typeface="Arial"/>
                <a:cs typeface="Arial"/>
              </a:rPr>
              <a:t> </a:t>
            </a:r>
            <a:r>
              <a:rPr sz="1800" spc="-5" dirty="0">
                <a:latin typeface="Arial"/>
                <a:cs typeface="Arial"/>
              </a:rPr>
              <a:t>trí</a:t>
            </a:r>
            <a:endParaRPr sz="1800">
              <a:latin typeface="Arial"/>
              <a:cs typeface="Arial"/>
            </a:endParaRPr>
          </a:p>
        </p:txBody>
      </p:sp>
      <p:sp>
        <p:nvSpPr>
          <p:cNvPr id="75" name="object 75"/>
          <p:cNvSpPr/>
          <p:nvPr/>
        </p:nvSpPr>
        <p:spPr>
          <a:xfrm>
            <a:off x="10655045" y="3894582"/>
            <a:ext cx="242316" cy="251460"/>
          </a:xfrm>
          <a:prstGeom prst="rect">
            <a:avLst/>
          </a:prstGeom>
          <a:blipFill>
            <a:blip r:embed="rId2" cstate="print"/>
            <a:stretch>
              <a:fillRect/>
            </a:stretch>
          </a:blipFill>
        </p:spPr>
        <p:txBody>
          <a:bodyPr wrap="square" lIns="0" tIns="0" rIns="0" bIns="0" rtlCol="0"/>
          <a:lstStyle/>
          <a:p>
            <a:endParaRPr/>
          </a:p>
        </p:txBody>
      </p:sp>
      <p:sp>
        <p:nvSpPr>
          <p:cNvPr id="76" name="object 76"/>
          <p:cNvSpPr/>
          <p:nvPr/>
        </p:nvSpPr>
        <p:spPr>
          <a:xfrm>
            <a:off x="10655044" y="3894582"/>
            <a:ext cx="242570" cy="251460"/>
          </a:xfrm>
          <a:custGeom>
            <a:avLst/>
            <a:gdLst/>
            <a:ahLst/>
            <a:cxnLst/>
            <a:rect l="l" t="t" r="r" b="b"/>
            <a:pathLst>
              <a:path w="242570" h="251460">
                <a:moveTo>
                  <a:pt x="0" y="125730"/>
                </a:moveTo>
                <a:lnTo>
                  <a:pt x="9520" y="76788"/>
                </a:lnTo>
                <a:lnTo>
                  <a:pt x="35485" y="36823"/>
                </a:lnTo>
                <a:lnTo>
                  <a:pt x="73996" y="9879"/>
                </a:lnTo>
                <a:lnTo>
                  <a:pt x="121157" y="0"/>
                </a:lnTo>
                <a:lnTo>
                  <a:pt x="168319" y="9879"/>
                </a:lnTo>
                <a:lnTo>
                  <a:pt x="206830" y="36823"/>
                </a:lnTo>
                <a:lnTo>
                  <a:pt x="232795" y="76788"/>
                </a:lnTo>
                <a:lnTo>
                  <a:pt x="242315" y="125730"/>
                </a:lnTo>
                <a:lnTo>
                  <a:pt x="232795" y="174671"/>
                </a:lnTo>
                <a:lnTo>
                  <a:pt x="206830" y="214636"/>
                </a:lnTo>
                <a:lnTo>
                  <a:pt x="168319" y="241580"/>
                </a:lnTo>
                <a:lnTo>
                  <a:pt x="121157" y="251460"/>
                </a:lnTo>
                <a:lnTo>
                  <a:pt x="73996" y="241580"/>
                </a:lnTo>
                <a:lnTo>
                  <a:pt x="35485" y="214636"/>
                </a:lnTo>
                <a:lnTo>
                  <a:pt x="9520" y="174671"/>
                </a:lnTo>
                <a:lnTo>
                  <a:pt x="0" y="125730"/>
                </a:lnTo>
                <a:close/>
              </a:path>
            </a:pathLst>
          </a:custGeom>
          <a:ln w="19049">
            <a:solidFill>
              <a:srgbClr val="4EA72D"/>
            </a:solidFill>
          </a:ln>
        </p:spPr>
        <p:txBody>
          <a:bodyPr wrap="square" lIns="0" tIns="0" rIns="0" bIns="0" rtlCol="0"/>
          <a:lstStyle/>
          <a:p>
            <a:endParaRPr/>
          </a:p>
        </p:txBody>
      </p:sp>
      <p:sp>
        <p:nvSpPr>
          <p:cNvPr id="77" name="object 77"/>
          <p:cNvSpPr/>
          <p:nvPr/>
        </p:nvSpPr>
        <p:spPr>
          <a:xfrm>
            <a:off x="10535885" y="4109465"/>
            <a:ext cx="153670" cy="325120"/>
          </a:xfrm>
          <a:custGeom>
            <a:avLst/>
            <a:gdLst/>
            <a:ahLst/>
            <a:cxnLst/>
            <a:rect l="l" t="t" r="r" b="b"/>
            <a:pathLst>
              <a:path w="153670" h="325120">
                <a:moveTo>
                  <a:pt x="153479" y="0"/>
                </a:moveTo>
                <a:lnTo>
                  <a:pt x="0" y="324586"/>
                </a:lnTo>
              </a:path>
            </a:pathLst>
          </a:custGeom>
          <a:ln w="19050">
            <a:solidFill>
              <a:srgbClr val="000000"/>
            </a:solidFill>
          </a:ln>
        </p:spPr>
        <p:txBody>
          <a:bodyPr wrap="square" lIns="0" tIns="0" rIns="0" bIns="0" rtlCol="0"/>
          <a:lstStyle/>
          <a:p>
            <a:endParaRPr/>
          </a:p>
        </p:txBody>
      </p:sp>
      <p:sp>
        <p:nvSpPr>
          <p:cNvPr id="78" name="object 78"/>
          <p:cNvSpPr/>
          <p:nvPr/>
        </p:nvSpPr>
        <p:spPr>
          <a:xfrm>
            <a:off x="10506867" y="4406285"/>
            <a:ext cx="69215" cy="85725"/>
          </a:xfrm>
          <a:custGeom>
            <a:avLst/>
            <a:gdLst/>
            <a:ahLst/>
            <a:cxnLst/>
            <a:rect l="l" t="t" r="r" b="b"/>
            <a:pathLst>
              <a:path w="69215" h="85725">
                <a:moveTo>
                  <a:pt x="0" y="0"/>
                </a:moveTo>
                <a:lnTo>
                  <a:pt x="1879" y="85178"/>
                </a:lnTo>
                <a:lnTo>
                  <a:pt x="68884" y="32575"/>
                </a:lnTo>
                <a:lnTo>
                  <a:pt x="0" y="0"/>
                </a:lnTo>
                <a:close/>
              </a:path>
            </a:pathLst>
          </a:custGeom>
          <a:solidFill>
            <a:srgbClr val="000000"/>
          </a:solidFill>
        </p:spPr>
        <p:txBody>
          <a:bodyPr wrap="square" lIns="0" tIns="0" rIns="0" bIns="0" rtlCol="0"/>
          <a:lstStyle/>
          <a:p>
            <a:endParaRPr/>
          </a:p>
        </p:txBody>
      </p:sp>
      <p:sp>
        <p:nvSpPr>
          <p:cNvPr id="79" name="object 79"/>
          <p:cNvSpPr/>
          <p:nvPr/>
        </p:nvSpPr>
        <p:spPr>
          <a:xfrm>
            <a:off x="10862309" y="4109465"/>
            <a:ext cx="175895" cy="345440"/>
          </a:xfrm>
          <a:custGeom>
            <a:avLst/>
            <a:gdLst/>
            <a:ahLst/>
            <a:cxnLst/>
            <a:rect l="l" t="t" r="r" b="b"/>
            <a:pathLst>
              <a:path w="175895" h="345439">
                <a:moveTo>
                  <a:pt x="0" y="0"/>
                </a:moveTo>
                <a:lnTo>
                  <a:pt x="175691" y="345389"/>
                </a:lnTo>
              </a:path>
            </a:pathLst>
          </a:custGeom>
          <a:ln w="19050">
            <a:solidFill>
              <a:srgbClr val="4EA72D"/>
            </a:solidFill>
          </a:ln>
        </p:spPr>
        <p:txBody>
          <a:bodyPr wrap="square" lIns="0" tIns="0" rIns="0" bIns="0" rtlCol="0"/>
          <a:lstStyle/>
          <a:p>
            <a:endParaRPr/>
          </a:p>
        </p:txBody>
      </p:sp>
      <p:sp>
        <p:nvSpPr>
          <p:cNvPr id="80" name="object 80"/>
          <p:cNvSpPr/>
          <p:nvPr/>
        </p:nvSpPr>
        <p:spPr>
          <a:xfrm>
            <a:off x="10998287" y="4426263"/>
            <a:ext cx="68580" cy="85725"/>
          </a:xfrm>
          <a:custGeom>
            <a:avLst/>
            <a:gdLst/>
            <a:ahLst/>
            <a:cxnLst/>
            <a:rect l="l" t="t" r="r" b="b"/>
            <a:pathLst>
              <a:path w="68579" h="85725">
                <a:moveTo>
                  <a:pt x="67919" y="0"/>
                </a:moveTo>
                <a:lnTo>
                  <a:pt x="0" y="34544"/>
                </a:lnTo>
                <a:lnTo>
                  <a:pt x="68503" y="85191"/>
                </a:lnTo>
                <a:lnTo>
                  <a:pt x="67919" y="0"/>
                </a:lnTo>
                <a:close/>
              </a:path>
            </a:pathLst>
          </a:custGeom>
          <a:solidFill>
            <a:srgbClr val="4EA72D"/>
          </a:solidFill>
        </p:spPr>
        <p:txBody>
          <a:bodyPr wrap="square" lIns="0" tIns="0" rIns="0" bIns="0" rtlCol="0"/>
          <a:lstStyle/>
          <a:p>
            <a:endParaRPr/>
          </a:p>
        </p:txBody>
      </p:sp>
      <p:sp>
        <p:nvSpPr>
          <p:cNvPr id="81" name="object 81"/>
          <p:cNvSpPr/>
          <p:nvPr/>
        </p:nvSpPr>
        <p:spPr>
          <a:xfrm>
            <a:off x="10301478" y="4455414"/>
            <a:ext cx="243840" cy="251460"/>
          </a:xfrm>
          <a:prstGeom prst="rect">
            <a:avLst/>
          </a:prstGeom>
          <a:blipFill>
            <a:blip r:embed="rId13" cstate="print"/>
            <a:stretch>
              <a:fillRect/>
            </a:stretch>
          </a:blipFill>
        </p:spPr>
        <p:txBody>
          <a:bodyPr wrap="square" lIns="0" tIns="0" rIns="0" bIns="0" rtlCol="0"/>
          <a:lstStyle/>
          <a:p>
            <a:endParaRPr/>
          </a:p>
        </p:txBody>
      </p:sp>
      <p:sp>
        <p:nvSpPr>
          <p:cNvPr id="82" name="object 82"/>
          <p:cNvSpPr/>
          <p:nvPr/>
        </p:nvSpPr>
        <p:spPr>
          <a:xfrm>
            <a:off x="10301478" y="4455414"/>
            <a:ext cx="243840" cy="251460"/>
          </a:xfrm>
          <a:custGeom>
            <a:avLst/>
            <a:gdLst/>
            <a:ahLst/>
            <a:cxnLst/>
            <a:rect l="l" t="t" r="r" b="b"/>
            <a:pathLst>
              <a:path w="243840" h="251460">
                <a:moveTo>
                  <a:pt x="0" y="125730"/>
                </a:moveTo>
                <a:lnTo>
                  <a:pt x="9580" y="76788"/>
                </a:lnTo>
                <a:lnTo>
                  <a:pt x="35709" y="36823"/>
                </a:lnTo>
                <a:lnTo>
                  <a:pt x="74462" y="9879"/>
                </a:lnTo>
                <a:lnTo>
                  <a:pt x="121920" y="0"/>
                </a:lnTo>
                <a:lnTo>
                  <a:pt x="169377" y="9879"/>
                </a:lnTo>
                <a:lnTo>
                  <a:pt x="208130" y="36823"/>
                </a:lnTo>
                <a:lnTo>
                  <a:pt x="234259" y="76788"/>
                </a:lnTo>
                <a:lnTo>
                  <a:pt x="243840" y="125730"/>
                </a:lnTo>
                <a:lnTo>
                  <a:pt x="234259" y="174671"/>
                </a:lnTo>
                <a:lnTo>
                  <a:pt x="208130" y="214636"/>
                </a:lnTo>
                <a:lnTo>
                  <a:pt x="169377" y="241580"/>
                </a:lnTo>
                <a:lnTo>
                  <a:pt x="121920" y="251460"/>
                </a:lnTo>
                <a:lnTo>
                  <a:pt x="74462" y="241580"/>
                </a:lnTo>
                <a:lnTo>
                  <a:pt x="35709" y="214636"/>
                </a:lnTo>
                <a:lnTo>
                  <a:pt x="9580" y="174671"/>
                </a:lnTo>
                <a:lnTo>
                  <a:pt x="0" y="125730"/>
                </a:lnTo>
                <a:close/>
              </a:path>
            </a:pathLst>
          </a:custGeom>
          <a:ln w="19050">
            <a:solidFill>
              <a:srgbClr val="000000"/>
            </a:solidFill>
          </a:ln>
        </p:spPr>
        <p:txBody>
          <a:bodyPr wrap="square" lIns="0" tIns="0" rIns="0" bIns="0" rtlCol="0"/>
          <a:lstStyle/>
          <a:p>
            <a:endParaRPr/>
          </a:p>
        </p:txBody>
      </p:sp>
      <p:sp>
        <p:nvSpPr>
          <p:cNvPr id="83" name="object 83"/>
          <p:cNvSpPr/>
          <p:nvPr/>
        </p:nvSpPr>
        <p:spPr>
          <a:xfrm>
            <a:off x="11031473" y="4475226"/>
            <a:ext cx="242316" cy="251460"/>
          </a:xfrm>
          <a:prstGeom prst="rect">
            <a:avLst/>
          </a:prstGeom>
          <a:blipFill>
            <a:blip r:embed="rId14" cstate="print"/>
            <a:stretch>
              <a:fillRect/>
            </a:stretch>
          </a:blipFill>
        </p:spPr>
        <p:txBody>
          <a:bodyPr wrap="square" lIns="0" tIns="0" rIns="0" bIns="0" rtlCol="0"/>
          <a:lstStyle/>
          <a:p>
            <a:endParaRPr/>
          </a:p>
        </p:txBody>
      </p:sp>
      <p:sp>
        <p:nvSpPr>
          <p:cNvPr id="84" name="object 84"/>
          <p:cNvSpPr/>
          <p:nvPr/>
        </p:nvSpPr>
        <p:spPr>
          <a:xfrm>
            <a:off x="11031473" y="4475226"/>
            <a:ext cx="242570" cy="251460"/>
          </a:xfrm>
          <a:custGeom>
            <a:avLst/>
            <a:gdLst/>
            <a:ahLst/>
            <a:cxnLst/>
            <a:rect l="l" t="t" r="r" b="b"/>
            <a:pathLst>
              <a:path w="242570" h="251460">
                <a:moveTo>
                  <a:pt x="0" y="125730"/>
                </a:moveTo>
                <a:lnTo>
                  <a:pt x="9520" y="76788"/>
                </a:lnTo>
                <a:lnTo>
                  <a:pt x="35485" y="36823"/>
                </a:lnTo>
                <a:lnTo>
                  <a:pt x="73996" y="9879"/>
                </a:lnTo>
                <a:lnTo>
                  <a:pt x="121157" y="0"/>
                </a:lnTo>
                <a:lnTo>
                  <a:pt x="168319" y="9879"/>
                </a:lnTo>
                <a:lnTo>
                  <a:pt x="206830" y="36823"/>
                </a:lnTo>
                <a:lnTo>
                  <a:pt x="232795" y="76788"/>
                </a:lnTo>
                <a:lnTo>
                  <a:pt x="242315" y="125730"/>
                </a:lnTo>
                <a:lnTo>
                  <a:pt x="232795" y="174671"/>
                </a:lnTo>
                <a:lnTo>
                  <a:pt x="206830" y="214636"/>
                </a:lnTo>
                <a:lnTo>
                  <a:pt x="168319" y="241580"/>
                </a:lnTo>
                <a:lnTo>
                  <a:pt x="121157" y="251460"/>
                </a:lnTo>
                <a:lnTo>
                  <a:pt x="73996" y="241580"/>
                </a:lnTo>
                <a:lnTo>
                  <a:pt x="35485" y="214636"/>
                </a:lnTo>
                <a:lnTo>
                  <a:pt x="9520" y="174671"/>
                </a:lnTo>
                <a:lnTo>
                  <a:pt x="0" y="125730"/>
                </a:lnTo>
                <a:close/>
              </a:path>
            </a:pathLst>
          </a:custGeom>
          <a:ln w="19049">
            <a:solidFill>
              <a:srgbClr val="4EA72D"/>
            </a:solidFill>
          </a:ln>
        </p:spPr>
        <p:txBody>
          <a:bodyPr wrap="square" lIns="0" tIns="0" rIns="0" bIns="0" rtlCol="0"/>
          <a:lstStyle/>
          <a:p>
            <a:endParaRPr/>
          </a:p>
        </p:txBody>
      </p:sp>
      <p:sp>
        <p:nvSpPr>
          <p:cNvPr id="85" name="object 85"/>
          <p:cNvSpPr/>
          <p:nvPr/>
        </p:nvSpPr>
        <p:spPr>
          <a:xfrm>
            <a:off x="11238738" y="4690109"/>
            <a:ext cx="175260" cy="389890"/>
          </a:xfrm>
          <a:custGeom>
            <a:avLst/>
            <a:gdLst/>
            <a:ahLst/>
            <a:cxnLst/>
            <a:rect l="l" t="t" r="r" b="b"/>
            <a:pathLst>
              <a:path w="175259" h="389889">
                <a:moveTo>
                  <a:pt x="0" y="0"/>
                </a:moveTo>
                <a:lnTo>
                  <a:pt x="174663" y="389661"/>
                </a:lnTo>
              </a:path>
            </a:pathLst>
          </a:custGeom>
          <a:ln w="19049">
            <a:solidFill>
              <a:srgbClr val="000000"/>
            </a:solidFill>
          </a:ln>
        </p:spPr>
        <p:txBody>
          <a:bodyPr wrap="square" lIns="0" tIns="0" rIns="0" bIns="0" rtlCol="0"/>
          <a:lstStyle/>
          <a:p>
            <a:endParaRPr/>
          </a:p>
        </p:txBody>
      </p:sp>
      <p:sp>
        <p:nvSpPr>
          <p:cNvPr id="86" name="object 86"/>
          <p:cNvSpPr/>
          <p:nvPr/>
        </p:nvSpPr>
        <p:spPr>
          <a:xfrm>
            <a:off x="11373445" y="5052591"/>
            <a:ext cx="273724" cy="300457"/>
          </a:xfrm>
          <a:prstGeom prst="rect">
            <a:avLst/>
          </a:prstGeom>
          <a:blipFill>
            <a:blip r:embed="rId15" cstate="print"/>
            <a:stretch>
              <a:fillRect/>
            </a:stretch>
          </a:blipFill>
        </p:spPr>
        <p:txBody>
          <a:bodyPr wrap="square" lIns="0" tIns="0" rIns="0" bIns="0" rtlCol="0"/>
          <a:lstStyle/>
          <a:p>
            <a:endParaRPr/>
          </a:p>
        </p:txBody>
      </p:sp>
      <p:sp>
        <p:nvSpPr>
          <p:cNvPr id="87" name="object 87"/>
          <p:cNvSpPr/>
          <p:nvPr/>
        </p:nvSpPr>
        <p:spPr>
          <a:xfrm>
            <a:off x="11403330" y="5100065"/>
            <a:ext cx="243840" cy="253365"/>
          </a:xfrm>
          <a:custGeom>
            <a:avLst/>
            <a:gdLst/>
            <a:ahLst/>
            <a:cxnLst/>
            <a:rect l="l" t="t" r="r" b="b"/>
            <a:pathLst>
              <a:path w="243840" h="253364">
                <a:moveTo>
                  <a:pt x="0" y="126492"/>
                </a:moveTo>
                <a:lnTo>
                  <a:pt x="9580" y="77254"/>
                </a:lnTo>
                <a:lnTo>
                  <a:pt x="35709" y="37047"/>
                </a:lnTo>
                <a:lnTo>
                  <a:pt x="74462" y="9939"/>
                </a:lnTo>
                <a:lnTo>
                  <a:pt x="121920" y="0"/>
                </a:lnTo>
                <a:lnTo>
                  <a:pt x="169377" y="9939"/>
                </a:lnTo>
                <a:lnTo>
                  <a:pt x="208130" y="37047"/>
                </a:lnTo>
                <a:lnTo>
                  <a:pt x="234259" y="77254"/>
                </a:lnTo>
                <a:lnTo>
                  <a:pt x="243840" y="126492"/>
                </a:lnTo>
                <a:lnTo>
                  <a:pt x="234259" y="175729"/>
                </a:lnTo>
                <a:lnTo>
                  <a:pt x="208130" y="215936"/>
                </a:lnTo>
                <a:lnTo>
                  <a:pt x="169377" y="243044"/>
                </a:lnTo>
                <a:lnTo>
                  <a:pt x="121920" y="252984"/>
                </a:lnTo>
                <a:lnTo>
                  <a:pt x="74462" y="243044"/>
                </a:lnTo>
                <a:lnTo>
                  <a:pt x="35709" y="215936"/>
                </a:lnTo>
                <a:lnTo>
                  <a:pt x="9580" y="175729"/>
                </a:lnTo>
                <a:lnTo>
                  <a:pt x="0" y="126492"/>
                </a:lnTo>
                <a:close/>
              </a:path>
            </a:pathLst>
          </a:custGeom>
          <a:ln w="19050">
            <a:solidFill>
              <a:srgbClr val="000000"/>
            </a:solidFill>
          </a:ln>
        </p:spPr>
        <p:txBody>
          <a:bodyPr wrap="square" lIns="0" tIns="0" rIns="0" bIns="0" rtlCol="0"/>
          <a:lstStyle/>
          <a:p>
            <a:endParaRPr/>
          </a:p>
        </p:txBody>
      </p:sp>
      <p:sp>
        <p:nvSpPr>
          <p:cNvPr id="88" name="object 88"/>
          <p:cNvSpPr/>
          <p:nvPr/>
        </p:nvSpPr>
        <p:spPr>
          <a:xfrm>
            <a:off x="10946898" y="4690109"/>
            <a:ext cx="120014" cy="322580"/>
          </a:xfrm>
          <a:custGeom>
            <a:avLst/>
            <a:gdLst/>
            <a:ahLst/>
            <a:cxnLst/>
            <a:rect l="l" t="t" r="r" b="b"/>
            <a:pathLst>
              <a:path w="120015" h="322579">
                <a:moveTo>
                  <a:pt x="119621" y="0"/>
                </a:moveTo>
                <a:lnTo>
                  <a:pt x="0" y="322033"/>
                </a:lnTo>
              </a:path>
            </a:pathLst>
          </a:custGeom>
          <a:ln w="19049">
            <a:solidFill>
              <a:srgbClr val="4EA72D"/>
            </a:solidFill>
          </a:ln>
        </p:spPr>
        <p:txBody>
          <a:bodyPr wrap="square" lIns="0" tIns="0" rIns="0" bIns="0" rtlCol="0"/>
          <a:lstStyle/>
          <a:p>
            <a:endParaRPr/>
          </a:p>
        </p:txBody>
      </p:sp>
      <p:sp>
        <p:nvSpPr>
          <p:cNvPr id="89" name="object 89"/>
          <p:cNvSpPr/>
          <p:nvPr/>
        </p:nvSpPr>
        <p:spPr>
          <a:xfrm>
            <a:off x="10802873" y="4986978"/>
            <a:ext cx="243840" cy="337115"/>
          </a:xfrm>
          <a:prstGeom prst="rect">
            <a:avLst/>
          </a:prstGeom>
          <a:blipFill>
            <a:blip r:embed="rId16" cstate="print"/>
            <a:stretch>
              <a:fillRect/>
            </a:stretch>
          </a:blipFill>
        </p:spPr>
        <p:txBody>
          <a:bodyPr wrap="square" lIns="0" tIns="0" rIns="0" bIns="0" rtlCol="0"/>
          <a:lstStyle/>
          <a:p>
            <a:endParaRPr/>
          </a:p>
        </p:txBody>
      </p:sp>
      <p:sp>
        <p:nvSpPr>
          <p:cNvPr id="90" name="object 90"/>
          <p:cNvSpPr/>
          <p:nvPr/>
        </p:nvSpPr>
        <p:spPr>
          <a:xfrm>
            <a:off x="10802873" y="5071109"/>
            <a:ext cx="243840" cy="253365"/>
          </a:xfrm>
          <a:custGeom>
            <a:avLst/>
            <a:gdLst/>
            <a:ahLst/>
            <a:cxnLst/>
            <a:rect l="l" t="t" r="r" b="b"/>
            <a:pathLst>
              <a:path w="243840" h="253364">
                <a:moveTo>
                  <a:pt x="0" y="126492"/>
                </a:moveTo>
                <a:lnTo>
                  <a:pt x="9580" y="77254"/>
                </a:lnTo>
                <a:lnTo>
                  <a:pt x="35709" y="37047"/>
                </a:lnTo>
                <a:lnTo>
                  <a:pt x="74462" y="9939"/>
                </a:lnTo>
                <a:lnTo>
                  <a:pt x="121920" y="0"/>
                </a:lnTo>
                <a:lnTo>
                  <a:pt x="169377" y="9939"/>
                </a:lnTo>
                <a:lnTo>
                  <a:pt x="208130" y="37047"/>
                </a:lnTo>
                <a:lnTo>
                  <a:pt x="234259" y="77254"/>
                </a:lnTo>
                <a:lnTo>
                  <a:pt x="243840" y="126492"/>
                </a:lnTo>
                <a:lnTo>
                  <a:pt x="234259" y="175729"/>
                </a:lnTo>
                <a:lnTo>
                  <a:pt x="208130" y="215936"/>
                </a:lnTo>
                <a:lnTo>
                  <a:pt x="169377" y="243044"/>
                </a:lnTo>
                <a:lnTo>
                  <a:pt x="121920" y="252984"/>
                </a:lnTo>
                <a:lnTo>
                  <a:pt x="74462" y="243044"/>
                </a:lnTo>
                <a:lnTo>
                  <a:pt x="35709" y="215936"/>
                </a:lnTo>
                <a:lnTo>
                  <a:pt x="9580" y="175729"/>
                </a:lnTo>
                <a:lnTo>
                  <a:pt x="0" y="126492"/>
                </a:lnTo>
                <a:close/>
              </a:path>
            </a:pathLst>
          </a:custGeom>
          <a:ln w="19050">
            <a:solidFill>
              <a:srgbClr val="C04F14"/>
            </a:solidFill>
          </a:ln>
        </p:spPr>
        <p:txBody>
          <a:bodyPr wrap="square" lIns="0" tIns="0" rIns="0" bIns="0" rtlCol="0"/>
          <a:lstStyle/>
          <a:p>
            <a:endParaRPr/>
          </a:p>
        </p:txBody>
      </p:sp>
      <p:sp>
        <p:nvSpPr>
          <p:cNvPr id="91" name="object 91"/>
          <p:cNvSpPr txBox="1"/>
          <p:nvPr/>
        </p:nvSpPr>
        <p:spPr>
          <a:xfrm>
            <a:off x="10586989" y="5512960"/>
            <a:ext cx="66738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Arial"/>
                <a:cs typeface="Arial"/>
              </a:rPr>
              <a:t>Giải</a:t>
            </a:r>
            <a:r>
              <a:rPr sz="1800" spc="-215" dirty="0">
                <a:latin typeface="Arial"/>
                <a:cs typeface="Arial"/>
              </a:rPr>
              <a:t> </a:t>
            </a:r>
            <a:r>
              <a:rPr sz="1800" spc="-5" dirty="0">
                <a:latin typeface="Arial"/>
                <a:cs typeface="Arial"/>
              </a:rPr>
              <a:t>trí</a:t>
            </a:r>
            <a:endParaRPr sz="1800">
              <a:latin typeface="Arial"/>
              <a:cs typeface="Arial"/>
            </a:endParaRPr>
          </a:p>
        </p:txBody>
      </p:sp>
      <p:sp>
        <p:nvSpPr>
          <p:cNvPr id="92" name="object 92"/>
          <p:cNvSpPr txBox="1"/>
          <p:nvPr/>
        </p:nvSpPr>
        <p:spPr>
          <a:xfrm>
            <a:off x="7763285" y="6157612"/>
            <a:ext cx="1383269" cy="566822"/>
          </a:xfrm>
          <a:prstGeom prst="rect">
            <a:avLst/>
          </a:prstGeom>
        </p:spPr>
        <p:txBody>
          <a:bodyPr vert="horz" wrap="square" lIns="0" tIns="12700" rIns="0" bIns="0" rtlCol="0">
            <a:spAutoFit/>
          </a:bodyPr>
          <a:lstStyle/>
          <a:p>
            <a:pPr marL="12700">
              <a:lnSpc>
                <a:spcPct val="100000"/>
              </a:lnSpc>
              <a:spcBef>
                <a:spcPts val="100"/>
              </a:spcBef>
            </a:pPr>
            <a:r>
              <a:rPr sz="1800" spc="-30" dirty="0">
                <a:latin typeface="Arial"/>
                <a:cs typeface="Arial"/>
              </a:rPr>
              <a:t>Giải </a:t>
            </a:r>
            <a:r>
              <a:rPr sz="1800" dirty="0">
                <a:latin typeface="Arial"/>
                <a:cs typeface="Arial"/>
              </a:rPr>
              <a:t>trí:</a:t>
            </a:r>
            <a:r>
              <a:rPr sz="1800" spc="-275" dirty="0">
                <a:latin typeface="Arial"/>
                <a:cs typeface="Arial"/>
              </a:rPr>
              <a:t> </a:t>
            </a:r>
            <a:r>
              <a:rPr sz="1800" spc="-40" dirty="0">
                <a:latin typeface="Arial"/>
                <a:cs typeface="Arial"/>
              </a:rPr>
              <a:t>3</a:t>
            </a:r>
            <a:endParaRPr sz="1800" dirty="0">
              <a:latin typeface="Arial"/>
              <a:cs typeface="Arial"/>
            </a:endParaRPr>
          </a:p>
          <a:p>
            <a:pPr marL="12700">
              <a:lnSpc>
                <a:spcPct val="100000"/>
              </a:lnSpc>
            </a:pPr>
            <a:r>
              <a:rPr lang="en-US" spc="-70" dirty="0">
                <a:latin typeface="Arial"/>
                <a:cs typeface="Arial"/>
              </a:rPr>
              <a:t>Kinh </a:t>
            </a:r>
            <a:r>
              <a:rPr lang="en-US" spc="-70" dirty="0" err="1">
                <a:latin typeface="Arial"/>
                <a:cs typeface="Arial"/>
              </a:rPr>
              <a:t>doanh</a:t>
            </a:r>
            <a:r>
              <a:rPr sz="1800" spc="-35" dirty="0">
                <a:latin typeface="Arial"/>
                <a:cs typeface="Arial"/>
              </a:rPr>
              <a:t>:</a:t>
            </a:r>
            <a:r>
              <a:rPr sz="1800" spc="-305" dirty="0">
                <a:latin typeface="Arial"/>
                <a:cs typeface="Arial"/>
              </a:rPr>
              <a:t> </a:t>
            </a:r>
            <a:r>
              <a:rPr sz="1800" spc="-40" dirty="0">
                <a:latin typeface="Arial"/>
                <a:cs typeface="Arial"/>
              </a:rPr>
              <a:t>1</a:t>
            </a:r>
            <a:endParaRPr sz="1800" dirty="0">
              <a:latin typeface="Arial"/>
              <a:cs typeface="Arial"/>
            </a:endParaRPr>
          </a:p>
        </p:txBody>
      </p:sp>
      <p:sp>
        <p:nvSpPr>
          <p:cNvPr id="93" name="object 93"/>
          <p:cNvSpPr txBox="1"/>
          <p:nvPr/>
        </p:nvSpPr>
        <p:spPr>
          <a:xfrm>
            <a:off x="9646529" y="6299116"/>
            <a:ext cx="17983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Wingdings"/>
                <a:cs typeface="Wingdings"/>
              </a:rPr>
              <a:t></a:t>
            </a:r>
            <a:r>
              <a:rPr sz="1800" spc="-105" dirty="0">
                <a:latin typeface="Times New Roman"/>
                <a:cs typeface="Times New Roman"/>
              </a:rPr>
              <a:t> </a:t>
            </a:r>
            <a:r>
              <a:rPr sz="1800" spc="-55" dirty="0">
                <a:latin typeface="Arial"/>
                <a:cs typeface="Arial"/>
              </a:rPr>
              <a:t>Kết</a:t>
            </a:r>
            <a:r>
              <a:rPr sz="1800" spc="-140" dirty="0">
                <a:latin typeface="Arial"/>
                <a:cs typeface="Arial"/>
              </a:rPr>
              <a:t> </a:t>
            </a:r>
            <a:r>
              <a:rPr sz="1800" spc="-10" dirty="0">
                <a:latin typeface="Arial"/>
                <a:cs typeface="Arial"/>
              </a:rPr>
              <a:t>quả:</a:t>
            </a:r>
            <a:r>
              <a:rPr sz="1800" spc="-150" dirty="0">
                <a:latin typeface="Arial"/>
                <a:cs typeface="Arial"/>
              </a:rPr>
              <a:t> </a:t>
            </a:r>
            <a:r>
              <a:rPr sz="1800" spc="-30" dirty="0">
                <a:latin typeface="Arial"/>
                <a:cs typeface="Arial"/>
              </a:rPr>
              <a:t>Giải</a:t>
            </a:r>
            <a:r>
              <a:rPr sz="1800" spc="-165" dirty="0">
                <a:latin typeface="Arial"/>
                <a:cs typeface="Arial"/>
              </a:rPr>
              <a:t> </a:t>
            </a:r>
            <a:r>
              <a:rPr sz="1800" spc="-5" dirty="0">
                <a:latin typeface="Arial"/>
                <a:cs typeface="Arial"/>
              </a:rPr>
              <a:t>trí</a:t>
            </a:r>
            <a:endParaRPr sz="18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461390"/>
            <a:ext cx="5932805" cy="1028700"/>
          </a:xfrm>
          <a:prstGeom prst="rect">
            <a:avLst/>
          </a:prstGeom>
        </p:spPr>
        <p:txBody>
          <a:bodyPr vert="horz" wrap="square" lIns="0" tIns="12700" rIns="0" bIns="0" rtlCol="0">
            <a:spAutoFit/>
          </a:bodyPr>
          <a:lstStyle/>
          <a:p>
            <a:pPr marL="12700">
              <a:lnSpc>
                <a:spcPts val="2510"/>
              </a:lnSpc>
              <a:spcBef>
                <a:spcPts val="100"/>
              </a:spcBef>
            </a:pPr>
            <a:r>
              <a:rPr spc="30" dirty="0"/>
              <a:t>3.</a:t>
            </a:r>
            <a:r>
              <a:rPr spc="-95" dirty="0"/>
              <a:t> </a:t>
            </a:r>
            <a:r>
              <a:rPr spc="210" dirty="0"/>
              <a:t>CÁC</a:t>
            </a:r>
            <a:r>
              <a:rPr spc="-75" dirty="0"/>
              <a:t> </a:t>
            </a:r>
            <a:r>
              <a:rPr spc="-65" dirty="0"/>
              <a:t>MÔ</a:t>
            </a:r>
            <a:r>
              <a:rPr spc="-110" dirty="0"/>
              <a:t> </a:t>
            </a:r>
            <a:r>
              <a:rPr spc="65" dirty="0"/>
              <a:t>HÌNH/PHƯƠNG</a:t>
            </a:r>
            <a:r>
              <a:rPr spc="-90" dirty="0"/>
              <a:t> </a:t>
            </a:r>
            <a:r>
              <a:rPr spc="95" dirty="0"/>
              <a:t>PHÁP</a:t>
            </a:r>
            <a:r>
              <a:rPr spc="-114" dirty="0"/>
              <a:t> </a:t>
            </a:r>
            <a:r>
              <a:rPr spc="85" dirty="0"/>
              <a:t>PHÂN</a:t>
            </a:r>
            <a:r>
              <a:rPr spc="-105" dirty="0"/>
              <a:t> </a:t>
            </a:r>
            <a:r>
              <a:rPr spc="45" dirty="0"/>
              <a:t>LOẠI</a:t>
            </a:r>
          </a:p>
          <a:p>
            <a:pPr marL="12700">
              <a:lnSpc>
                <a:spcPts val="5390"/>
              </a:lnSpc>
            </a:pPr>
            <a:r>
              <a:rPr sz="4800" b="0" spc="10" dirty="0">
                <a:solidFill>
                  <a:srgbClr val="000000"/>
                </a:solidFill>
                <a:latin typeface="Calibri"/>
                <a:cs typeface="Calibri"/>
              </a:rPr>
              <a:t>Random</a:t>
            </a:r>
            <a:r>
              <a:rPr sz="4800" b="0" spc="-155" dirty="0">
                <a:solidFill>
                  <a:srgbClr val="000000"/>
                </a:solidFill>
                <a:latin typeface="Calibri"/>
                <a:cs typeface="Calibri"/>
              </a:rPr>
              <a:t> </a:t>
            </a:r>
            <a:r>
              <a:rPr sz="4800" b="0" dirty="0">
                <a:solidFill>
                  <a:srgbClr val="000000"/>
                </a:solidFill>
                <a:latin typeface="Calibri"/>
                <a:cs typeface="Calibri"/>
              </a:rPr>
              <a:t>Forest</a:t>
            </a:r>
            <a:endParaRPr sz="4800" dirty="0">
              <a:latin typeface="Calibri"/>
              <a:cs typeface="Calibri"/>
            </a:endParaRPr>
          </a:p>
        </p:txBody>
      </p:sp>
      <p:sp>
        <p:nvSpPr>
          <p:cNvPr id="3" name="object 3"/>
          <p:cNvSpPr/>
          <p:nvPr/>
        </p:nvSpPr>
        <p:spPr>
          <a:xfrm>
            <a:off x="838200" y="2319528"/>
            <a:ext cx="5251703" cy="82753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833437" y="2314765"/>
            <a:ext cx="5261610" cy="837565"/>
          </a:xfrm>
          <a:custGeom>
            <a:avLst/>
            <a:gdLst/>
            <a:ahLst/>
            <a:cxnLst/>
            <a:rect l="l" t="t" r="r" b="b"/>
            <a:pathLst>
              <a:path w="5261610" h="837564">
                <a:moveTo>
                  <a:pt x="0" y="0"/>
                </a:moveTo>
                <a:lnTo>
                  <a:pt x="5261229" y="0"/>
                </a:lnTo>
                <a:lnTo>
                  <a:pt x="5261229" y="837056"/>
                </a:lnTo>
                <a:lnTo>
                  <a:pt x="0" y="837056"/>
                </a:lnTo>
                <a:lnTo>
                  <a:pt x="0" y="0"/>
                </a:lnTo>
                <a:close/>
              </a:path>
            </a:pathLst>
          </a:custGeom>
          <a:ln w="9525">
            <a:solidFill>
              <a:srgbClr val="000000"/>
            </a:solidFill>
          </a:ln>
        </p:spPr>
        <p:txBody>
          <a:bodyPr wrap="square" lIns="0" tIns="0" rIns="0" bIns="0" rtlCol="0"/>
          <a:lstStyle/>
          <a:p>
            <a:endParaRPr/>
          </a:p>
        </p:txBody>
      </p:sp>
      <p:sp>
        <p:nvSpPr>
          <p:cNvPr id="5" name="object 5"/>
          <p:cNvSpPr txBox="1"/>
          <p:nvPr/>
        </p:nvSpPr>
        <p:spPr>
          <a:xfrm>
            <a:off x="916939" y="1834865"/>
            <a:ext cx="309181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Arial"/>
                <a:cs typeface="Arial"/>
              </a:rPr>
              <a:t>Vector</a:t>
            </a:r>
            <a:r>
              <a:rPr sz="1800" spc="-160" dirty="0">
                <a:latin typeface="Arial"/>
                <a:cs typeface="Arial"/>
              </a:rPr>
              <a:t> </a:t>
            </a:r>
            <a:r>
              <a:rPr sz="1800" spc="-25" dirty="0">
                <a:latin typeface="Arial"/>
                <a:cs typeface="Arial"/>
              </a:rPr>
              <a:t>hóa</a:t>
            </a:r>
            <a:r>
              <a:rPr sz="1800" spc="-160" dirty="0">
                <a:latin typeface="Arial"/>
                <a:cs typeface="Arial"/>
              </a:rPr>
              <a:t> </a:t>
            </a:r>
            <a:r>
              <a:rPr sz="1800" spc="-65" dirty="0">
                <a:latin typeface="Arial"/>
                <a:cs typeface="Arial"/>
              </a:rPr>
              <a:t>dữ</a:t>
            </a:r>
            <a:r>
              <a:rPr sz="1800" spc="-155" dirty="0">
                <a:latin typeface="Arial"/>
                <a:cs typeface="Arial"/>
              </a:rPr>
              <a:t> </a:t>
            </a:r>
            <a:r>
              <a:rPr sz="1800" spc="10" dirty="0">
                <a:latin typeface="Arial"/>
                <a:cs typeface="Arial"/>
              </a:rPr>
              <a:t>liệu</a:t>
            </a:r>
            <a:r>
              <a:rPr sz="1800" spc="-160" dirty="0">
                <a:latin typeface="Arial"/>
                <a:cs typeface="Arial"/>
              </a:rPr>
              <a:t> </a:t>
            </a:r>
            <a:r>
              <a:rPr sz="1800" spc="-45" dirty="0">
                <a:latin typeface="Arial"/>
                <a:cs typeface="Arial"/>
              </a:rPr>
              <a:t>bằng</a:t>
            </a:r>
            <a:r>
              <a:rPr sz="1800" spc="-155" dirty="0">
                <a:latin typeface="Arial"/>
                <a:cs typeface="Arial"/>
              </a:rPr>
              <a:t> </a:t>
            </a:r>
            <a:r>
              <a:rPr sz="1800" spc="-90" dirty="0">
                <a:latin typeface="Arial"/>
                <a:cs typeface="Arial"/>
              </a:rPr>
              <a:t>TF-IDF:</a:t>
            </a:r>
            <a:endParaRPr sz="1800">
              <a:latin typeface="Arial"/>
              <a:cs typeface="Arial"/>
            </a:endParaRPr>
          </a:p>
        </p:txBody>
      </p:sp>
      <p:sp>
        <p:nvSpPr>
          <p:cNvPr id="6" name="object 6"/>
          <p:cNvSpPr/>
          <p:nvPr/>
        </p:nvSpPr>
        <p:spPr>
          <a:xfrm>
            <a:off x="754380" y="4533912"/>
            <a:ext cx="10515598" cy="693407"/>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749617" y="4529137"/>
            <a:ext cx="10525125" cy="702945"/>
          </a:xfrm>
          <a:custGeom>
            <a:avLst/>
            <a:gdLst/>
            <a:ahLst/>
            <a:cxnLst/>
            <a:rect l="l" t="t" r="r" b="b"/>
            <a:pathLst>
              <a:path w="10525125" h="702945">
                <a:moveTo>
                  <a:pt x="0" y="0"/>
                </a:moveTo>
                <a:lnTo>
                  <a:pt x="10525125" y="0"/>
                </a:lnTo>
                <a:lnTo>
                  <a:pt x="10525125" y="702944"/>
                </a:lnTo>
                <a:lnTo>
                  <a:pt x="0" y="702944"/>
                </a:lnTo>
                <a:lnTo>
                  <a:pt x="0" y="0"/>
                </a:lnTo>
                <a:close/>
              </a:path>
            </a:pathLst>
          </a:custGeom>
          <a:ln w="9525">
            <a:solidFill>
              <a:srgbClr val="000000"/>
            </a:solidFill>
          </a:ln>
        </p:spPr>
        <p:txBody>
          <a:bodyPr wrap="square" lIns="0" tIns="0" rIns="0" bIns="0" rtlCol="0"/>
          <a:lstStyle/>
          <a:p>
            <a:endParaRPr/>
          </a:p>
        </p:txBody>
      </p:sp>
      <p:sp>
        <p:nvSpPr>
          <p:cNvPr id="8" name="object 8"/>
          <p:cNvSpPr txBox="1"/>
          <p:nvPr/>
        </p:nvSpPr>
        <p:spPr>
          <a:xfrm>
            <a:off x="833611" y="3726411"/>
            <a:ext cx="8012430" cy="57404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a:cs typeface="Arial"/>
              </a:rPr>
              <a:t>Huấn</a:t>
            </a:r>
            <a:r>
              <a:rPr sz="1800" spc="-150" dirty="0">
                <a:latin typeface="Arial"/>
                <a:cs typeface="Arial"/>
              </a:rPr>
              <a:t> </a:t>
            </a:r>
            <a:r>
              <a:rPr sz="1800" spc="-20" dirty="0">
                <a:latin typeface="Arial"/>
                <a:cs typeface="Arial"/>
              </a:rPr>
              <a:t>luyện</a:t>
            </a:r>
            <a:r>
              <a:rPr sz="1800" spc="-155" dirty="0">
                <a:latin typeface="Arial"/>
                <a:cs typeface="Arial"/>
              </a:rPr>
              <a:t> </a:t>
            </a:r>
            <a:r>
              <a:rPr sz="1800" spc="10" dirty="0">
                <a:latin typeface="Arial"/>
                <a:cs typeface="Arial"/>
              </a:rPr>
              <a:t>mô</a:t>
            </a:r>
            <a:r>
              <a:rPr sz="1800" spc="-150" dirty="0">
                <a:latin typeface="Arial"/>
                <a:cs typeface="Arial"/>
              </a:rPr>
              <a:t> </a:t>
            </a:r>
            <a:r>
              <a:rPr sz="1800" spc="-25" dirty="0">
                <a:latin typeface="Arial"/>
                <a:cs typeface="Arial"/>
              </a:rPr>
              <a:t>hình</a:t>
            </a:r>
            <a:r>
              <a:rPr sz="1800" spc="-165" dirty="0">
                <a:latin typeface="Arial"/>
                <a:cs typeface="Arial"/>
              </a:rPr>
              <a:t> </a:t>
            </a:r>
            <a:r>
              <a:rPr sz="1800" spc="-40" dirty="0">
                <a:latin typeface="Arial"/>
                <a:cs typeface="Arial"/>
              </a:rPr>
              <a:t>Random</a:t>
            </a:r>
            <a:r>
              <a:rPr sz="1800" spc="-155" dirty="0">
                <a:latin typeface="Arial"/>
                <a:cs typeface="Arial"/>
              </a:rPr>
              <a:t> </a:t>
            </a:r>
            <a:r>
              <a:rPr sz="1800" spc="-40" dirty="0">
                <a:latin typeface="Arial"/>
                <a:cs typeface="Arial"/>
              </a:rPr>
              <a:t>Forest</a:t>
            </a:r>
            <a:r>
              <a:rPr sz="1800" spc="-135" dirty="0">
                <a:latin typeface="Arial"/>
                <a:cs typeface="Arial"/>
              </a:rPr>
              <a:t> </a:t>
            </a:r>
            <a:r>
              <a:rPr sz="1800" spc="-5" dirty="0">
                <a:latin typeface="Arial"/>
                <a:cs typeface="Arial"/>
              </a:rPr>
              <a:t>Classifier:</a:t>
            </a:r>
            <a:endParaRPr sz="1800">
              <a:latin typeface="Arial"/>
              <a:cs typeface="Arial"/>
            </a:endParaRPr>
          </a:p>
          <a:p>
            <a:pPr marL="12700">
              <a:lnSpc>
                <a:spcPct val="100000"/>
              </a:lnSpc>
            </a:pPr>
            <a:r>
              <a:rPr sz="1800" spc="-20" dirty="0">
                <a:latin typeface="Arial"/>
                <a:cs typeface="Arial"/>
              </a:rPr>
              <a:t>Mỗi</a:t>
            </a:r>
            <a:r>
              <a:rPr sz="1800" spc="-150" dirty="0">
                <a:latin typeface="Arial"/>
                <a:cs typeface="Arial"/>
              </a:rPr>
              <a:t> </a:t>
            </a:r>
            <a:r>
              <a:rPr sz="1800" spc="-70" dirty="0">
                <a:latin typeface="Arial"/>
                <a:cs typeface="Arial"/>
              </a:rPr>
              <a:t>rừng</a:t>
            </a:r>
            <a:r>
              <a:rPr sz="1800" spc="-150" dirty="0">
                <a:latin typeface="Arial"/>
                <a:cs typeface="Arial"/>
              </a:rPr>
              <a:t> </a:t>
            </a:r>
            <a:r>
              <a:rPr sz="1800" spc="-35" dirty="0">
                <a:latin typeface="Arial"/>
                <a:cs typeface="Arial"/>
              </a:rPr>
              <a:t>gồm</a:t>
            </a:r>
            <a:r>
              <a:rPr sz="1800" spc="-155" dirty="0">
                <a:latin typeface="Arial"/>
                <a:cs typeface="Arial"/>
              </a:rPr>
              <a:t> </a:t>
            </a:r>
            <a:r>
              <a:rPr sz="1800" spc="-45" dirty="0">
                <a:latin typeface="Arial"/>
                <a:cs typeface="Arial"/>
              </a:rPr>
              <a:t>100</a:t>
            </a:r>
            <a:r>
              <a:rPr sz="1800" spc="-130" dirty="0">
                <a:latin typeface="Arial"/>
                <a:cs typeface="Arial"/>
              </a:rPr>
              <a:t> </a:t>
            </a:r>
            <a:r>
              <a:rPr sz="1800" spc="-35" dirty="0">
                <a:latin typeface="Arial"/>
                <a:cs typeface="Arial"/>
              </a:rPr>
              <a:t>cây</a:t>
            </a:r>
            <a:r>
              <a:rPr sz="1800" spc="-140" dirty="0">
                <a:latin typeface="Arial"/>
                <a:cs typeface="Arial"/>
              </a:rPr>
              <a:t> </a:t>
            </a:r>
            <a:r>
              <a:rPr sz="1800" spc="-15" dirty="0">
                <a:latin typeface="Arial"/>
                <a:cs typeface="Arial"/>
              </a:rPr>
              <a:t>quyết</a:t>
            </a:r>
            <a:r>
              <a:rPr sz="1800" spc="-135" dirty="0">
                <a:latin typeface="Arial"/>
                <a:cs typeface="Arial"/>
              </a:rPr>
              <a:t> </a:t>
            </a:r>
            <a:r>
              <a:rPr sz="1800" spc="5" dirty="0">
                <a:latin typeface="Arial"/>
                <a:cs typeface="Arial"/>
              </a:rPr>
              <a:t>định,</a:t>
            </a:r>
            <a:r>
              <a:rPr sz="1800" spc="-160" dirty="0">
                <a:latin typeface="Arial"/>
                <a:cs typeface="Arial"/>
              </a:rPr>
              <a:t> </a:t>
            </a:r>
            <a:r>
              <a:rPr sz="1800" spc="-80" dirty="0">
                <a:latin typeface="Arial"/>
                <a:cs typeface="Arial"/>
              </a:rPr>
              <a:t>sử</a:t>
            </a:r>
            <a:r>
              <a:rPr sz="1800" spc="-140" dirty="0">
                <a:latin typeface="Arial"/>
                <a:cs typeface="Arial"/>
              </a:rPr>
              <a:t> </a:t>
            </a:r>
            <a:r>
              <a:rPr sz="1800" spc="-35" dirty="0">
                <a:latin typeface="Arial"/>
                <a:cs typeface="Arial"/>
              </a:rPr>
              <a:t>dụng</a:t>
            </a:r>
            <a:r>
              <a:rPr sz="1800" spc="-150" dirty="0">
                <a:latin typeface="Arial"/>
                <a:cs typeface="Arial"/>
              </a:rPr>
              <a:t> </a:t>
            </a:r>
            <a:r>
              <a:rPr sz="1800" spc="-20" dirty="0">
                <a:latin typeface="Arial"/>
                <a:cs typeface="Arial"/>
              </a:rPr>
              <a:t>gini</a:t>
            </a:r>
            <a:r>
              <a:rPr sz="1800" spc="-165" dirty="0">
                <a:latin typeface="Arial"/>
                <a:cs typeface="Arial"/>
              </a:rPr>
              <a:t> </a:t>
            </a:r>
            <a:r>
              <a:rPr sz="1800" spc="-35" dirty="0">
                <a:latin typeface="Arial"/>
                <a:cs typeface="Arial"/>
              </a:rPr>
              <a:t>index</a:t>
            </a:r>
            <a:r>
              <a:rPr sz="1800" spc="-145" dirty="0">
                <a:latin typeface="Arial"/>
                <a:cs typeface="Arial"/>
              </a:rPr>
              <a:t> </a:t>
            </a:r>
            <a:r>
              <a:rPr sz="1800" spc="-25" dirty="0">
                <a:latin typeface="Arial"/>
                <a:cs typeface="Arial"/>
              </a:rPr>
              <a:t>để</a:t>
            </a:r>
            <a:r>
              <a:rPr sz="1800" spc="-130" dirty="0">
                <a:latin typeface="Arial"/>
                <a:cs typeface="Arial"/>
              </a:rPr>
              <a:t> </a:t>
            </a:r>
            <a:r>
              <a:rPr sz="1800" spc="-15" dirty="0">
                <a:latin typeface="Arial"/>
                <a:cs typeface="Arial"/>
              </a:rPr>
              <a:t>đánh</a:t>
            </a:r>
            <a:r>
              <a:rPr sz="1800" spc="-150" dirty="0">
                <a:latin typeface="Arial"/>
                <a:cs typeface="Arial"/>
              </a:rPr>
              <a:t> </a:t>
            </a:r>
            <a:r>
              <a:rPr sz="1800" spc="-50" dirty="0">
                <a:latin typeface="Arial"/>
                <a:cs typeface="Arial"/>
              </a:rPr>
              <a:t>giá</a:t>
            </a:r>
            <a:r>
              <a:rPr sz="1800" spc="-135" dirty="0">
                <a:latin typeface="Arial"/>
                <a:cs typeface="Arial"/>
              </a:rPr>
              <a:t> </a:t>
            </a:r>
            <a:r>
              <a:rPr sz="1800" spc="-15" dirty="0">
                <a:latin typeface="Arial"/>
                <a:cs typeface="Arial"/>
              </a:rPr>
              <a:t>phân</a:t>
            </a:r>
            <a:r>
              <a:rPr sz="1800" spc="-140" dirty="0">
                <a:latin typeface="Arial"/>
                <a:cs typeface="Arial"/>
              </a:rPr>
              <a:t> </a:t>
            </a:r>
            <a:r>
              <a:rPr sz="1800" spc="5" dirty="0">
                <a:latin typeface="Arial"/>
                <a:cs typeface="Arial"/>
              </a:rPr>
              <a:t>chia</a:t>
            </a:r>
            <a:r>
              <a:rPr sz="1800" spc="-150" dirty="0">
                <a:latin typeface="Arial"/>
                <a:cs typeface="Arial"/>
              </a:rPr>
              <a:t> </a:t>
            </a:r>
            <a:r>
              <a:rPr sz="1800" spc="-65" dirty="0">
                <a:latin typeface="Arial"/>
                <a:cs typeface="Arial"/>
              </a:rPr>
              <a:t>dữ</a:t>
            </a:r>
            <a:r>
              <a:rPr sz="1800" spc="-140" dirty="0">
                <a:latin typeface="Arial"/>
                <a:cs typeface="Arial"/>
              </a:rPr>
              <a:t> </a:t>
            </a:r>
            <a:r>
              <a:rPr sz="1800" spc="10" dirty="0">
                <a:latin typeface="Arial"/>
                <a:cs typeface="Arial"/>
              </a:rPr>
              <a:t>liệu</a:t>
            </a:r>
            <a:endParaRPr sz="1800">
              <a:latin typeface="Arial"/>
              <a:cs typeface="Arial"/>
            </a:endParaRPr>
          </a:p>
        </p:txBody>
      </p:sp>
      <p:sp>
        <p:nvSpPr>
          <p:cNvPr id="9" name="object 9"/>
          <p:cNvSpPr/>
          <p:nvPr/>
        </p:nvSpPr>
        <p:spPr>
          <a:xfrm>
            <a:off x="7133843" y="2319527"/>
            <a:ext cx="2689859" cy="827531"/>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7129081" y="2314765"/>
            <a:ext cx="2699385" cy="837565"/>
          </a:xfrm>
          <a:custGeom>
            <a:avLst/>
            <a:gdLst/>
            <a:ahLst/>
            <a:cxnLst/>
            <a:rect l="l" t="t" r="r" b="b"/>
            <a:pathLst>
              <a:path w="2699384" h="837564">
                <a:moveTo>
                  <a:pt x="0" y="0"/>
                </a:moveTo>
                <a:lnTo>
                  <a:pt x="2699384" y="0"/>
                </a:lnTo>
                <a:lnTo>
                  <a:pt x="2699384" y="837056"/>
                </a:lnTo>
                <a:lnTo>
                  <a:pt x="0" y="837056"/>
                </a:lnTo>
                <a:lnTo>
                  <a:pt x="0" y="0"/>
                </a:lnTo>
                <a:close/>
              </a:path>
            </a:pathLst>
          </a:custGeom>
          <a:ln w="9525">
            <a:solidFill>
              <a:srgbClr val="000000"/>
            </a:solidFill>
          </a:ln>
        </p:spPr>
        <p:txBody>
          <a:bodyPr wrap="square" lIns="0" tIns="0" rIns="0" bIns="0" rtlCol="0"/>
          <a:lstStyle/>
          <a:p>
            <a:endParaRPr/>
          </a:p>
        </p:txBody>
      </p:sp>
      <p:sp>
        <p:nvSpPr>
          <p:cNvPr id="11" name="object 11"/>
          <p:cNvSpPr txBox="1"/>
          <p:nvPr/>
        </p:nvSpPr>
        <p:spPr>
          <a:xfrm>
            <a:off x="7213262" y="1834865"/>
            <a:ext cx="3596004" cy="299720"/>
          </a:xfrm>
          <a:prstGeom prst="rect">
            <a:avLst/>
          </a:prstGeom>
        </p:spPr>
        <p:txBody>
          <a:bodyPr vert="horz" wrap="square" lIns="0" tIns="12700" rIns="0" bIns="0" rtlCol="0">
            <a:spAutoFit/>
          </a:bodyPr>
          <a:lstStyle/>
          <a:p>
            <a:pPr marL="12700">
              <a:lnSpc>
                <a:spcPct val="100000"/>
              </a:lnSpc>
              <a:spcBef>
                <a:spcPts val="100"/>
              </a:spcBef>
            </a:pPr>
            <a:r>
              <a:rPr sz="1800" spc="-55" dirty="0">
                <a:latin typeface="Arial"/>
                <a:cs typeface="Arial"/>
              </a:rPr>
              <a:t>Kích</a:t>
            </a:r>
            <a:r>
              <a:rPr sz="1800" spc="-165" dirty="0">
                <a:latin typeface="Arial"/>
                <a:cs typeface="Arial"/>
              </a:rPr>
              <a:t> </a:t>
            </a:r>
            <a:r>
              <a:rPr sz="1800" spc="-40" dirty="0">
                <a:latin typeface="Arial"/>
                <a:cs typeface="Arial"/>
              </a:rPr>
              <a:t>thước</a:t>
            </a:r>
            <a:r>
              <a:rPr sz="1800" spc="-135" dirty="0">
                <a:latin typeface="Arial"/>
                <a:cs typeface="Arial"/>
              </a:rPr>
              <a:t> </a:t>
            </a:r>
            <a:r>
              <a:rPr sz="1800" dirty="0">
                <a:latin typeface="Arial"/>
                <a:cs typeface="Arial"/>
              </a:rPr>
              <a:t>của</a:t>
            </a:r>
            <a:r>
              <a:rPr sz="1800" spc="-150" dirty="0">
                <a:latin typeface="Arial"/>
                <a:cs typeface="Arial"/>
              </a:rPr>
              <a:t> </a:t>
            </a:r>
            <a:r>
              <a:rPr sz="1800" spc="35" dirty="0">
                <a:latin typeface="Arial"/>
                <a:cs typeface="Arial"/>
              </a:rPr>
              <a:t>một</a:t>
            </a:r>
            <a:r>
              <a:rPr sz="1800" spc="-145" dirty="0">
                <a:latin typeface="Arial"/>
                <a:cs typeface="Arial"/>
              </a:rPr>
              <a:t> </a:t>
            </a:r>
            <a:r>
              <a:rPr sz="1800" spc="-10" dirty="0">
                <a:latin typeface="Arial"/>
                <a:cs typeface="Arial"/>
              </a:rPr>
              <a:t>vector</a:t>
            </a:r>
            <a:r>
              <a:rPr sz="1800" spc="-155" dirty="0">
                <a:latin typeface="Arial"/>
                <a:cs typeface="Arial"/>
              </a:rPr>
              <a:t> </a:t>
            </a:r>
            <a:r>
              <a:rPr sz="1800" dirty="0">
                <a:latin typeface="Arial"/>
                <a:cs typeface="Arial"/>
              </a:rPr>
              <a:t>đặc</a:t>
            </a:r>
            <a:r>
              <a:rPr sz="1800" spc="-140" dirty="0">
                <a:latin typeface="Arial"/>
                <a:cs typeface="Arial"/>
              </a:rPr>
              <a:t> </a:t>
            </a:r>
            <a:r>
              <a:rPr sz="1800" spc="-40" dirty="0">
                <a:latin typeface="Arial"/>
                <a:cs typeface="Arial"/>
              </a:rPr>
              <a:t>trưng</a:t>
            </a:r>
            <a:endParaRPr sz="18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461390"/>
            <a:ext cx="5932805" cy="391160"/>
          </a:xfrm>
          <a:prstGeom prst="rect">
            <a:avLst/>
          </a:prstGeom>
        </p:spPr>
        <p:txBody>
          <a:bodyPr vert="horz" wrap="square" lIns="0" tIns="12700" rIns="0" bIns="0" rtlCol="0">
            <a:spAutoFit/>
          </a:bodyPr>
          <a:lstStyle/>
          <a:p>
            <a:pPr marL="12700">
              <a:lnSpc>
                <a:spcPct val="100000"/>
              </a:lnSpc>
              <a:spcBef>
                <a:spcPts val="100"/>
              </a:spcBef>
            </a:pPr>
            <a:r>
              <a:rPr sz="2400" b="1" spc="30" dirty="0">
                <a:solidFill>
                  <a:srgbClr val="205F9A"/>
                </a:solidFill>
                <a:latin typeface="Calibri"/>
                <a:cs typeface="Calibri"/>
              </a:rPr>
              <a:t>3.</a:t>
            </a:r>
            <a:r>
              <a:rPr sz="2400" b="1" spc="-95" dirty="0">
                <a:solidFill>
                  <a:srgbClr val="205F9A"/>
                </a:solidFill>
                <a:latin typeface="Calibri"/>
                <a:cs typeface="Calibri"/>
              </a:rPr>
              <a:t> </a:t>
            </a:r>
            <a:r>
              <a:rPr sz="2400" b="1" spc="210" dirty="0">
                <a:solidFill>
                  <a:srgbClr val="205F9A"/>
                </a:solidFill>
                <a:latin typeface="Calibri"/>
                <a:cs typeface="Calibri"/>
              </a:rPr>
              <a:t>CÁC</a:t>
            </a:r>
            <a:r>
              <a:rPr sz="2400" b="1" spc="-75" dirty="0">
                <a:solidFill>
                  <a:srgbClr val="205F9A"/>
                </a:solidFill>
                <a:latin typeface="Calibri"/>
                <a:cs typeface="Calibri"/>
              </a:rPr>
              <a:t> </a:t>
            </a:r>
            <a:r>
              <a:rPr sz="2400" b="1" spc="-65" dirty="0">
                <a:solidFill>
                  <a:srgbClr val="205F9A"/>
                </a:solidFill>
                <a:latin typeface="Calibri"/>
                <a:cs typeface="Calibri"/>
              </a:rPr>
              <a:t>MÔ</a:t>
            </a:r>
            <a:r>
              <a:rPr sz="2400" b="1" spc="-110" dirty="0">
                <a:solidFill>
                  <a:srgbClr val="205F9A"/>
                </a:solidFill>
                <a:latin typeface="Calibri"/>
                <a:cs typeface="Calibri"/>
              </a:rPr>
              <a:t> </a:t>
            </a:r>
            <a:r>
              <a:rPr sz="2400" b="1" spc="65" dirty="0">
                <a:solidFill>
                  <a:srgbClr val="205F9A"/>
                </a:solidFill>
                <a:latin typeface="Calibri"/>
                <a:cs typeface="Calibri"/>
              </a:rPr>
              <a:t>HÌNH/PHƯƠNG</a:t>
            </a:r>
            <a:r>
              <a:rPr sz="2400" b="1" spc="-90" dirty="0">
                <a:solidFill>
                  <a:srgbClr val="205F9A"/>
                </a:solidFill>
                <a:latin typeface="Calibri"/>
                <a:cs typeface="Calibri"/>
              </a:rPr>
              <a:t> </a:t>
            </a:r>
            <a:r>
              <a:rPr sz="2400" b="1" spc="95" dirty="0">
                <a:solidFill>
                  <a:srgbClr val="205F9A"/>
                </a:solidFill>
                <a:latin typeface="Calibri"/>
                <a:cs typeface="Calibri"/>
              </a:rPr>
              <a:t>PHÁP</a:t>
            </a:r>
            <a:r>
              <a:rPr sz="2400" b="1" spc="-114" dirty="0">
                <a:solidFill>
                  <a:srgbClr val="205F9A"/>
                </a:solidFill>
                <a:latin typeface="Calibri"/>
                <a:cs typeface="Calibri"/>
              </a:rPr>
              <a:t> </a:t>
            </a:r>
            <a:r>
              <a:rPr sz="2400" b="1" spc="85" dirty="0">
                <a:solidFill>
                  <a:srgbClr val="205F9A"/>
                </a:solidFill>
                <a:latin typeface="Calibri"/>
                <a:cs typeface="Calibri"/>
              </a:rPr>
              <a:t>PHÂN</a:t>
            </a:r>
            <a:r>
              <a:rPr sz="2400" b="1" spc="-105" dirty="0">
                <a:solidFill>
                  <a:srgbClr val="205F9A"/>
                </a:solidFill>
                <a:latin typeface="Calibri"/>
                <a:cs typeface="Calibri"/>
              </a:rPr>
              <a:t> </a:t>
            </a:r>
            <a:r>
              <a:rPr sz="2400" b="1" spc="45" dirty="0">
                <a:solidFill>
                  <a:srgbClr val="205F9A"/>
                </a:solidFill>
                <a:latin typeface="Calibri"/>
                <a:cs typeface="Calibri"/>
              </a:rPr>
              <a:t>LOẠI</a:t>
            </a:r>
            <a:endParaRPr sz="2400">
              <a:latin typeface="Calibri"/>
              <a:cs typeface="Calibri"/>
            </a:endParaRPr>
          </a:p>
        </p:txBody>
      </p:sp>
      <p:sp>
        <p:nvSpPr>
          <p:cNvPr id="3" name="object 3"/>
          <p:cNvSpPr txBox="1">
            <a:spLocks noGrp="1"/>
          </p:cNvSpPr>
          <p:nvPr>
            <p:ph type="title"/>
          </p:nvPr>
        </p:nvSpPr>
        <p:spPr>
          <a:xfrm>
            <a:off x="916939" y="732663"/>
            <a:ext cx="7806690" cy="756920"/>
          </a:xfrm>
          <a:prstGeom prst="rect">
            <a:avLst/>
          </a:prstGeom>
        </p:spPr>
        <p:txBody>
          <a:bodyPr vert="horz" wrap="square" lIns="0" tIns="12700" rIns="0" bIns="0" rtlCol="0">
            <a:spAutoFit/>
          </a:bodyPr>
          <a:lstStyle/>
          <a:p>
            <a:pPr marL="12700">
              <a:lnSpc>
                <a:spcPct val="100000"/>
              </a:lnSpc>
              <a:spcBef>
                <a:spcPts val="100"/>
              </a:spcBef>
            </a:pPr>
            <a:r>
              <a:rPr sz="4800" b="0" spc="-85" dirty="0">
                <a:solidFill>
                  <a:srgbClr val="000000"/>
                </a:solidFill>
                <a:latin typeface="Calibri"/>
                <a:cs typeface="Calibri"/>
              </a:rPr>
              <a:t>Multinomial </a:t>
            </a:r>
            <a:r>
              <a:rPr sz="4800" b="0" spc="45" dirty="0">
                <a:solidFill>
                  <a:srgbClr val="000000"/>
                </a:solidFill>
                <a:latin typeface="Calibri"/>
                <a:cs typeface="Calibri"/>
              </a:rPr>
              <a:t>Logistic</a:t>
            </a:r>
            <a:r>
              <a:rPr sz="4800" b="0" spc="-200" dirty="0">
                <a:solidFill>
                  <a:srgbClr val="000000"/>
                </a:solidFill>
                <a:latin typeface="Calibri"/>
                <a:cs typeface="Calibri"/>
              </a:rPr>
              <a:t> </a:t>
            </a:r>
            <a:r>
              <a:rPr sz="4800" b="0" spc="20" dirty="0">
                <a:solidFill>
                  <a:srgbClr val="000000"/>
                </a:solidFill>
                <a:latin typeface="Calibri"/>
                <a:cs typeface="Calibri"/>
              </a:rPr>
              <a:t>Regression</a:t>
            </a:r>
            <a:endParaRPr sz="4800">
              <a:latin typeface="Calibri"/>
              <a:cs typeface="Calibri"/>
            </a:endParaRPr>
          </a:p>
        </p:txBody>
      </p:sp>
      <p:sp>
        <p:nvSpPr>
          <p:cNvPr id="4" name="object 4"/>
          <p:cNvSpPr/>
          <p:nvPr/>
        </p:nvSpPr>
        <p:spPr>
          <a:xfrm>
            <a:off x="6554724" y="2046732"/>
            <a:ext cx="4658867" cy="3493007"/>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1185250" y="1933440"/>
            <a:ext cx="5169535" cy="2082800"/>
          </a:xfrm>
          <a:prstGeom prst="rect">
            <a:avLst/>
          </a:prstGeom>
        </p:spPr>
        <p:txBody>
          <a:bodyPr vert="horz" wrap="square" lIns="0" tIns="12700" rIns="0" bIns="0" rtlCol="0">
            <a:spAutoFit/>
          </a:bodyPr>
          <a:lstStyle/>
          <a:p>
            <a:pPr marL="12700" marR="5080" indent="-635" algn="just">
              <a:lnSpc>
                <a:spcPct val="150000"/>
              </a:lnSpc>
              <a:spcBef>
                <a:spcPts val="100"/>
              </a:spcBef>
            </a:pPr>
            <a:r>
              <a:rPr sz="1800" spc="-5" dirty="0">
                <a:latin typeface="Arial"/>
                <a:cs typeface="Arial"/>
              </a:rPr>
              <a:t>Multinomial Logistic Regression </a:t>
            </a:r>
            <a:r>
              <a:rPr sz="1800" dirty="0">
                <a:latin typeface="Arial"/>
                <a:cs typeface="Arial"/>
              </a:rPr>
              <a:t>(Hồi </a:t>
            </a:r>
            <a:r>
              <a:rPr sz="1800" spc="-5" dirty="0">
                <a:latin typeface="Arial"/>
                <a:cs typeface="Arial"/>
              </a:rPr>
              <a:t>quy Logistic  đa thức) </a:t>
            </a:r>
            <a:r>
              <a:rPr sz="1800" dirty="0">
                <a:latin typeface="Arial"/>
                <a:cs typeface="Arial"/>
              </a:rPr>
              <a:t>có tên </a:t>
            </a:r>
            <a:r>
              <a:rPr sz="1800" spc="-5" dirty="0">
                <a:latin typeface="Arial"/>
                <a:cs typeface="Arial"/>
              </a:rPr>
              <a:t>gọi khác </a:t>
            </a:r>
            <a:r>
              <a:rPr sz="1800" dirty="0">
                <a:latin typeface="Arial"/>
                <a:cs typeface="Arial"/>
              </a:rPr>
              <a:t>là </a:t>
            </a:r>
            <a:r>
              <a:rPr sz="1800" b="1" dirty="0">
                <a:solidFill>
                  <a:srgbClr val="4E94D9"/>
                </a:solidFill>
                <a:latin typeface="Arial"/>
                <a:cs typeface="Arial"/>
              </a:rPr>
              <a:t>hồi quy </a:t>
            </a:r>
            <a:r>
              <a:rPr sz="1800" b="1" spc="-5" dirty="0">
                <a:solidFill>
                  <a:srgbClr val="4E94D9"/>
                </a:solidFill>
                <a:latin typeface="Arial"/>
                <a:cs typeface="Arial"/>
              </a:rPr>
              <a:t>Softmax  (Softmax Regression) </a:t>
            </a:r>
            <a:r>
              <a:rPr sz="1800" spc="-5" dirty="0">
                <a:latin typeface="Arial"/>
                <a:cs typeface="Arial"/>
              </a:rPr>
              <a:t>là </a:t>
            </a:r>
            <a:r>
              <a:rPr sz="1800" dirty="0">
                <a:latin typeface="Arial"/>
                <a:cs typeface="Arial"/>
              </a:rPr>
              <a:t>một mô </a:t>
            </a:r>
            <a:r>
              <a:rPr sz="1800" spc="-5" dirty="0">
                <a:latin typeface="Arial"/>
                <a:cs typeface="Arial"/>
              </a:rPr>
              <a:t>hình dựa trên  Logistic Regression </a:t>
            </a:r>
            <a:r>
              <a:rPr sz="1800" dirty="0">
                <a:latin typeface="Arial"/>
                <a:cs typeface="Arial"/>
              </a:rPr>
              <a:t>sử </a:t>
            </a:r>
            <a:r>
              <a:rPr sz="1800" spc="-5" dirty="0">
                <a:latin typeface="Arial"/>
                <a:cs typeface="Arial"/>
              </a:rPr>
              <a:t>dụng cho dự đoán </a:t>
            </a:r>
            <a:r>
              <a:rPr sz="1800" dirty="0">
                <a:latin typeface="Arial"/>
                <a:cs typeface="Arial"/>
              </a:rPr>
              <a:t>để </a:t>
            </a:r>
            <a:r>
              <a:rPr sz="1800" spc="-5" dirty="0">
                <a:latin typeface="Arial"/>
                <a:cs typeface="Arial"/>
              </a:rPr>
              <a:t>phân  lớp </a:t>
            </a:r>
            <a:r>
              <a:rPr sz="1800" dirty="0">
                <a:latin typeface="Arial"/>
                <a:cs typeface="Arial"/>
              </a:rPr>
              <a:t>2 </a:t>
            </a:r>
            <a:r>
              <a:rPr sz="1800" spc="-10" dirty="0">
                <a:latin typeface="Arial"/>
                <a:cs typeface="Arial"/>
              </a:rPr>
              <a:t>nhãn nhưng </a:t>
            </a:r>
            <a:r>
              <a:rPr sz="1800" dirty="0">
                <a:latin typeface="Arial"/>
                <a:cs typeface="Arial"/>
              </a:rPr>
              <a:t>mở </a:t>
            </a:r>
            <a:r>
              <a:rPr sz="1800" spc="-5" dirty="0">
                <a:latin typeface="Arial"/>
                <a:cs typeface="Arial"/>
              </a:rPr>
              <a:t>rộng </a:t>
            </a:r>
            <a:r>
              <a:rPr sz="1800" dirty="0">
                <a:latin typeface="Arial"/>
                <a:cs typeface="Arial"/>
              </a:rPr>
              <a:t>ra </a:t>
            </a:r>
            <a:r>
              <a:rPr sz="1800" spc="-5" dirty="0">
                <a:latin typeface="Arial"/>
                <a:cs typeface="Arial"/>
              </a:rPr>
              <a:t>cho </a:t>
            </a:r>
            <a:r>
              <a:rPr sz="1800" spc="-10" dirty="0">
                <a:latin typeface="Arial"/>
                <a:cs typeface="Arial"/>
              </a:rPr>
              <a:t>nhiều</a:t>
            </a:r>
            <a:r>
              <a:rPr sz="1800" spc="45" dirty="0">
                <a:latin typeface="Arial"/>
                <a:cs typeface="Arial"/>
              </a:rPr>
              <a:t> </a:t>
            </a:r>
            <a:r>
              <a:rPr sz="1800" spc="-10" dirty="0">
                <a:latin typeface="Arial"/>
                <a:cs typeface="Arial"/>
              </a:rPr>
              <a:t>nhãn.</a:t>
            </a:r>
            <a:endParaRPr sz="1800">
              <a:latin typeface="Arial"/>
              <a:cs typeface="Arial"/>
            </a:endParaRPr>
          </a:p>
        </p:txBody>
      </p:sp>
      <p:pic>
        <p:nvPicPr>
          <p:cNvPr id="27" name="Hình ảnh 26">
            <a:extLst>
              <a:ext uri="{FF2B5EF4-FFF2-40B4-BE49-F238E27FC236}">
                <a16:creationId xmlns:a16="http://schemas.microsoft.com/office/drawing/2014/main" id="{C9AFAD1C-F021-BC26-5BFD-C65C3F3D9AF1}"/>
              </a:ext>
            </a:extLst>
          </p:cNvPr>
          <p:cNvPicPr>
            <a:picLocks noChangeAspect="1"/>
          </p:cNvPicPr>
          <p:nvPr/>
        </p:nvPicPr>
        <p:blipFill>
          <a:blip r:embed="rId3"/>
          <a:stretch>
            <a:fillRect/>
          </a:stretch>
        </p:blipFill>
        <p:spPr>
          <a:xfrm>
            <a:off x="1298573" y="4438761"/>
            <a:ext cx="5169536" cy="21043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461390"/>
            <a:ext cx="7806690" cy="1028700"/>
          </a:xfrm>
          <a:prstGeom prst="rect">
            <a:avLst/>
          </a:prstGeom>
        </p:spPr>
        <p:txBody>
          <a:bodyPr vert="horz" wrap="square" lIns="0" tIns="12700" rIns="0" bIns="0" rtlCol="0">
            <a:spAutoFit/>
          </a:bodyPr>
          <a:lstStyle/>
          <a:p>
            <a:pPr marL="12700">
              <a:lnSpc>
                <a:spcPts val="2510"/>
              </a:lnSpc>
              <a:spcBef>
                <a:spcPts val="100"/>
              </a:spcBef>
            </a:pPr>
            <a:r>
              <a:rPr spc="30" dirty="0"/>
              <a:t>3.</a:t>
            </a:r>
            <a:r>
              <a:rPr spc="-85" dirty="0"/>
              <a:t> </a:t>
            </a:r>
            <a:r>
              <a:rPr spc="210" dirty="0"/>
              <a:t>CÁC</a:t>
            </a:r>
            <a:r>
              <a:rPr spc="-65" dirty="0"/>
              <a:t> MÔ</a:t>
            </a:r>
            <a:r>
              <a:rPr spc="-105" dirty="0"/>
              <a:t> </a:t>
            </a:r>
            <a:r>
              <a:rPr spc="65" dirty="0"/>
              <a:t>HÌNH/PHƯƠNG</a:t>
            </a:r>
            <a:r>
              <a:rPr spc="-80" dirty="0"/>
              <a:t> </a:t>
            </a:r>
            <a:r>
              <a:rPr spc="95" dirty="0"/>
              <a:t>PHÁP</a:t>
            </a:r>
            <a:r>
              <a:rPr spc="-105" dirty="0"/>
              <a:t> </a:t>
            </a:r>
            <a:r>
              <a:rPr spc="85" dirty="0"/>
              <a:t>PHÂN</a:t>
            </a:r>
            <a:r>
              <a:rPr spc="-95" dirty="0"/>
              <a:t> </a:t>
            </a:r>
            <a:r>
              <a:rPr spc="45" dirty="0"/>
              <a:t>LOẠI</a:t>
            </a:r>
          </a:p>
          <a:p>
            <a:pPr marL="12700">
              <a:lnSpc>
                <a:spcPts val="5390"/>
              </a:lnSpc>
            </a:pPr>
            <a:r>
              <a:rPr sz="4800" b="0" spc="-85" dirty="0">
                <a:solidFill>
                  <a:srgbClr val="000000"/>
                </a:solidFill>
                <a:latin typeface="Calibri"/>
                <a:cs typeface="Calibri"/>
              </a:rPr>
              <a:t>Multinomial </a:t>
            </a:r>
            <a:r>
              <a:rPr sz="4800" b="0" spc="45" dirty="0">
                <a:solidFill>
                  <a:srgbClr val="000000"/>
                </a:solidFill>
                <a:latin typeface="Calibri"/>
                <a:cs typeface="Calibri"/>
              </a:rPr>
              <a:t>Logistic</a:t>
            </a:r>
            <a:r>
              <a:rPr sz="4800" b="0" spc="-200" dirty="0">
                <a:solidFill>
                  <a:srgbClr val="000000"/>
                </a:solidFill>
                <a:latin typeface="Calibri"/>
                <a:cs typeface="Calibri"/>
              </a:rPr>
              <a:t> </a:t>
            </a:r>
            <a:r>
              <a:rPr sz="4800" b="0" spc="20" dirty="0">
                <a:solidFill>
                  <a:srgbClr val="000000"/>
                </a:solidFill>
                <a:latin typeface="Calibri"/>
                <a:cs typeface="Calibri"/>
              </a:rPr>
              <a:t>Regression</a:t>
            </a:r>
            <a:endParaRPr sz="4800">
              <a:latin typeface="Calibri"/>
              <a:cs typeface="Calibri"/>
            </a:endParaRPr>
          </a:p>
        </p:txBody>
      </p:sp>
      <p:sp>
        <p:nvSpPr>
          <p:cNvPr id="21" name="object 21"/>
          <p:cNvSpPr txBox="1"/>
          <p:nvPr/>
        </p:nvSpPr>
        <p:spPr>
          <a:xfrm>
            <a:off x="916939" y="1616505"/>
            <a:ext cx="26320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4E94D9"/>
                </a:solidFill>
                <a:latin typeface="Arial"/>
                <a:cs typeface="Arial"/>
              </a:rPr>
              <a:t>1.</a:t>
            </a:r>
            <a:r>
              <a:rPr sz="1800" b="1" spc="-155" dirty="0">
                <a:solidFill>
                  <a:srgbClr val="4E94D9"/>
                </a:solidFill>
                <a:latin typeface="Arial"/>
                <a:cs typeface="Arial"/>
              </a:rPr>
              <a:t> </a:t>
            </a:r>
            <a:r>
              <a:rPr sz="1800" b="1" spc="-85" dirty="0">
                <a:solidFill>
                  <a:srgbClr val="4E94D9"/>
                </a:solidFill>
                <a:latin typeface="Arial"/>
                <a:cs typeface="Arial"/>
              </a:rPr>
              <a:t>Xây</a:t>
            </a:r>
            <a:r>
              <a:rPr sz="1800" b="1" spc="-165" dirty="0">
                <a:solidFill>
                  <a:srgbClr val="4E94D9"/>
                </a:solidFill>
                <a:latin typeface="Arial"/>
                <a:cs typeface="Arial"/>
              </a:rPr>
              <a:t> </a:t>
            </a:r>
            <a:r>
              <a:rPr sz="1800" b="1" spc="-100" dirty="0">
                <a:solidFill>
                  <a:srgbClr val="4E94D9"/>
                </a:solidFill>
                <a:latin typeface="Arial"/>
                <a:cs typeface="Arial"/>
              </a:rPr>
              <a:t>dựng</a:t>
            </a:r>
            <a:r>
              <a:rPr sz="1800" b="1" spc="-160" dirty="0">
                <a:solidFill>
                  <a:srgbClr val="4E94D9"/>
                </a:solidFill>
                <a:latin typeface="Arial"/>
                <a:cs typeface="Arial"/>
              </a:rPr>
              <a:t> </a:t>
            </a:r>
            <a:r>
              <a:rPr sz="1800" b="1" spc="-25" dirty="0">
                <a:solidFill>
                  <a:srgbClr val="4E94D9"/>
                </a:solidFill>
                <a:latin typeface="Arial"/>
                <a:cs typeface="Arial"/>
              </a:rPr>
              <a:t>hàm</a:t>
            </a:r>
            <a:r>
              <a:rPr sz="1800" b="1" spc="-170" dirty="0">
                <a:solidFill>
                  <a:srgbClr val="4E94D9"/>
                </a:solidFill>
                <a:latin typeface="Arial"/>
                <a:cs typeface="Arial"/>
              </a:rPr>
              <a:t> </a:t>
            </a:r>
            <a:r>
              <a:rPr sz="1800" b="1" spc="5" dirty="0">
                <a:solidFill>
                  <a:srgbClr val="4E94D9"/>
                </a:solidFill>
                <a:latin typeface="Arial"/>
                <a:cs typeface="Arial"/>
              </a:rPr>
              <a:t>mất</a:t>
            </a:r>
            <a:r>
              <a:rPr sz="1800" b="1" spc="-155" dirty="0">
                <a:solidFill>
                  <a:srgbClr val="4E94D9"/>
                </a:solidFill>
                <a:latin typeface="Arial"/>
                <a:cs typeface="Arial"/>
              </a:rPr>
              <a:t> </a:t>
            </a:r>
            <a:r>
              <a:rPr sz="1800" b="1" spc="5" dirty="0">
                <a:solidFill>
                  <a:srgbClr val="4E94D9"/>
                </a:solidFill>
                <a:latin typeface="Arial"/>
                <a:cs typeface="Arial"/>
              </a:rPr>
              <a:t>mát</a:t>
            </a:r>
            <a:endParaRPr sz="1800" dirty="0">
              <a:latin typeface="Arial"/>
              <a:cs typeface="Arial"/>
            </a:endParaRPr>
          </a:p>
        </p:txBody>
      </p:sp>
      <p:sp>
        <p:nvSpPr>
          <p:cNvPr id="22" name="object 22"/>
          <p:cNvSpPr txBox="1"/>
          <p:nvPr/>
        </p:nvSpPr>
        <p:spPr>
          <a:xfrm>
            <a:off x="916939" y="3195445"/>
            <a:ext cx="413639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4E94D9"/>
                </a:solidFill>
                <a:latin typeface="Arial"/>
                <a:cs typeface="Arial"/>
              </a:rPr>
              <a:t>2.</a:t>
            </a:r>
            <a:r>
              <a:rPr sz="1800" b="1" spc="-145" dirty="0">
                <a:solidFill>
                  <a:srgbClr val="4E94D9"/>
                </a:solidFill>
                <a:latin typeface="Arial"/>
                <a:cs typeface="Arial"/>
              </a:rPr>
              <a:t> </a:t>
            </a:r>
            <a:r>
              <a:rPr sz="1800" b="1" spc="-85" dirty="0">
                <a:solidFill>
                  <a:srgbClr val="4E94D9"/>
                </a:solidFill>
                <a:latin typeface="Arial"/>
                <a:cs typeface="Arial"/>
              </a:rPr>
              <a:t>Xây</a:t>
            </a:r>
            <a:r>
              <a:rPr sz="1800" b="1" spc="-155" dirty="0">
                <a:solidFill>
                  <a:srgbClr val="4E94D9"/>
                </a:solidFill>
                <a:latin typeface="Arial"/>
                <a:cs typeface="Arial"/>
              </a:rPr>
              <a:t> </a:t>
            </a:r>
            <a:r>
              <a:rPr sz="1800" b="1" spc="-100" dirty="0">
                <a:solidFill>
                  <a:srgbClr val="4E94D9"/>
                </a:solidFill>
                <a:latin typeface="Arial"/>
                <a:cs typeface="Arial"/>
              </a:rPr>
              <a:t>dựng</a:t>
            </a:r>
            <a:r>
              <a:rPr sz="1800" b="1" spc="-150" dirty="0">
                <a:solidFill>
                  <a:srgbClr val="4E94D9"/>
                </a:solidFill>
                <a:latin typeface="Arial"/>
                <a:cs typeface="Arial"/>
              </a:rPr>
              <a:t> </a:t>
            </a:r>
            <a:r>
              <a:rPr sz="1800" b="1" spc="-85" dirty="0">
                <a:solidFill>
                  <a:srgbClr val="4E94D9"/>
                </a:solidFill>
                <a:latin typeface="Arial"/>
                <a:cs typeface="Arial"/>
              </a:rPr>
              <a:t>công</a:t>
            </a:r>
            <a:r>
              <a:rPr sz="1800" b="1" spc="-145" dirty="0">
                <a:solidFill>
                  <a:srgbClr val="4E94D9"/>
                </a:solidFill>
                <a:latin typeface="Arial"/>
                <a:cs typeface="Arial"/>
              </a:rPr>
              <a:t> </a:t>
            </a:r>
            <a:r>
              <a:rPr sz="1800" b="1" spc="-40" dirty="0">
                <a:solidFill>
                  <a:srgbClr val="4E94D9"/>
                </a:solidFill>
                <a:latin typeface="Arial"/>
                <a:cs typeface="Arial"/>
              </a:rPr>
              <a:t>thức</a:t>
            </a:r>
            <a:r>
              <a:rPr sz="1800" b="1" spc="-135" dirty="0">
                <a:solidFill>
                  <a:srgbClr val="4E94D9"/>
                </a:solidFill>
                <a:latin typeface="Arial"/>
                <a:cs typeface="Arial"/>
              </a:rPr>
              <a:t> </a:t>
            </a:r>
            <a:r>
              <a:rPr sz="1800" b="1" spc="-25" dirty="0">
                <a:solidFill>
                  <a:srgbClr val="4E94D9"/>
                </a:solidFill>
                <a:latin typeface="Arial"/>
                <a:cs typeface="Arial"/>
              </a:rPr>
              <a:t>cập</a:t>
            </a:r>
            <a:r>
              <a:rPr sz="1800" b="1" spc="-150" dirty="0">
                <a:solidFill>
                  <a:srgbClr val="4E94D9"/>
                </a:solidFill>
                <a:latin typeface="Arial"/>
                <a:cs typeface="Arial"/>
              </a:rPr>
              <a:t> </a:t>
            </a:r>
            <a:r>
              <a:rPr sz="1800" b="1" spc="-25" dirty="0">
                <a:solidFill>
                  <a:srgbClr val="4E94D9"/>
                </a:solidFill>
                <a:latin typeface="Arial"/>
                <a:cs typeface="Arial"/>
              </a:rPr>
              <a:t>nhật</a:t>
            </a:r>
            <a:r>
              <a:rPr sz="1800" b="1" spc="-170" dirty="0">
                <a:solidFill>
                  <a:srgbClr val="4E94D9"/>
                </a:solidFill>
                <a:latin typeface="Arial"/>
                <a:cs typeface="Arial"/>
              </a:rPr>
              <a:t> </a:t>
            </a:r>
            <a:r>
              <a:rPr sz="1800" b="1" spc="-65" dirty="0">
                <a:solidFill>
                  <a:srgbClr val="4E94D9"/>
                </a:solidFill>
                <a:latin typeface="Arial"/>
                <a:cs typeface="Arial"/>
              </a:rPr>
              <a:t>trọng</a:t>
            </a:r>
            <a:r>
              <a:rPr sz="1800" b="1" spc="-130" dirty="0">
                <a:solidFill>
                  <a:srgbClr val="4E94D9"/>
                </a:solidFill>
                <a:latin typeface="Arial"/>
                <a:cs typeface="Arial"/>
              </a:rPr>
              <a:t> </a:t>
            </a:r>
            <a:r>
              <a:rPr sz="1800" b="1" spc="-75" dirty="0">
                <a:solidFill>
                  <a:srgbClr val="4E94D9"/>
                </a:solidFill>
                <a:latin typeface="Arial"/>
                <a:cs typeface="Arial"/>
              </a:rPr>
              <a:t>số</a:t>
            </a:r>
            <a:endParaRPr sz="1800">
              <a:latin typeface="Arial"/>
              <a:cs typeface="Arial"/>
            </a:endParaRPr>
          </a:p>
        </p:txBody>
      </p:sp>
      <p:sp>
        <p:nvSpPr>
          <p:cNvPr id="23" name="object 23"/>
          <p:cNvSpPr txBox="1"/>
          <p:nvPr/>
        </p:nvSpPr>
        <p:spPr>
          <a:xfrm>
            <a:off x="1451326" y="4863768"/>
            <a:ext cx="4771390" cy="1670050"/>
          </a:xfrm>
          <a:prstGeom prst="rect">
            <a:avLst/>
          </a:prstGeom>
        </p:spPr>
        <p:txBody>
          <a:bodyPr vert="horz" wrap="square" lIns="0" tIns="12700" rIns="0" bIns="0" rtlCol="0">
            <a:spAutoFit/>
          </a:bodyPr>
          <a:lstStyle/>
          <a:p>
            <a:pPr marL="50800">
              <a:lnSpc>
                <a:spcPts val="2155"/>
              </a:lnSpc>
              <a:spcBef>
                <a:spcPts val="100"/>
              </a:spcBef>
            </a:pPr>
            <a:r>
              <a:rPr sz="1800" spc="-100" dirty="0">
                <a:latin typeface="Arial"/>
                <a:cs typeface="Arial"/>
              </a:rPr>
              <a:t>Trong</a:t>
            </a:r>
            <a:r>
              <a:rPr sz="1800" spc="-155" dirty="0">
                <a:latin typeface="Arial"/>
                <a:cs typeface="Arial"/>
              </a:rPr>
              <a:t> </a:t>
            </a:r>
            <a:r>
              <a:rPr sz="1800" dirty="0">
                <a:latin typeface="Arial"/>
                <a:cs typeface="Arial"/>
              </a:rPr>
              <a:t>đó:</a:t>
            </a:r>
          </a:p>
          <a:p>
            <a:pPr marL="337185" indent="-287020">
              <a:lnSpc>
                <a:spcPts val="2155"/>
              </a:lnSpc>
              <a:buFont typeface="Arial"/>
              <a:buChar char="•"/>
              <a:tabLst>
                <a:tab pos="337185" algn="l"/>
                <a:tab pos="337820" algn="l"/>
              </a:tabLst>
            </a:pPr>
            <a:r>
              <a:rPr sz="1800" spc="-755" dirty="0">
                <a:latin typeface="Cambria Math"/>
                <a:cs typeface="Cambria Math"/>
              </a:rPr>
              <a:t>𝑚</a:t>
            </a:r>
            <a:r>
              <a:rPr sz="1800" spc="-5" dirty="0">
                <a:latin typeface="Cambria Math"/>
                <a:cs typeface="Cambria Math"/>
              </a:rPr>
              <a:t> </a:t>
            </a:r>
            <a:r>
              <a:rPr lang="en-US" sz="1800" spc="-5" dirty="0">
                <a:latin typeface="Cambria Math"/>
                <a:cs typeface="Cambria Math"/>
              </a:rPr>
              <a:t>  </a:t>
            </a:r>
            <a:r>
              <a:rPr sz="1800" spc="5" dirty="0" err="1">
                <a:latin typeface="Arial"/>
                <a:cs typeface="Arial"/>
              </a:rPr>
              <a:t>là</a:t>
            </a:r>
            <a:r>
              <a:rPr sz="1800" spc="-140" dirty="0">
                <a:latin typeface="Arial"/>
                <a:cs typeface="Arial"/>
              </a:rPr>
              <a:t> </a:t>
            </a:r>
            <a:r>
              <a:rPr sz="1800" spc="-20" dirty="0">
                <a:latin typeface="Arial"/>
                <a:cs typeface="Arial"/>
              </a:rPr>
              <a:t>số</a:t>
            </a:r>
            <a:r>
              <a:rPr sz="1800" spc="-140" dirty="0">
                <a:latin typeface="Arial"/>
                <a:cs typeface="Arial"/>
              </a:rPr>
              <a:t> </a:t>
            </a:r>
            <a:r>
              <a:rPr sz="1800" spc="-80" dirty="0">
                <a:latin typeface="Arial"/>
                <a:cs typeface="Arial"/>
              </a:rPr>
              <a:t>lượng</a:t>
            </a:r>
            <a:r>
              <a:rPr sz="1800" spc="-160" dirty="0">
                <a:latin typeface="Arial"/>
                <a:cs typeface="Arial"/>
              </a:rPr>
              <a:t> </a:t>
            </a:r>
            <a:r>
              <a:rPr sz="1800" spc="-5" dirty="0">
                <a:latin typeface="Arial"/>
                <a:cs typeface="Arial"/>
              </a:rPr>
              <a:t>mẫu</a:t>
            </a:r>
            <a:r>
              <a:rPr sz="1800" spc="-140" dirty="0">
                <a:latin typeface="Arial"/>
                <a:cs typeface="Arial"/>
              </a:rPr>
              <a:t> </a:t>
            </a:r>
            <a:r>
              <a:rPr sz="1800" spc="-15" dirty="0">
                <a:latin typeface="Arial"/>
                <a:cs typeface="Arial"/>
              </a:rPr>
              <a:t>đầu</a:t>
            </a:r>
            <a:r>
              <a:rPr sz="1800" spc="-130" dirty="0">
                <a:latin typeface="Arial"/>
                <a:cs typeface="Arial"/>
              </a:rPr>
              <a:t> </a:t>
            </a:r>
            <a:r>
              <a:rPr sz="1800" spc="-50" dirty="0">
                <a:latin typeface="Arial"/>
                <a:cs typeface="Arial"/>
              </a:rPr>
              <a:t>vào</a:t>
            </a:r>
            <a:endParaRPr sz="1800" dirty="0">
              <a:latin typeface="Arial"/>
              <a:cs typeface="Arial"/>
            </a:endParaRPr>
          </a:p>
          <a:p>
            <a:pPr marL="337185" indent="-287020">
              <a:lnSpc>
                <a:spcPct val="100000"/>
              </a:lnSpc>
              <a:buFont typeface="Arial"/>
              <a:buChar char="•"/>
              <a:tabLst>
                <a:tab pos="337185" algn="l"/>
                <a:tab pos="337820" algn="l"/>
              </a:tabLst>
            </a:pPr>
            <a:r>
              <a:rPr lang="vi-VN" sz="1800" spc="-540" dirty="0">
                <a:latin typeface="Cambria Math"/>
                <a:cs typeface="Cambria Math"/>
              </a:rPr>
              <a:t>𝐶</a:t>
            </a:r>
            <a:r>
              <a:rPr lang="en-US" spc="40" dirty="0">
                <a:latin typeface="Cambria Math"/>
                <a:cs typeface="Cambria Math"/>
              </a:rPr>
              <a:t>  </a:t>
            </a:r>
            <a:r>
              <a:rPr sz="1800" spc="5" dirty="0" err="1">
                <a:latin typeface="Arial"/>
                <a:cs typeface="Arial"/>
              </a:rPr>
              <a:t>là</a:t>
            </a:r>
            <a:r>
              <a:rPr sz="1800" spc="-140" dirty="0">
                <a:latin typeface="Arial"/>
                <a:cs typeface="Arial"/>
              </a:rPr>
              <a:t> </a:t>
            </a:r>
            <a:r>
              <a:rPr sz="1800" spc="-20" dirty="0">
                <a:latin typeface="Arial"/>
                <a:cs typeface="Arial"/>
              </a:rPr>
              <a:t>số</a:t>
            </a:r>
            <a:r>
              <a:rPr sz="1800" spc="-140" dirty="0">
                <a:latin typeface="Arial"/>
                <a:cs typeface="Arial"/>
              </a:rPr>
              <a:t> </a:t>
            </a:r>
            <a:r>
              <a:rPr sz="1800" spc="-80" dirty="0">
                <a:latin typeface="Arial"/>
                <a:cs typeface="Arial"/>
              </a:rPr>
              <a:t>lượng</a:t>
            </a:r>
            <a:r>
              <a:rPr sz="1800" spc="-160" dirty="0">
                <a:latin typeface="Arial"/>
                <a:cs typeface="Arial"/>
              </a:rPr>
              <a:t> </a:t>
            </a:r>
            <a:r>
              <a:rPr sz="1800" spc="-20" dirty="0">
                <a:latin typeface="Arial"/>
                <a:cs typeface="Arial"/>
              </a:rPr>
              <a:t>nhãn</a:t>
            </a:r>
            <a:r>
              <a:rPr sz="1800" spc="-150" dirty="0">
                <a:latin typeface="Arial"/>
                <a:cs typeface="Arial"/>
              </a:rPr>
              <a:t> </a:t>
            </a:r>
            <a:r>
              <a:rPr sz="1800" spc="-80" dirty="0">
                <a:latin typeface="Arial"/>
                <a:cs typeface="Arial"/>
              </a:rPr>
              <a:t>(ví</a:t>
            </a:r>
            <a:r>
              <a:rPr sz="1800" spc="-150" dirty="0">
                <a:latin typeface="Arial"/>
                <a:cs typeface="Arial"/>
              </a:rPr>
              <a:t> </a:t>
            </a:r>
            <a:r>
              <a:rPr sz="1800" dirty="0" err="1">
                <a:latin typeface="Arial"/>
                <a:cs typeface="Arial"/>
              </a:rPr>
              <a:t>dụ</a:t>
            </a:r>
            <a:r>
              <a:rPr sz="1800" spc="-135" dirty="0">
                <a:latin typeface="Arial"/>
                <a:cs typeface="Arial"/>
              </a:rPr>
              <a:t> </a:t>
            </a:r>
            <a:r>
              <a:rPr sz="1800" spc="-540" dirty="0">
                <a:latin typeface="Cambria Math"/>
                <a:cs typeface="Cambria Math"/>
              </a:rPr>
              <a:t>𝐶</a:t>
            </a:r>
            <a:r>
              <a:rPr lang="vi-VN" sz="1800" spc="595" dirty="0">
                <a:latin typeface="Cambria Math"/>
                <a:cs typeface="Cambria Math"/>
              </a:rPr>
              <a:t> </a:t>
            </a:r>
            <a:r>
              <a:rPr sz="1800" spc="105" dirty="0">
                <a:latin typeface="Cambria Math"/>
                <a:cs typeface="Cambria Math"/>
              </a:rPr>
              <a:t> </a:t>
            </a:r>
            <a:r>
              <a:rPr sz="1800" spc="-80" dirty="0" err="1">
                <a:latin typeface="Arial"/>
                <a:cs typeface="Arial"/>
              </a:rPr>
              <a:t>với</a:t>
            </a:r>
            <a:r>
              <a:rPr sz="1800" spc="-140" dirty="0">
                <a:latin typeface="Arial"/>
                <a:cs typeface="Arial"/>
              </a:rPr>
              <a:t> </a:t>
            </a:r>
            <a:r>
              <a:rPr lang="en-US" spc="-40" dirty="0">
                <a:latin typeface="Arial"/>
                <a:cs typeface="Arial"/>
              </a:rPr>
              <a:t>10</a:t>
            </a:r>
            <a:r>
              <a:rPr sz="1800" spc="-145" dirty="0">
                <a:latin typeface="Arial"/>
                <a:cs typeface="Arial"/>
              </a:rPr>
              <a:t> </a:t>
            </a:r>
            <a:r>
              <a:rPr sz="1800" spc="10" dirty="0">
                <a:latin typeface="Arial"/>
                <a:cs typeface="Arial"/>
              </a:rPr>
              <a:t>chủ</a:t>
            </a:r>
            <a:r>
              <a:rPr sz="1800" spc="-150" dirty="0">
                <a:latin typeface="Arial"/>
                <a:cs typeface="Arial"/>
              </a:rPr>
              <a:t> </a:t>
            </a:r>
            <a:r>
              <a:rPr sz="1800" spc="-45" dirty="0">
                <a:latin typeface="Arial"/>
                <a:cs typeface="Arial"/>
              </a:rPr>
              <a:t>đề)</a:t>
            </a:r>
            <a:endParaRPr sz="1800" dirty="0">
              <a:latin typeface="Arial"/>
              <a:cs typeface="Arial"/>
            </a:endParaRPr>
          </a:p>
          <a:p>
            <a:pPr marL="337185" indent="-287020">
              <a:lnSpc>
                <a:spcPct val="100000"/>
              </a:lnSpc>
              <a:buFont typeface="Arial"/>
              <a:buChar char="•"/>
              <a:tabLst>
                <a:tab pos="337185" algn="l"/>
                <a:tab pos="337820" algn="l"/>
              </a:tabLst>
            </a:pPr>
            <a:r>
              <a:rPr sz="1800" spc="-475" dirty="0">
                <a:latin typeface="Cambria Math"/>
                <a:cs typeface="Cambria Math"/>
              </a:rPr>
              <a:t>𝜂</a:t>
            </a:r>
            <a:r>
              <a:rPr sz="1800" spc="20" dirty="0">
                <a:latin typeface="Cambria Math"/>
                <a:cs typeface="Cambria Math"/>
              </a:rPr>
              <a:t> </a:t>
            </a:r>
            <a:r>
              <a:rPr lang="en-US" sz="1800" spc="20" dirty="0">
                <a:latin typeface="Cambria Math"/>
                <a:cs typeface="Cambria Math"/>
              </a:rPr>
              <a:t> </a:t>
            </a:r>
            <a:r>
              <a:rPr sz="1800" spc="5" dirty="0" err="1">
                <a:latin typeface="Arial"/>
                <a:cs typeface="Arial"/>
              </a:rPr>
              <a:t>là</a:t>
            </a:r>
            <a:r>
              <a:rPr sz="1800" spc="-140" dirty="0">
                <a:latin typeface="Arial"/>
                <a:cs typeface="Arial"/>
              </a:rPr>
              <a:t> </a:t>
            </a:r>
            <a:r>
              <a:rPr sz="1800" spc="35" dirty="0">
                <a:latin typeface="Arial"/>
                <a:cs typeface="Arial"/>
              </a:rPr>
              <a:t>tốc</a:t>
            </a:r>
            <a:r>
              <a:rPr sz="1800" spc="-125" dirty="0">
                <a:latin typeface="Arial"/>
                <a:cs typeface="Arial"/>
              </a:rPr>
              <a:t> </a:t>
            </a:r>
            <a:r>
              <a:rPr sz="1800" spc="-5" dirty="0">
                <a:latin typeface="Arial"/>
                <a:cs typeface="Arial"/>
              </a:rPr>
              <a:t>độ</a:t>
            </a:r>
            <a:r>
              <a:rPr sz="1800" spc="-140" dirty="0">
                <a:latin typeface="Arial"/>
                <a:cs typeface="Arial"/>
              </a:rPr>
              <a:t> </a:t>
            </a:r>
            <a:r>
              <a:rPr sz="1800" spc="5" dirty="0">
                <a:latin typeface="Arial"/>
                <a:cs typeface="Arial"/>
              </a:rPr>
              <a:t>học</a:t>
            </a:r>
            <a:r>
              <a:rPr sz="1800" spc="-150" dirty="0">
                <a:latin typeface="Arial"/>
                <a:cs typeface="Arial"/>
              </a:rPr>
              <a:t> </a:t>
            </a:r>
            <a:r>
              <a:rPr sz="1800" spc="-30" dirty="0">
                <a:latin typeface="Arial"/>
                <a:cs typeface="Arial"/>
              </a:rPr>
              <a:t>(learning</a:t>
            </a:r>
            <a:r>
              <a:rPr sz="1800" spc="-175" dirty="0">
                <a:latin typeface="Arial"/>
                <a:cs typeface="Arial"/>
              </a:rPr>
              <a:t> </a:t>
            </a:r>
            <a:r>
              <a:rPr sz="1800" spc="-35" dirty="0">
                <a:latin typeface="Arial"/>
                <a:cs typeface="Arial"/>
              </a:rPr>
              <a:t>rate)</a:t>
            </a:r>
            <a:endParaRPr sz="1800" dirty="0">
              <a:latin typeface="Arial"/>
              <a:cs typeface="Arial"/>
            </a:endParaRPr>
          </a:p>
          <a:p>
            <a:pPr marL="337185" indent="-287020">
              <a:lnSpc>
                <a:spcPct val="100000"/>
              </a:lnSpc>
              <a:buFont typeface="Arial"/>
              <a:buChar char="•"/>
              <a:tabLst>
                <a:tab pos="337185" algn="l"/>
                <a:tab pos="337820" algn="l"/>
              </a:tabLst>
            </a:pPr>
            <a:r>
              <a:rPr sz="1800" spc="-360" dirty="0">
                <a:latin typeface="Cambria Math"/>
                <a:cs typeface="Cambria Math"/>
              </a:rPr>
              <a:t>𝑦</a:t>
            </a:r>
            <a:r>
              <a:rPr sz="1950" spc="-540" baseline="-14957" dirty="0">
                <a:latin typeface="Cambria Math"/>
                <a:cs typeface="Cambria Math"/>
              </a:rPr>
              <a:t>𝑖𝑖</a:t>
            </a:r>
            <a:r>
              <a:rPr sz="1950" spc="292" baseline="-14957" dirty="0">
                <a:latin typeface="Cambria Math"/>
                <a:cs typeface="Cambria Math"/>
              </a:rPr>
              <a:t> </a:t>
            </a:r>
            <a:r>
              <a:rPr lang="en-US" sz="1950" spc="292" baseline="-14957" dirty="0">
                <a:latin typeface="Cambria Math"/>
                <a:cs typeface="Cambria Math"/>
              </a:rPr>
              <a:t> </a:t>
            </a:r>
            <a:r>
              <a:rPr sz="1800" spc="5" dirty="0" err="1">
                <a:latin typeface="Arial"/>
                <a:cs typeface="Arial"/>
              </a:rPr>
              <a:t>là</a:t>
            </a:r>
            <a:r>
              <a:rPr sz="1800" spc="-140" dirty="0">
                <a:latin typeface="Arial"/>
                <a:cs typeface="Arial"/>
              </a:rPr>
              <a:t> </a:t>
            </a:r>
            <a:r>
              <a:rPr sz="1800" spc="-50" dirty="0">
                <a:latin typeface="Arial"/>
                <a:cs typeface="Arial"/>
              </a:rPr>
              <a:t>giá</a:t>
            </a:r>
            <a:r>
              <a:rPr sz="1800" spc="-145" dirty="0">
                <a:latin typeface="Arial"/>
                <a:cs typeface="Arial"/>
              </a:rPr>
              <a:t> </a:t>
            </a:r>
            <a:r>
              <a:rPr sz="1800" spc="30" dirty="0">
                <a:latin typeface="Arial"/>
                <a:cs typeface="Arial"/>
              </a:rPr>
              <a:t>trị</a:t>
            </a:r>
            <a:r>
              <a:rPr sz="1800" spc="-140" dirty="0">
                <a:latin typeface="Arial"/>
                <a:cs typeface="Arial"/>
              </a:rPr>
              <a:t> </a:t>
            </a:r>
            <a:r>
              <a:rPr sz="1800" spc="-10" dirty="0">
                <a:latin typeface="Arial"/>
                <a:cs typeface="Arial"/>
              </a:rPr>
              <a:t>thực</a:t>
            </a:r>
            <a:r>
              <a:rPr sz="1800" spc="-125" dirty="0">
                <a:latin typeface="Arial"/>
                <a:cs typeface="Arial"/>
              </a:rPr>
              <a:t> </a:t>
            </a:r>
            <a:r>
              <a:rPr sz="1800" dirty="0">
                <a:latin typeface="Arial"/>
                <a:cs typeface="Arial"/>
              </a:rPr>
              <a:t>tế</a:t>
            </a:r>
          </a:p>
          <a:p>
            <a:pPr marL="337185" indent="-287020">
              <a:lnSpc>
                <a:spcPct val="100000"/>
              </a:lnSpc>
              <a:buFont typeface="Arial"/>
              <a:buChar char="•"/>
              <a:tabLst>
                <a:tab pos="336550" algn="l"/>
                <a:tab pos="337820" algn="l"/>
              </a:tabLst>
            </a:pPr>
            <a:r>
              <a:rPr lang="en-US" spc="5" dirty="0" err="1">
                <a:latin typeface="Arial"/>
                <a:cs typeface="Arial"/>
              </a:rPr>
              <a:t>y’i</a:t>
            </a:r>
            <a:r>
              <a:rPr lang="en-US" spc="5" dirty="0">
                <a:latin typeface="Arial"/>
                <a:cs typeface="Arial"/>
              </a:rPr>
              <a:t> </a:t>
            </a:r>
            <a:r>
              <a:rPr sz="1800" spc="5" dirty="0" err="1">
                <a:latin typeface="Arial"/>
                <a:cs typeface="Arial"/>
              </a:rPr>
              <a:t>là</a:t>
            </a:r>
            <a:r>
              <a:rPr sz="1800" spc="-140" dirty="0">
                <a:latin typeface="Arial"/>
                <a:cs typeface="Arial"/>
              </a:rPr>
              <a:t> </a:t>
            </a:r>
            <a:r>
              <a:rPr sz="1800" spc="-50" dirty="0">
                <a:latin typeface="Arial"/>
                <a:cs typeface="Arial"/>
              </a:rPr>
              <a:t>giá</a:t>
            </a:r>
            <a:r>
              <a:rPr sz="1800" spc="-140" dirty="0">
                <a:latin typeface="Arial"/>
                <a:cs typeface="Arial"/>
              </a:rPr>
              <a:t> </a:t>
            </a:r>
            <a:r>
              <a:rPr sz="1800" spc="30" dirty="0">
                <a:latin typeface="Arial"/>
                <a:cs typeface="Arial"/>
              </a:rPr>
              <a:t>trị</a:t>
            </a:r>
            <a:r>
              <a:rPr sz="1800" spc="-140" dirty="0">
                <a:latin typeface="Arial"/>
                <a:cs typeface="Arial"/>
              </a:rPr>
              <a:t> </a:t>
            </a:r>
            <a:r>
              <a:rPr sz="1800" spc="-65" dirty="0" err="1">
                <a:latin typeface="Arial"/>
                <a:cs typeface="Arial"/>
              </a:rPr>
              <a:t>dự</a:t>
            </a:r>
            <a:r>
              <a:rPr sz="1800" spc="-125" dirty="0">
                <a:latin typeface="Arial"/>
                <a:cs typeface="Arial"/>
              </a:rPr>
              <a:t> </a:t>
            </a:r>
            <a:r>
              <a:rPr sz="1800" spc="-15" dirty="0" err="1">
                <a:latin typeface="Arial"/>
                <a:cs typeface="Arial"/>
              </a:rPr>
              <a:t>đoán</a:t>
            </a:r>
            <a:endParaRPr sz="1800" dirty="0">
              <a:latin typeface="Arial"/>
              <a:cs typeface="Arial"/>
            </a:endParaRPr>
          </a:p>
        </p:txBody>
      </p:sp>
      <p:pic>
        <p:nvPicPr>
          <p:cNvPr id="25" name="Hình ảnh 24">
            <a:extLst>
              <a:ext uri="{FF2B5EF4-FFF2-40B4-BE49-F238E27FC236}">
                <a16:creationId xmlns:a16="http://schemas.microsoft.com/office/drawing/2014/main" id="{87A200B9-98E0-DF3B-F254-97E6C00F7894}"/>
              </a:ext>
            </a:extLst>
          </p:cNvPr>
          <p:cNvPicPr>
            <a:picLocks noChangeAspect="1"/>
          </p:cNvPicPr>
          <p:nvPr/>
        </p:nvPicPr>
        <p:blipFill>
          <a:blip r:embed="rId2"/>
          <a:stretch>
            <a:fillRect/>
          </a:stretch>
        </p:blipFill>
        <p:spPr>
          <a:xfrm>
            <a:off x="2985134" y="1910871"/>
            <a:ext cx="4628516" cy="1200545"/>
          </a:xfrm>
          <a:prstGeom prst="rect">
            <a:avLst/>
          </a:prstGeom>
        </p:spPr>
      </p:pic>
      <p:pic>
        <p:nvPicPr>
          <p:cNvPr id="27" name="Hình ảnh 26">
            <a:extLst>
              <a:ext uri="{FF2B5EF4-FFF2-40B4-BE49-F238E27FC236}">
                <a16:creationId xmlns:a16="http://schemas.microsoft.com/office/drawing/2014/main" id="{303F7E49-18CD-751D-681F-DDC1077036AB}"/>
              </a:ext>
            </a:extLst>
          </p:cNvPr>
          <p:cNvPicPr>
            <a:picLocks noChangeAspect="1"/>
          </p:cNvPicPr>
          <p:nvPr/>
        </p:nvPicPr>
        <p:blipFill>
          <a:blip r:embed="rId3"/>
          <a:stretch>
            <a:fillRect/>
          </a:stretch>
        </p:blipFill>
        <p:spPr>
          <a:xfrm>
            <a:off x="2667000" y="3550729"/>
            <a:ext cx="5630061" cy="12574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D208C-A220-2E90-8520-205C7F26529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EBDA56-78DD-419B-DF16-580346BA70F8}"/>
              </a:ext>
            </a:extLst>
          </p:cNvPr>
          <p:cNvSpPr txBox="1">
            <a:spLocks noGrp="1"/>
          </p:cNvSpPr>
          <p:nvPr>
            <p:ph type="title"/>
          </p:nvPr>
        </p:nvSpPr>
        <p:spPr>
          <a:xfrm>
            <a:off x="916939" y="461390"/>
            <a:ext cx="7806690" cy="987899"/>
          </a:xfrm>
          <a:prstGeom prst="rect">
            <a:avLst/>
          </a:prstGeom>
        </p:spPr>
        <p:txBody>
          <a:bodyPr vert="horz" wrap="square" lIns="0" tIns="12700" rIns="0" bIns="0" rtlCol="0">
            <a:spAutoFit/>
          </a:bodyPr>
          <a:lstStyle/>
          <a:p>
            <a:pPr marL="12700">
              <a:lnSpc>
                <a:spcPts val="2510"/>
              </a:lnSpc>
              <a:spcBef>
                <a:spcPts val="100"/>
              </a:spcBef>
            </a:pPr>
            <a:r>
              <a:rPr spc="30" dirty="0"/>
              <a:t>3.</a:t>
            </a:r>
            <a:r>
              <a:rPr spc="-85" dirty="0"/>
              <a:t> </a:t>
            </a:r>
            <a:r>
              <a:rPr spc="210" dirty="0"/>
              <a:t>CÁC</a:t>
            </a:r>
            <a:r>
              <a:rPr spc="-65" dirty="0"/>
              <a:t> MÔ</a:t>
            </a:r>
            <a:r>
              <a:rPr spc="-105" dirty="0"/>
              <a:t> </a:t>
            </a:r>
            <a:r>
              <a:rPr spc="65" dirty="0"/>
              <a:t>HÌNH/PHƯƠNG</a:t>
            </a:r>
            <a:r>
              <a:rPr spc="-80" dirty="0"/>
              <a:t> </a:t>
            </a:r>
            <a:r>
              <a:rPr spc="95" dirty="0"/>
              <a:t>PHÁP</a:t>
            </a:r>
            <a:r>
              <a:rPr spc="-105" dirty="0"/>
              <a:t> </a:t>
            </a:r>
            <a:r>
              <a:rPr spc="85" dirty="0"/>
              <a:t>PHÂN</a:t>
            </a:r>
            <a:r>
              <a:rPr spc="-95" dirty="0"/>
              <a:t> </a:t>
            </a:r>
            <a:r>
              <a:rPr spc="45" dirty="0"/>
              <a:t>LOẠI</a:t>
            </a:r>
            <a:br>
              <a:rPr lang="en-US" spc="45" dirty="0"/>
            </a:br>
            <a:br>
              <a:rPr lang="en-US" spc="45" dirty="0"/>
            </a:br>
            <a:r>
              <a:rPr lang="vi-VN" sz="3200" b="0" i="0" dirty="0" err="1">
                <a:solidFill>
                  <a:schemeClr val="tx1"/>
                </a:solidFill>
                <a:effectLst/>
                <a:latin typeface="Arial" panose="020B0604020202020204" pitchFamily="34" charset="0"/>
              </a:rPr>
              <a:t>Multi-layer</a:t>
            </a:r>
            <a:r>
              <a:rPr lang="vi-VN" sz="3200" b="0" i="0" dirty="0">
                <a:solidFill>
                  <a:schemeClr val="tx1"/>
                </a:solidFill>
                <a:effectLst/>
                <a:latin typeface="Arial" panose="020B0604020202020204" pitchFamily="34" charset="0"/>
              </a:rPr>
              <a:t> </a:t>
            </a:r>
            <a:r>
              <a:rPr lang="vi-VN" sz="3200" b="0" i="0" dirty="0" err="1">
                <a:solidFill>
                  <a:schemeClr val="tx1"/>
                </a:solidFill>
                <a:effectLst/>
                <a:latin typeface="Arial" panose="020B0604020202020204" pitchFamily="34" charset="0"/>
              </a:rPr>
              <a:t>Perceptron</a:t>
            </a:r>
            <a:endParaRPr lang="vi-VN" sz="4800" b="0" dirty="0">
              <a:solidFill>
                <a:schemeClr val="tx1"/>
              </a:solidFill>
              <a:latin typeface="Arial"/>
              <a:cs typeface="Arial"/>
            </a:endParaRPr>
          </a:p>
        </p:txBody>
      </p:sp>
      <p:pic>
        <p:nvPicPr>
          <p:cNvPr id="2050" name="Picture 2">
            <a:extLst>
              <a:ext uri="{FF2B5EF4-FFF2-40B4-BE49-F238E27FC236}">
                <a16:creationId xmlns:a16="http://schemas.microsoft.com/office/drawing/2014/main" id="{9F681DC3-1FAC-063B-98FC-81F876E0E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423" y="3048000"/>
            <a:ext cx="3819525" cy="2069992"/>
          </a:xfrm>
          <a:prstGeom prst="rect">
            <a:avLst/>
          </a:prstGeom>
          <a:noFill/>
          <a:extLst>
            <a:ext uri="{909E8E84-426E-40DD-AFC4-6F175D3DCCD1}">
              <a14:hiddenFill xmlns:a14="http://schemas.microsoft.com/office/drawing/2010/main">
                <a:solidFill>
                  <a:srgbClr val="FFFFFF"/>
                </a:solidFill>
              </a14:hiddenFill>
            </a:ext>
          </a:extLst>
        </p:spPr>
      </p:pic>
      <p:sp>
        <p:nvSpPr>
          <p:cNvPr id="3" name="Hộp Văn bản 2">
            <a:extLst>
              <a:ext uri="{FF2B5EF4-FFF2-40B4-BE49-F238E27FC236}">
                <a16:creationId xmlns:a16="http://schemas.microsoft.com/office/drawing/2014/main" id="{F75B0154-2981-9523-508B-B3F4322B6430}"/>
              </a:ext>
            </a:extLst>
          </p:cNvPr>
          <p:cNvSpPr txBox="1"/>
          <p:nvPr/>
        </p:nvSpPr>
        <p:spPr>
          <a:xfrm>
            <a:off x="801369" y="1544479"/>
            <a:ext cx="10589261" cy="646331"/>
          </a:xfrm>
          <a:prstGeom prst="rect">
            <a:avLst/>
          </a:prstGeom>
          <a:noFill/>
        </p:spPr>
        <p:txBody>
          <a:bodyPr wrap="square" rtlCol="0">
            <a:spAutoFit/>
          </a:bodyPr>
          <a:lstStyle/>
          <a:p>
            <a:r>
              <a:rPr lang="vi-VN" dirty="0"/>
              <a:t>MLP là một dạng mạng nơ-</a:t>
            </a:r>
            <a:r>
              <a:rPr lang="vi-VN" dirty="0" err="1"/>
              <a:t>ron</a:t>
            </a:r>
            <a:r>
              <a:rPr lang="vi-VN" dirty="0"/>
              <a:t> nhân tạo, mô phỏng cách các nơ-</a:t>
            </a:r>
            <a:r>
              <a:rPr lang="vi-VN" dirty="0" err="1"/>
              <a:t>ron</a:t>
            </a:r>
            <a:r>
              <a:rPr lang="vi-VN" dirty="0"/>
              <a:t> sinh học hoạt động để xử lý thông tin. Nó bao gồm nhiều lớp (</a:t>
            </a:r>
            <a:r>
              <a:rPr lang="vi-VN" dirty="0" err="1"/>
              <a:t>layer</a:t>
            </a:r>
            <a:r>
              <a:rPr lang="vi-VN" dirty="0"/>
              <a:t>) các nơ-</a:t>
            </a:r>
            <a:r>
              <a:rPr lang="vi-VN" dirty="0" err="1"/>
              <a:t>ron</a:t>
            </a:r>
            <a:r>
              <a:rPr lang="vi-VN" dirty="0"/>
              <a:t> được kết nối với nhau.</a:t>
            </a:r>
          </a:p>
        </p:txBody>
      </p:sp>
      <p:sp>
        <p:nvSpPr>
          <p:cNvPr id="5" name="Hộp Văn bản 4">
            <a:extLst>
              <a:ext uri="{FF2B5EF4-FFF2-40B4-BE49-F238E27FC236}">
                <a16:creationId xmlns:a16="http://schemas.microsoft.com/office/drawing/2014/main" id="{B42CFEC5-299B-2845-98FA-6E4B08FA791C}"/>
              </a:ext>
            </a:extLst>
          </p:cNvPr>
          <p:cNvSpPr txBox="1"/>
          <p:nvPr/>
        </p:nvSpPr>
        <p:spPr>
          <a:xfrm>
            <a:off x="4820284" y="2438400"/>
            <a:ext cx="6781800" cy="3139321"/>
          </a:xfrm>
          <a:prstGeom prst="rect">
            <a:avLst/>
          </a:prstGeom>
          <a:noFill/>
        </p:spPr>
        <p:txBody>
          <a:bodyPr wrap="square" rtlCol="0">
            <a:spAutoFit/>
          </a:bodyPr>
          <a:lstStyle/>
          <a:p>
            <a:r>
              <a:rPr lang="vi-VN" b="1" dirty="0"/>
              <a:t>Lớp đầu vào (</a:t>
            </a:r>
            <a:r>
              <a:rPr lang="vi-VN" b="1" dirty="0" err="1"/>
              <a:t>Input</a:t>
            </a:r>
            <a:r>
              <a:rPr lang="vi-VN" b="1" dirty="0"/>
              <a:t> </a:t>
            </a:r>
            <a:r>
              <a:rPr lang="vi-VN" b="1" dirty="0" err="1"/>
              <a:t>Layer</a:t>
            </a:r>
            <a:r>
              <a:rPr lang="vi-VN" b="1" dirty="0"/>
              <a:t>):</a:t>
            </a:r>
            <a:r>
              <a:rPr lang="vi-VN" dirty="0"/>
              <a:t> Nhận dữ liệu đầu vào (</a:t>
            </a:r>
            <a:r>
              <a:rPr lang="vi-VN" dirty="0" err="1"/>
              <a:t>vector</a:t>
            </a:r>
            <a:r>
              <a:rPr lang="vi-VN" dirty="0"/>
              <a:t> đặc trưng TF-IDF của bài báo). Số lượng nơ-</a:t>
            </a:r>
            <a:r>
              <a:rPr lang="vi-VN" dirty="0" err="1"/>
              <a:t>ron</a:t>
            </a:r>
            <a:r>
              <a:rPr lang="vi-VN" dirty="0"/>
              <a:t> bằng số chiều của </a:t>
            </a:r>
            <a:r>
              <a:rPr lang="vi-VN" dirty="0" err="1"/>
              <a:t>vector</a:t>
            </a:r>
            <a:r>
              <a:rPr lang="vi-VN" dirty="0"/>
              <a:t> đặc trưng</a:t>
            </a:r>
            <a:r>
              <a:rPr lang="en-US" dirty="0"/>
              <a:t>.</a:t>
            </a:r>
          </a:p>
          <a:p>
            <a:br>
              <a:rPr lang="en-US" dirty="0"/>
            </a:br>
            <a:r>
              <a:rPr lang="vi-VN" b="1" dirty="0"/>
              <a:t>Các lớp ẩn (</a:t>
            </a:r>
            <a:r>
              <a:rPr lang="vi-VN" b="1" dirty="0" err="1"/>
              <a:t>Hidden</a:t>
            </a:r>
            <a:r>
              <a:rPr lang="vi-VN" b="1" dirty="0"/>
              <a:t> </a:t>
            </a:r>
            <a:r>
              <a:rPr lang="vi-VN" b="1" dirty="0" err="1"/>
              <a:t>Layers</a:t>
            </a:r>
            <a:r>
              <a:rPr lang="vi-VN" b="1" dirty="0"/>
              <a:t>):</a:t>
            </a:r>
            <a:r>
              <a:rPr lang="vi-VN" dirty="0"/>
              <a:t> Nằm giữa lớp đầu vào và lớp đầu ra. Đây là nơi các tính toán phức tạp và trích xuất đặc trưng phi tuyến tính diễn ra. Có thể có một hoặc nhiều lớp ẩn.</a:t>
            </a:r>
            <a:endParaRPr lang="en-US" dirty="0"/>
          </a:p>
          <a:p>
            <a:endParaRPr lang="en-US" b="1" dirty="0"/>
          </a:p>
          <a:p>
            <a:r>
              <a:rPr lang="vi-VN" b="1" dirty="0"/>
              <a:t>Lớp đầu ra (</a:t>
            </a:r>
            <a:r>
              <a:rPr lang="vi-VN" b="1" dirty="0" err="1"/>
              <a:t>Output</a:t>
            </a:r>
            <a:r>
              <a:rPr lang="vi-VN" b="1" dirty="0"/>
              <a:t> </a:t>
            </a:r>
            <a:r>
              <a:rPr lang="vi-VN" b="1" dirty="0" err="1"/>
              <a:t>Layer</a:t>
            </a:r>
            <a:r>
              <a:rPr lang="vi-VN" b="1" dirty="0"/>
              <a:t>):</a:t>
            </a:r>
            <a:r>
              <a:rPr lang="vi-VN" dirty="0"/>
              <a:t> Tạo ra kết quả dự đoán. Số lượng nơ-</a:t>
            </a:r>
            <a:r>
              <a:rPr lang="vi-VN" dirty="0" err="1"/>
              <a:t>ron</a:t>
            </a:r>
            <a:r>
              <a:rPr lang="vi-VN" dirty="0"/>
              <a:t> bằng số lượng chủ đề cần phân loại. Sử dụng hàm kích hoạt </a:t>
            </a:r>
            <a:r>
              <a:rPr lang="vi-VN" dirty="0" err="1"/>
              <a:t>Softmax</a:t>
            </a:r>
            <a:r>
              <a:rPr lang="vi-VN" dirty="0"/>
              <a:t> để tạo ra phân phối xác suất cho các chủ đề.</a:t>
            </a:r>
          </a:p>
        </p:txBody>
      </p:sp>
    </p:spTree>
    <p:extLst>
      <p:ext uri="{BB962C8B-B14F-4D97-AF65-F5344CB8AC3E}">
        <p14:creationId xmlns:p14="http://schemas.microsoft.com/office/powerpoint/2010/main" val="1490944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5F0E0-4246-8ADF-C425-EEEC4D05E8A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25E91AB-3769-3F3A-1469-5471C0300358}"/>
              </a:ext>
            </a:extLst>
          </p:cNvPr>
          <p:cNvSpPr txBox="1">
            <a:spLocks noGrp="1"/>
          </p:cNvSpPr>
          <p:nvPr>
            <p:ph type="title"/>
          </p:nvPr>
        </p:nvSpPr>
        <p:spPr>
          <a:xfrm>
            <a:off x="916939" y="461390"/>
            <a:ext cx="7806690" cy="987899"/>
          </a:xfrm>
          <a:prstGeom prst="rect">
            <a:avLst/>
          </a:prstGeom>
        </p:spPr>
        <p:txBody>
          <a:bodyPr vert="horz" wrap="square" lIns="0" tIns="12700" rIns="0" bIns="0" rtlCol="0">
            <a:spAutoFit/>
          </a:bodyPr>
          <a:lstStyle/>
          <a:p>
            <a:pPr marL="12700">
              <a:lnSpc>
                <a:spcPts val="2510"/>
              </a:lnSpc>
              <a:spcBef>
                <a:spcPts val="100"/>
              </a:spcBef>
            </a:pPr>
            <a:r>
              <a:rPr spc="30" dirty="0"/>
              <a:t>3.</a:t>
            </a:r>
            <a:r>
              <a:rPr spc="-85" dirty="0"/>
              <a:t> </a:t>
            </a:r>
            <a:r>
              <a:rPr spc="210" dirty="0"/>
              <a:t>CÁC</a:t>
            </a:r>
            <a:r>
              <a:rPr spc="-65" dirty="0"/>
              <a:t> MÔ</a:t>
            </a:r>
            <a:r>
              <a:rPr spc="-105" dirty="0"/>
              <a:t> </a:t>
            </a:r>
            <a:r>
              <a:rPr spc="65" dirty="0"/>
              <a:t>HÌNH/PHƯƠNG</a:t>
            </a:r>
            <a:r>
              <a:rPr spc="-80" dirty="0"/>
              <a:t> </a:t>
            </a:r>
            <a:r>
              <a:rPr spc="95" dirty="0"/>
              <a:t>PHÁP</a:t>
            </a:r>
            <a:r>
              <a:rPr spc="-105" dirty="0"/>
              <a:t> </a:t>
            </a:r>
            <a:r>
              <a:rPr spc="85" dirty="0"/>
              <a:t>PHÂN</a:t>
            </a:r>
            <a:r>
              <a:rPr spc="-95" dirty="0"/>
              <a:t> </a:t>
            </a:r>
            <a:r>
              <a:rPr spc="45" dirty="0"/>
              <a:t>LOẠI</a:t>
            </a:r>
            <a:br>
              <a:rPr lang="en-US" spc="45" dirty="0"/>
            </a:br>
            <a:br>
              <a:rPr lang="en-US" spc="45" dirty="0"/>
            </a:br>
            <a:r>
              <a:rPr lang="vi-VN" sz="3200" b="0" i="0" dirty="0" err="1">
                <a:solidFill>
                  <a:schemeClr val="tx1"/>
                </a:solidFill>
                <a:effectLst/>
                <a:latin typeface="Arial" panose="020B0604020202020204" pitchFamily="34" charset="0"/>
              </a:rPr>
              <a:t>Multi-layer</a:t>
            </a:r>
            <a:r>
              <a:rPr lang="vi-VN" sz="3200" b="0" i="0" dirty="0">
                <a:solidFill>
                  <a:schemeClr val="tx1"/>
                </a:solidFill>
                <a:effectLst/>
                <a:latin typeface="Arial" panose="020B0604020202020204" pitchFamily="34" charset="0"/>
              </a:rPr>
              <a:t> </a:t>
            </a:r>
            <a:r>
              <a:rPr lang="vi-VN" sz="3200" b="0" i="0" dirty="0" err="1">
                <a:solidFill>
                  <a:schemeClr val="tx1"/>
                </a:solidFill>
                <a:effectLst/>
                <a:latin typeface="Arial" panose="020B0604020202020204" pitchFamily="34" charset="0"/>
              </a:rPr>
              <a:t>Perceptron</a:t>
            </a:r>
            <a:endParaRPr lang="vi-VN" sz="4800" b="0" dirty="0">
              <a:solidFill>
                <a:schemeClr val="tx1"/>
              </a:solidFill>
              <a:latin typeface="Arial"/>
              <a:cs typeface="Arial"/>
            </a:endParaRPr>
          </a:p>
        </p:txBody>
      </p:sp>
      <p:sp>
        <p:nvSpPr>
          <p:cNvPr id="6" name="Hộp Văn bản 5">
            <a:extLst>
              <a:ext uri="{FF2B5EF4-FFF2-40B4-BE49-F238E27FC236}">
                <a16:creationId xmlns:a16="http://schemas.microsoft.com/office/drawing/2014/main" id="{33692D12-50C3-7451-9DDB-67A9684179D1}"/>
              </a:ext>
            </a:extLst>
          </p:cNvPr>
          <p:cNvSpPr txBox="1"/>
          <p:nvPr/>
        </p:nvSpPr>
        <p:spPr>
          <a:xfrm>
            <a:off x="687069" y="1905000"/>
            <a:ext cx="10817861"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Số lượng lớp ẩn (</a:t>
            </a:r>
            <a:r>
              <a:rPr kumimoji="0" lang="vi-VN" altLang="vi-VN"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hidden_layer_sizes</a:t>
            </a: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Xác định cấu trúc của các lớp ẩn (ví dụ: (100,) cho một lớp ẩn 100 nơ-</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ron</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(50, 30) cho hai lớp ẩn với 50 và 30 nơ-</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ron</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Ảnh hưởng đến khả năng học các mối quan hệ phức tạp.</a:t>
            </a:r>
          </a:p>
          <a:p>
            <a:pPr marL="0" marR="0" lvl="0" indent="0" algn="l" defTabSz="914400" rtl="0" eaLnBrk="0" fontAlgn="base" latinLnBrk="0" hangingPunct="0">
              <a:lnSpc>
                <a:spcPct val="100000"/>
              </a:lnSpc>
              <a:spcBef>
                <a:spcPct val="0"/>
              </a:spcBef>
              <a:spcAft>
                <a:spcPct val="0"/>
              </a:spcAft>
              <a:buClrTx/>
              <a:buSzTx/>
              <a:tabLst/>
            </a:pP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Hàm kích hoạt (</a:t>
            </a:r>
            <a:r>
              <a:rPr kumimoji="0" lang="vi-VN" altLang="vi-VN"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activation</a:t>
            </a: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Hàm phi tuyến tính áp dụng sau mỗi lớp (ví dụ: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relu</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tanh,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logistic</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relu</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Rectified</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Linear</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Unit</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là phổ biến. Ảnh hưởng đến khả năng học các mẫu phi tuyến.</a:t>
            </a:r>
          </a:p>
          <a:p>
            <a:pPr marL="0" marR="0" lvl="0" indent="0" algn="l" defTabSz="914400" rtl="0" eaLnBrk="0" fontAlgn="base" latinLnBrk="0" hangingPunct="0">
              <a:lnSpc>
                <a:spcPct val="100000"/>
              </a:lnSpc>
              <a:spcBef>
                <a:spcPct val="0"/>
              </a:spcBef>
              <a:spcAft>
                <a:spcPct val="0"/>
              </a:spcAft>
              <a:buClrTx/>
              <a:buSzTx/>
              <a:tabLst/>
            </a:pP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Thuật toán tối ưu hóa (</a:t>
            </a:r>
            <a:r>
              <a:rPr kumimoji="0" lang="vi-VN" altLang="vi-VN"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solver</a:t>
            </a: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Phương pháp được sử dụng để cập nhật trọng số của mạng trong quá trình huấn luyện (ví dụ: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adam</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sgd</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lbfgs</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adam</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thường là lựa chọn tốt mặc định. Ảnh hưởng đến tốc độ và hiệu quả hội tụ.</a:t>
            </a:r>
          </a:p>
          <a:p>
            <a:pPr marL="0" marR="0" lvl="0" indent="0" algn="l" defTabSz="914400" rtl="0" eaLnBrk="0" fontAlgn="base" latinLnBrk="0" hangingPunct="0">
              <a:lnSpc>
                <a:spcPct val="100000"/>
              </a:lnSpc>
              <a:spcBef>
                <a:spcPct val="0"/>
              </a:spcBef>
              <a:spcAft>
                <a:spcPct val="0"/>
              </a:spcAft>
              <a:buClrTx/>
              <a:buSzTx/>
              <a:tabLst/>
            </a:pP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Tốc độ học (</a:t>
            </a:r>
            <a:r>
              <a:rPr kumimoji="0" lang="vi-VN" altLang="vi-VN"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learning_rate_init</a:t>
            </a: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Kích thước bước nhảy khi cập nhật trọng số. Tốc độ học quá cao có thể bỏ qua điểm tối ưu, quá thấp có thể khiến quá trình huấn luyện rất chậm.</a:t>
            </a:r>
          </a:p>
          <a:p>
            <a:pPr marL="0" marR="0" lvl="0" indent="0" algn="l" defTabSz="914400" rtl="0" eaLnBrk="0" fontAlgn="base" latinLnBrk="0" hangingPunct="0">
              <a:lnSpc>
                <a:spcPct val="100000"/>
              </a:lnSpc>
              <a:spcBef>
                <a:spcPct val="0"/>
              </a:spcBef>
              <a:spcAft>
                <a:spcPct val="0"/>
              </a:spcAft>
              <a:buClrTx/>
              <a:buSzTx/>
              <a:tabLst/>
            </a:pP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Số lượng </a:t>
            </a:r>
            <a:r>
              <a:rPr kumimoji="0" lang="vi-VN" altLang="vi-VN"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epoch</a:t>
            </a: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vi-VN"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max_iter</a:t>
            </a: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Số lần toàn bộ tập huấn luyện được đưa qua mạng. Cần đủ lớn để mạng hội tụ, nhưng quá lớn có thể gây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overfitting</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Tham số điều chuẩn (</a:t>
            </a:r>
            <a:r>
              <a:rPr kumimoji="0" lang="vi-VN" altLang="vi-VN"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alpha</a:t>
            </a:r>
            <a:r>
              <a:rPr kumimoji="0" lang="vi-VN" altLang="vi-VN"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Thêm một số hạng vào hàm mất mát để phạt các trọng số lớn, giúp ngăn chặn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overfitting</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(thường là L2 </a:t>
            </a:r>
            <a:r>
              <a:rPr kumimoji="0" lang="vi-VN" altLang="vi-VN"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regularization</a:t>
            </a:r>
            <a:r>
              <a:rPr kumimoji="0" lang="vi-VN" altLang="vi-VN"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9" name="Rectangle 4">
            <a:extLst>
              <a:ext uri="{FF2B5EF4-FFF2-40B4-BE49-F238E27FC236}">
                <a16:creationId xmlns:a16="http://schemas.microsoft.com/office/drawing/2014/main" id="{0F6F2499-E4F3-F677-161D-10D841E508CE}"/>
              </a:ext>
            </a:extLst>
          </p:cNvPr>
          <p:cNvSpPr>
            <a:spLocks noChangeArrowheads="1"/>
          </p:cNvSpPr>
          <p:nvPr/>
        </p:nvSpPr>
        <p:spPr bwMode="auto">
          <a:xfrm>
            <a:off x="784530" y="1644134"/>
            <a:ext cx="10264469" cy="468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10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3964" y="3033103"/>
            <a:ext cx="7815580" cy="696595"/>
          </a:xfrm>
          <a:prstGeom prst="rect">
            <a:avLst/>
          </a:prstGeom>
        </p:spPr>
        <p:txBody>
          <a:bodyPr vert="horz" wrap="square" lIns="0" tIns="13335" rIns="0" bIns="0" rtlCol="0">
            <a:spAutoFit/>
          </a:bodyPr>
          <a:lstStyle/>
          <a:p>
            <a:pPr marL="12700">
              <a:lnSpc>
                <a:spcPct val="100000"/>
              </a:lnSpc>
              <a:spcBef>
                <a:spcPts val="105"/>
              </a:spcBef>
            </a:pPr>
            <a:r>
              <a:rPr sz="4400" spc="-5" dirty="0">
                <a:latin typeface="Arial"/>
                <a:cs typeface="Arial"/>
              </a:rPr>
              <a:t>4. </a:t>
            </a:r>
            <a:r>
              <a:rPr sz="4400" spc="-150" dirty="0">
                <a:latin typeface="Arial"/>
                <a:cs typeface="Arial"/>
              </a:rPr>
              <a:t>THỰC </a:t>
            </a:r>
            <a:r>
              <a:rPr sz="4400" spc="-105" dirty="0">
                <a:latin typeface="Arial"/>
                <a:cs typeface="Arial"/>
              </a:rPr>
              <a:t>NGHIỆM</a:t>
            </a:r>
            <a:r>
              <a:rPr sz="4400" spc="-770" dirty="0">
                <a:latin typeface="Arial"/>
                <a:cs typeface="Arial"/>
              </a:rPr>
              <a:t> </a:t>
            </a:r>
            <a:r>
              <a:rPr sz="4400" spc="-340" dirty="0">
                <a:latin typeface="Arial"/>
                <a:cs typeface="Arial"/>
              </a:rPr>
              <a:t>VÀ </a:t>
            </a:r>
            <a:r>
              <a:rPr sz="4400" spc="-440" dirty="0">
                <a:latin typeface="Arial"/>
                <a:cs typeface="Arial"/>
              </a:rPr>
              <a:t>KẾT </a:t>
            </a:r>
            <a:r>
              <a:rPr sz="4400" spc="-270" dirty="0">
                <a:latin typeface="Arial"/>
                <a:cs typeface="Arial"/>
              </a:rPr>
              <a:t>LUẬN</a:t>
            </a:r>
            <a:endParaRPr sz="44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3251"/>
            <a:ext cx="3802379" cy="391160"/>
          </a:xfrm>
          <a:prstGeom prst="rect">
            <a:avLst/>
          </a:prstGeom>
        </p:spPr>
        <p:txBody>
          <a:bodyPr vert="horz" wrap="square" lIns="0" tIns="12700" rIns="0" bIns="0" rtlCol="0">
            <a:spAutoFit/>
          </a:bodyPr>
          <a:lstStyle/>
          <a:p>
            <a:pPr marL="12700">
              <a:lnSpc>
                <a:spcPct val="100000"/>
              </a:lnSpc>
              <a:spcBef>
                <a:spcPts val="100"/>
              </a:spcBef>
            </a:pPr>
            <a:r>
              <a:rPr spc="130" dirty="0"/>
              <a:t>THỰC</a:t>
            </a:r>
            <a:r>
              <a:rPr spc="-90" dirty="0"/>
              <a:t> </a:t>
            </a:r>
            <a:r>
              <a:rPr spc="45" dirty="0"/>
              <a:t>NGHIỆM</a:t>
            </a:r>
            <a:r>
              <a:rPr spc="-100" dirty="0"/>
              <a:t> </a:t>
            </a:r>
            <a:r>
              <a:rPr spc="10" dirty="0"/>
              <a:t>VÀ</a:t>
            </a:r>
            <a:r>
              <a:rPr spc="-100" dirty="0"/>
              <a:t> </a:t>
            </a:r>
            <a:r>
              <a:rPr spc="95" dirty="0"/>
              <a:t>KẾT</a:t>
            </a:r>
            <a:r>
              <a:rPr spc="-100" dirty="0"/>
              <a:t> </a:t>
            </a:r>
            <a:r>
              <a:rPr spc="60" dirty="0"/>
              <a:t>LUẬN</a:t>
            </a:r>
          </a:p>
        </p:txBody>
      </p:sp>
      <p:sp>
        <p:nvSpPr>
          <p:cNvPr id="3" name="object 3"/>
          <p:cNvSpPr txBox="1"/>
          <p:nvPr/>
        </p:nvSpPr>
        <p:spPr>
          <a:xfrm>
            <a:off x="916939" y="937863"/>
            <a:ext cx="3709035" cy="422275"/>
          </a:xfrm>
          <a:prstGeom prst="rect">
            <a:avLst/>
          </a:prstGeom>
        </p:spPr>
        <p:txBody>
          <a:bodyPr vert="horz" wrap="square" lIns="0" tIns="13335" rIns="0" bIns="0" rtlCol="0">
            <a:spAutoFit/>
          </a:bodyPr>
          <a:lstStyle/>
          <a:p>
            <a:pPr marL="12700">
              <a:lnSpc>
                <a:spcPct val="100000"/>
              </a:lnSpc>
              <a:spcBef>
                <a:spcPts val="105"/>
              </a:spcBef>
            </a:pPr>
            <a:r>
              <a:rPr sz="2600" b="1" spc="30" dirty="0">
                <a:latin typeface="Calibri"/>
                <a:cs typeface="Calibri"/>
              </a:rPr>
              <a:t>4.1. </a:t>
            </a:r>
            <a:r>
              <a:rPr sz="2600" b="1" spc="-20" dirty="0">
                <a:latin typeface="Calibri"/>
                <a:cs typeface="Calibri"/>
              </a:rPr>
              <a:t>Phương </a:t>
            </a:r>
            <a:r>
              <a:rPr sz="2600" b="1" spc="15" dirty="0">
                <a:latin typeface="Calibri"/>
                <a:cs typeface="Calibri"/>
              </a:rPr>
              <a:t>pháp</a:t>
            </a:r>
            <a:r>
              <a:rPr sz="2600" b="1" spc="-440" dirty="0">
                <a:latin typeface="Calibri"/>
                <a:cs typeface="Calibri"/>
              </a:rPr>
              <a:t> </a:t>
            </a:r>
            <a:r>
              <a:rPr sz="2600" b="1" spc="-15" dirty="0">
                <a:latin typeface="Calibri"/>
                <a:cs typeface="Calibri"/>
              </a:rPr>
              <a:t>đánh </a:t>
            </a:r>
            <a:r>
              <a:rPr sz="2600" b="1" dirty="0">
                <a:latin typeface="Calibri"/>
                <a:cs typeface="Calibri"/>
              </a:rPr>
              <a:t>giá</a:t>
            </a:r>
            <a:endParaRPr sz="2600">
              <a:latin typeface="Calibri"/>
              <a:cs typeface="Calibri"/>
            </a:endParaRPr>
          </a:p>
        </p:txBody>
      </p:sp>
      <p:pic>
        <p:nvPicPr>
          <p:cNvPr id="21" name="Hình ảnh 20">
            <a:extLst>
              <a:ext uri="{FF2B5EF4-FFF2-40B4-BE49-F238E27FC236}">
                <a16:creationId xmlns:a16="http://schemas.microsoft.com/office/drawing/2014/main" id="{5804C504-0C5E-BA53-398F-D409A33DD81A}"/>
              </a:ext>
            </a:extLst>
          </p:cNvPr>
          <p:cNvPicPr>
            <a:picLocks noChangeAspect="1"/>
          </p:cNvPicPr>
          <p:nvPr/>
        </p:nvPicPr>
        <p:blipFill>
          <a:blip r:embed="rId2"/>
          <a:stretch>
            <a:fillRect/>
          </a:stretch>
        </p:blipFill>
        <p:spPr>
          <a:xfrm>
            <a:off x="3517642" y="1869384"/>
            <a:ext cx="5156715" cy="405075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3251"/>
            <a:ext cx="3802379" cy="391160"/>
          </a:xfrm>
          <a:prstGeom prst="rect">
            <a:avLst/>
          </a:prstGeom>
        </p:spPr>
        <p:txBody>
          <a:bodyPr vert="horz" wrap="square" lIns="0" tIns="12700" rIns="0" bIns="0" rtlCol="0">
            <a:spAutoFit/>
          </a:bodyPr>
          <a:lstStyle/>
          <a:p>
            <a:pPr marL="12700">
              <a:lnSpc>
                <a:spcPct val="100000"/>
              </a:lnSpc>
              <a:spcBef>
                <a:spcPts val="100"/>
              </a:spcBef>
            </a:pPr>
            <a:r>
              <a:rPr spc="130" dirty="0"/>
              <a:t>THỰC</a:t>
            </a:r>
            <a:r>
              <a:rPr spc="-90" dirty="0"/>
              <a:t> </a:t>
            </a:r>
            <a:r>
              <a:rPr spc="45" dirty="0"/>
              <a:t>NGHIỆM</a:t>
            </a:r>
            <a:r>
              <a:rPr spc="-100" dirty="0"/>
              <a:t> </a:t>
            </a:r>
            <a:r>
              <a:rPr spc="10" dirty="0"/>
              <a:t>VÀ</a:t>
            </a:r>
            <a:r>
              <a:rPr spc="-100" dirty="0"/>
              <a:t> </a:t>
            </a:r>
            <a:r>
              <a:rPr spc="95" dirty="0"/>
              <a:t>KẾT</a:t>
            </a:r>
            <a:r>
              <a:rPr spc="-100" dirty="0"/>
              <a:t> </a:t>
            </a:r>
            <a:r>
              <a:rPr spc="60" dirty="0"/>
              <a:t>LUẬN</a:t>
            </a:r>
          </a:p>
        </p:txBody>
      </p:sp>
      <p:sp>
        <p:nvSpPr>
          <p:cNvPr id="3" name="object 3"/>
          <p:cNvSpPr txBox="1"/>
          <p:nvPr/>
        </p:nvSpPr>
        <p:spPr>
          <a:xfrm>
            <a:off x="916939" y="937863"/>
            <a:ext cx="2779395" cy="422275"/>
          </a:xfrm>
          <a:prstGeom prst="rect">
            <a:avLst/>
          </a:prstGeom>
        </p:spPr>
        <p:txBody>
          <a:bodyPr vert="horz" wrap="square" lIns="0" tIns="13335" rIns="0" bIns="0" rtlCol="0">
            <a:spAutoFit/>
          </a:bodyPr>
          <a:lstStyle/>
          <a:p>
            <a:pPr marL="12700">
              <a:lnSpc>
                <a:spcPct val="100000"/>
              </a:lnSpc>
              <a:spcBef>
                <a:spcPts val="105"/>
              </a:spcBef>
            </a:pPr>
            <a:r>
              <a:rPr sz="2600" b="1" spc="30" dirty="0">
                <a:latin typeface="Calibri"/>
                <a:cs typeface="Calibri"/>
              </a:rPr>
              <a:t>4.2. </a:t>
            </a:r>
            <a:r>
              <a:rPr sz="2600" b="1" spc="35" dirty="0">
                <a:latin typeface="Calibri"/>
                <a:cs typeface="Calibri"/>
              </a:rPr>
              <a:t>Phân</a:t>
            </a:r>
            <a:r>
              <a:rPr sz="2600" b="1" spc="-440" dirty="0">
                <a:latin typeface="Calibri"/>
                <a:cs typeface="Calibri"/>
              </a:rPr>
              <a:t> </a:t>
            </a:r>
            <a:r>
              <a:rPr sz="2600" b="1" dirty="0">
                <a:latin typeface="Calibri"/>
                <a:cs typeface="Calibri"/>
              </a:rPr>
              <a:t>bố </a:t>
            </a:r>
            <a:r>
              <a:rPr sz="2600" b="1" spc="-30" dirty="0">
                <a:latin typeface="Calibri"/>
                <a:cs typeface="Calibri"/>
              </a:rPr>
              <a:t>dữ </a:t>
            </a:r>
            <a:r>
              <a:rPr sz="2600" b="1" spc="20" dirty="0">
                <a:latin typeface="Calibri"/>
                <a:cs typeface="Calibri"/>
              </a:rPr>
              <a:t>liệu</a:t>
            </a:r>
            <a:endParaRPr sz="2600">
              <a:latin typeface="Calibri"/>
              <a:cs typeface="Calibri"/>
            </a:endParaRPr>
          </a:p>
        </p:txBody>
      </p:sp>
      <p:sp>
        <p:nvSpPr>
          <p:cNvPr id="5" name="object 5"/>
          <p:cNvSpPr txBox="1"/>
          <p:nvPr/>
        </p:nvSpPr>
        <p:spPr>
          <a:xfrm>
            <a:off x="3276600" y="6244749"/>
            <a:ext cx="4781157" cy="289823"/>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a:cs typeface="Arial"/>
              </a:rPr>
              <a:t>Chia</a:t>
            </a:r>
            <a:r>
              <a:rPr sz="1800" spc="-155" dirty="0">
                <a:latin typeface="Arial"/>
                <a:cs typeface="Arial"/>
              </a:rPr>
              <a:t> </a:t>
            </a:r>
            <a:r>
              <a:rPr sz="1800" spc="10" dirty="0">
                <a:latin typeface="Arial"/>
                <a:cs typeface="Arial"/>
              </a:rPr>
              <a:t>tập</a:t>
            </a:r>
            <a:r>
              <a:rPr sz="1800" spc="-120" dirty="0">
                <a:latin typeface="Arial"/>
                <a:cs typeface="Arial"/>
              </a:rPr>
              <a:t> </a:t>
            </a:r>
            <a:r>
              <a:rPr sz="1800" spc="-65" dirty="0">
                <a:latin typeface="Arial"/>
                <a:cs typeface="Arial"/>
              </a:rPr>
              <a:t>dữ</a:t>
            </a:r>
            <a:r>
              <a:rPr sz="1800" spc="-140" dirty="0">
                <a:latin typeface="Arial"/>
                <a:cs typeface="Arial"/>
              </a:rPr>
              <a:t> </a:t>
            </a:r>
            <a:r>
              <a:rPr sz="1800" spc="10" dirty="0">
                <a:latin typeface="Arial"/>
                <a:cs typeface="Arial"/>
              </a:rPr>
              <a:t>liệu</a:t>
            </a:r>
            <a:r>
              <a:rPr sz="1800" spc="-155" dirty="0">
                <a:latin typeface="Arial"/>
                <a:cs typeface="Arial"/>
              </a:rPr>
              <a:t> </a:t>
            </a:r>
            <a:r>
              <a:rPr sz="1800" spc="-15" dirty="0">
                <a:latin typeface="Arial"/>
                <a:cs typeface="Arial"/>
              </a:rPr>
              <a:t>huấn</a:t>
            </a:r>
            <a:r>
              <a:rPr sz="1800" spc="-165" dirty="0">
                <a:latin typeface="Arial"/>
                <a:cs typeface="Arial"/>
              </a:rPr>
              <a:t> </a:t>
            </a:r>
            <a:r>
              <a:rPr sz="1800" spc="-20" dirty="0">
                <a:latin typeface="Arial"/>
                <a:cs typeface="Arial"/>
              </a:rPr>
              <a:t>luyện</a:t>
            </a:r>
            <a:r>
              <a:rPr sz="1800" spc="-165" dirty="0">
                <a:latin typeface="Arial"/>
                <a:cs typeface="Arial"/>
              </a:rPr>
              <a:t> </a:t>
            </a:r>
            <a:r>
              <a:rPr sz="1800" spc="-70" dirty="0">
                <a:latin typeface="Arial"/>
                <a:cs typeface="Arial"/>
              </a:rPr>
              <a:t>và</a:t>
            </a:r>
            <a:r>
              <a:rPr sz="1800" spc="-130" dirty="0">
                <a:latin typeface="Arial"/>
                <a:cs typeface="Arial"/>
              </a:rPr>
              <a:t> </a:t>
            </a:r>
            <a:r>
              <a:rPr sz="1800" spc="-10" dirty="0">
                <a:latin typeface="Arial"/>
                <a:cs typeface="Arial"/>
              </a:rPr>
              <a:t>kiểm</a:t>
            </a:r>
            <a:r>
              <a:rPr sz="1800" spc="-155" dirty="0">
                <a:latin typeface="Arial"/>
                <a:cs typeface="Arial"/>
              </a:rPr>
              <a:t> </a:t>
            </a:r>
            <a:r>
              <a:rPr sz="1800" spc="-25" dirty="0">
                <a:latin typeface="Arial"/>
                <a:cs typeface="Arial"/>
              </a:rPr>
              <a:t>thử</a:t>
            </a:r>
            <a:r>
              <a:rPr sz="1800" spc="-140" dirty="0">
                <a:latin typeface="Arial"/>
                <a:cs typeface="Arial"/>
              </a:rPr>
              <a:t> </a:t>
            </a:r>
            <a:r>
              <a:rPr sz="1800" spc="50" dirty="0">
                <a:latin typeface="Arial"/>
                <a:cs typeface="Arial"/>
              </a:rPr>
              <a:t>tỉ</a:t>
            </a:r>
            <a:r>
              <a:rPr sz="1800" spc="-135" dirty="0">
                <a:latin typeface="Arial"/>
                <a:cs typeface="Arial"/>
              </a:rPr>
              <a:t> </a:t>
            </a:r>
            <a:r>
              <a:rPr sz="1800" spc="5" dirty="0" err="1">
                <a:latin typeface="Arial"/>
                <a:cs typeface="Arial"/>
              </a:rPr>
              <a:t>lệ</a:t>
            </a:r>
            <a:r>
              <a:rPr sz="1800" spc="-145" dirty="0">
                <a:latin typeface="Arial"/>
                <a:cs typeface="Arial"/>
              </a:rPr>
              <a:t> </a:t>
            </a:r>
            <a:r>
              <a:rPr lang="en-US" sz="1800" spc="-25" dirty="0">
                <a:latin typeface="Arial"/>
                <a:cs typeface="Arial"/>
              </a:rPr>
              <a:t>8</a:t>
            </a:r>
            <a:r>
              <a:rPr sz="1800" spc="-25" dirty="0">
                <a:latin typeface="Arial"/>
                <a:cs typeface="Arial"/>
              </a:rPr>
              <a:t>:2</a:t>
            </a:r>
            <a:endParaRPr sz="1800" dirty="0">
              <a:latin typeface="Arial"/>
              <a:cs typeface="Arial"/>
            </a:endParaRPr>
          </a:p>
        </p:txBody>
      </p:sp>
      <p:pic>
        <p:nvPicPr>
          <p:cNvPr id="6" name="Hình ảnh 5">
            <a:extLst>
              <a:ext uri="{FF2B5EF4-FFF2-40B4-BE49-F238E27FC236}">
                <a16:creationId xmlns:a16="http://schemas.microsoft.com/office/drawing/2014/main" id="{29AE674D-5605-CD9C-854E-2CE113E40AE4}"/>
              </a:ext>
            </a:extLst>
          </p:cNvPr>
          <p:cNvPicPr>
            <a:picLocks noChangeAspect="1"/>
          </p:cNvPicPr>
          <p:nvPr/>
        </p:nvPicPr>
        <p:blipFill>
          <a:blip r:embed="rId2"/>
          <a:stretch>
            <a:fillRect/>
          </a:stretch>
        </p:blipFill>
        <p:spPr>
          <a:xfrm>
            <a:off x="637978" y="1755702"/>
            <a:ext cx="10058400" cy="41644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pc="130" dirty="0"/>
              <a:t>THỰC</a:t>
            </a:r>
            <a:r>
              <a:rPr spc="-90" dirty="0"/>
              <a:t> </a:t>
            </a:r>
            <a:r>
              <a:rPr spc="45" dirty="0"/>
              <a:t>NGHIỆM</a:t>
            </a:r>
            <a:r>
              <a:rPr spc="-100" dirty="0"/>
              <a:t> </a:t>
            </a:r>
            <a:r>
              <a:rPr spc="10" dirty="0"/>
              <a:t>VÀ</a:t>
            </a:r>
            <a:r>
              <a:rPr spc="-100" dirty="0"/>
              <a:t> </a:t>
            </a:r>
            <a:r>
              <a:rPr spc="95" dirty="0"/>
              <a:t>KẾT</a:t>
            </a:r>
            <a:r>
              <a:rPr spc="-100" dirty="0"/>
              <a:t> </a:t>
            </a:r>
            <a:r>
              <a:rPr spc="60" dirty="0"/>
              <a:t>LUẬN</a:t>
            </a:r>
          </a:p>
        </p:txBody>
      </p:sp>
      <p:sp>
        <p:nvSpPr>
          <p:cNvPr id="3" name="object 3"/>
          <p:cNvSpPr txBox="1"/>
          <p:nvPr/>
        </p:nvSpPr>
        <p:spPr>
          <a:xfrm>
            <a:off x="916939" y="937863"/>
            <a:ext cx="5697220" cy="967573"/>
          </a:xfrm>
          <a:prstGeom prst="rect">
            <a:avLst/>
          </a:prstGeom>
        </p:spPr>
        <p:txBody>
          <a:bodyPr vert="horz" wrap="square" lIns="0" tIns="13335" rIns="0" bIns="0" rtlCol="0">
            <a:spAutoFit/>
          </a:bodyPr>
          <a:lstStyle/>
          <a:p>
            <a:pPr marL="12700">
              <a:lnSpc>
                <a:spcPct val="100000"/>
              </a:lnSpc>
              <a:spcBef>
                <a:spcPts val="105"/>
              </a:spcBef>
            </a:pPr>
            <a:r>
              <a:rPr sz="2600" b="1" spc="30" dirty="0">
                <a:latin typeface="Calibri"/>
                <a:cs typeface="Calibri"/>
              </a:rPr>
              <a:t>4.</a:t>
            </a:r>
            <a:r>
              <a:rPr lang="en-US" sz="2600" b="1" spc="30" dirty="0">
                <a:latin typeface="Calibri"/>
                <a:cs typeface="Calibri"/>
              </a:rPr>
              <a:t>3</a:t>
            </a:r>
            <a:r>
              <a:rPr sz="2600" b="1" spc="30" dirty="0">
                <a:latin typeface="Calibri"/>
                <a:cs typeface="Calibri"/>
              </a:rPr>
              <a:t>.</a:t>
            </a:r>
            <a:r>
              <a:rPr sz="2600" b="1" spc="-125" dirty="0">
                <a:latin typeface="Calibri"/>
                <a:cs typeface="Calibri"/>
              </a:rPr>
              <a:t> </a:t>
            </a:r>
            <a:r>
              <a:rPr sz="2600" b="1" spc="45" dirty="0">
                <a:latin typeface="Calibri"/>
                <a:cs typeface="Calibri"/>
              </a:rPr>
              <a:t>Kết</a:t>
            </a:r>
            <a:r>
              <a:rPr sz="2600" b="1" spc="-100" dirty="0">
                <a:latin typeface="Calibri"/>
                <a:cs typeface="Calibri"/>
              </a:rPr>
              <a:t> </a:t>
            </a:r>
            <a:r>
              <a:rPr sz="2600" b="1" spc="15" dirty="0">
                <a:latin typeface="Calibri"/>
                <a:cs typeface="Calibri"/>
              </a:rPr>
              <a:t>quả</a:t>
            </a:r>
            <a:r>
              <a:rPr sz="2600" b="1" spc="-100" dirty="0">
                <a:latin typeface="Calibri"/>
                <a:cs typeface="Calibri"/>
              </a:rPr>
              <a:t> </a:t>
            </a:r>
            <a:r>
              <a:rPr sz="2600" b="1" spc="-20" dirty="0">
                <a:latin typeface="Calibri"/>
                <a:cs typeface="Calibri"/>
              </a:rPr>
              <a:t>trên</a:t>
            </a:r>
            <a:r>
              <a:rPr sz="2600" b="1" spc="-95" dirty="0">
                <a:latin typeface="Calibri"/>
                <a:cs typeface="Calibri"/>
              </a:rPr>
              <a:t> </a:t>
            </a:r>
            <a:r>
              <a:rPr sz="2600" b="1" spc="25" dirty="0">
                <a:latin typeface="Calibri"/>
                <a:cs typeface="Calibri"/>
              </a:rPr>
              <a:t>mô</a:t>
            </a:r>
            <a:r>
              <a:rPr sz="2600" b="1" spc="-85" dirty="0">
                <a:latin typeface="Calibri"/>
                <a:cs typeface="Calibri"/>
              </a:rPr>
              <a:t> </a:t>
            </a:r>
            <a:r>
              <a:rPr sz="2600" b="1" spc="-10" dirty="0">
                <a:latin typeface="Calibri"/>
                <a:cs typeface="Calibri"/>
              </a:rPr>
              <a:t>hình</a:t>
            </a:r>
            <a:r>
              <a:rPr sz="2600" b="1" spc="-110" dirty="0">
                <a:latin typeface="Calibri"/>
                <a:cs typeface="Calibri"/>
              </a:rPr>
              <a:t> </a:t>
            </a:r>
            <a:r>
              <a:rPr sz="2600" b="1" spc="35" dirty="0">
                <a:latin typeface="Calibri"/>
                <a:cs typeface="Calibri"/>
              </a:rPr>
              <a:t>Random</a:t>
            </a:r>
            <a:r>
              <a:rPr sz="2600" b="1" spc="-90" dirty="0">
                <a:latin typeface="Calibri"/>
                <a:cs typeface="Calibri"/>
              </a:rPr>
              <a:t> </a:t>
            </a:r>
            <a:r>
              <a:rPr sz="2600" b="1" spc="35" dirty="0">
                <a:latin typeface="Calibri"/>
                <a:cs typeface="Calibri"/>
              </a:rPr>
              <a:t>Forest</a:t>
            </a:r>
            <a:endParaRPr sz="4200" dirty="0">
              <a:latin typeface="Calibri"/>
              <a:cs typeface="Calibri"/>
            </a:endParaRPr>
          </a:p>
          <a:p>
            <a:pPr marL="156845" marR="1274445">
              <a:lnSpc>
                <a:spcPct val="100000"/>
              </a:lnSpc>
              <a:spcBef>
                <a:spcPts val="5"/>
              </a:spcBef>
            </a:pPr>
            <a:r>
              <a:rPr sz="1800" b="1" spc="-75" dirty="0">
                <a:solidFill>
                  <a:srgbClr val="205F9A"/>
                </a:solidFill>
                <a:latin typeface="Arial"/>
                <a:cs typeface="Arial"/>
              </a:rPr>
              <a:t>Dữ</a:t>
            </a:r>
            <a:r>
              <a:rPr sz="1800" b="1" spc="-145" dirty="0">
                <a:solidFill>
                  <a:srgbClr val="205F9A"/>
                </a:solidFill>
                <a:latin typeface="Arial"/>
                <a:cs typeface="Arial"/>
              </a:rPr>
              <a:t> </a:t>
            </a:r>
            <a:r>
              <a:rPr sz="1800" b="1" spc="-20" dirty="0">
                <a:solidFill>
                  <a:srgbClr val="205F9A"/>
                </a:solidFill>
                <a:latin typeface="Arial"/>
                <a:cs typeface="Arial"/>
              </a:rPr>
              <a:t>liệu</a:t>
            </a:r>
            <a:r>
              <a:rPr sz="1800" b="1" spc="-114" dirty="0">
                <a:solidFill>
                  <a:srgbClr val="205F9A"/>
                </a:solidFill>
                <a:latin typeface="Arial"/>
                <a:cs typeface="Arial"/>
              </a:rPr>
              <a:t> </a:t>
            </a:r>
            <a:r>
              <a:rPr sz="1800" b="1" spc="-40" dirty="0">
                <a:solidFill>
                  <a:srgbClr val="205F9A"/>
                </a:solidFill>
                <a:latin typeface="Arial"/>
                <a:cs typeface="Arial"/>
              </a:rPr>
              <a:t>đầu</a:t>
            </a:r>
            <a:r>
              <a:rPr sz="1800" b="1" spc="-160" dirty="0">
                <a:solidFill>
                  <a:srgbClr val="205F9A"/>
                </a:solidFill>
                <a:latin typeface="Arial"/>
                <a:cs typeface="Arial"/>
              </a:rPr>
              <a:t> </a:t>
            </a:r>
            <a:r>
              <a:rPr sz="1800" b="1" spc="-65" dirty="0">
                <a:solidFill>
                  <a:srgbClr val="205F9A"/>
                </a:solidFill>
                <a:latin typeface="Arial"/>
                <a:cs typeface="Arial"/>
              </a:rPr>
              <a:t>vào</a:t>
            </a:r>
            <a:r>
              <a:rPr sz="1800" b="1" spc="-145" dirty="0">
                <a:solidFill>
                  <a:srgbClr val="205F9A"/>
                </a:solidFill>
                <a:latin typeface="Arial"/>
                <a:cs typeface="Arial"/>
              </a:rPr>
              <a:t> </a:t>
            </a:r>
            <a:r>
              <a:rPr sz="1800" b="1" spc="-95" dirty="0">
                <a:solidFill>
                  <a:srgbClr val="205F9A"/>
                </a:solidFill>
                <a:latin typeface="Arial"/>
                <a:cs typeface="Arial"/>
              </a:rPr>
              <a:t>được</a:t>
            </a:r>
            <a:r>
              <a:rPr sz="1800" b="1" spc="-150" dirty="0">
                <a:solidFill>
                  <a:srgbClr val="205F9A"/>
                </a:solidFill>
                <a:latin typeface="Arial"/>
                <a:cs typeface="Arial"/>
              </a:rPr>
              <a:t> </a:t>
            </a:r>
            <a:r>
              <a:rPr sz="1800" b="1" spc="-40" dirty="0">
                <a:solidFill>
                  <a:srgbClr val="205F9A"/>
                </a:solidFill>
                <a:latin typeface="Arial"/>
                <a:cs typeface="Arial"/>
              </a:rPr>
              <a:t>vector</a:t>
            </a:r>
            <a:r>
              <a:rPr sz="1800" b="1" spc="-140" dirty="0">
                <a:solidFill>
                  <a:srgbClr val="205F9A"/>
                </a:solidFill>
                <a:latin typeface="Arial"/>
                <a:cs typeface="Arial"/>
              </a:rPr>
              <a:t> </a:t>
            </a:r>
            <a:r>
              <a:rPr sz="1800" b="1" spc="-45" dirty="0">
                <a:solidFill>
                  <a:srgbClr val="205F9A"/>
                </a:solidFill>
                <a:latin typeface="Arial"/>
                <a:cs typeface="Arial"/>
              </a:rPr>
              <a:t>hóa</a:t>
            </a:r>
            <a:r>
              <a:rPr sz="1800" b="1" spc="-145" dirty="0">
                <a:solidFill>
                  <a:srgbClr val="205F9A"/>
                </a:solidFill>
                <a:latin typeface="Arial"/>
                <a:cs typeface="Arial"/>
              </a:rPr>
              <a:t> </a:t>
            </a:r>
            <a:r>
              <a:rPr sz="1800" b="1" spc="-60" dirty="0">
                <a:solidFill>
                  <a:srgbClr val="205F9A"/>
                </a:solidFill>
                <a:latin typeface="Arial"/>
                <a:cs typeface="Arial"/>
              </a:rPr>
              <a:t>dựa</a:t>
            </a:r>
            <a:r>
              <a:rPr sz="1800" b="1" spc="-155" dirty="0">
                <a:solidFill>
                  <a:srgbClr val="205F9A"/>
                </a:solidFill>
                <a:latin typeface="Arial"/>
                <a:cs typeface="Arial"/>
              </a:rPr>
              <a:t> </a:t>
            </a:r>
            <a:r>
              <a:rPr sz="1800" b="1" spc="-30" dirty="0">
                <a:solidFill>
                  <a:srgbClr val="205F9A"/>
                </a:solidFill>
                <a:latin typeface="Arial"/>
                <a:cs typeface="Arial"/>
              </a:rPr>
              <a:t>trên  </a:t>
            </a:r>
            <a:r>
              <a:rPr sz="1800" b="1" spc="-110" dirty="0">
                <a:solidFill>
                  <a:srgbClr val="205F9A"/>
                </a:solidFill>
                <a:latin typeface="Arial"/>
                <a:cs typeface="Arial"/>
              </a:rPr>
              <a:t>phương </a:t>
            </a:r>
            <a:r>
              <a:rPr sz="1800" b="1" spc="-40" dirty="0">
                <a:solidFill>
                  <a:srgbClr val="205F9A"/>
                </a:solidFill>
                <a:latin typeface="Arial"/>
                <a:cs typeface="Arial"/>
              </a:rPr>
              <a:t>pháp</a:t>
            </a:r>
            <a:r>
              <a:rPr sz="1800" b="1" spc="-225" dirty="0">
                <a:solidFill>
                  <a:srgbClr val="205F9A"/>
                </a:solidFill>
                <a:latin typeface="Arial"/>
                <a:cs typeface="Arial"/>
              </a:rPr>
              <a:t> </a:t>
            </a:r>
            <a:r>
              <a:rPr sz="1800" b="1" spc="-80" dirty="0">
                <a:solidFill>
                  <a:srgbClr val="205F9A"/>
                </a:solidFill>
                <a:latin typeface="Arial"/>
                <a:cs typeface="Arial"/>
              </a:rPr>
              <a:t>TF-IDF</a:t>
            </a:r>
            <a:endParaRPr sz="1800" dirty="0">
              <a:latin typeface="Arial"/>
              <a:cs typeface="Arial"/>
            </a:endParaRPr>
          </a:p>
        </p:txBody>
      </p:sp>
      <p:pic>
        <p:nvPicPr>
          <p:cNvPr id="9" name="Hình ảnh 8">
            <a:extLst>
              <a:ext uri="{FF2B5EF4-FFF2-40B4-BE49-F238E27FC236}">
                <a16:creationId xmlns:a16="http://schemas.microsoft.com/office/drawing/2014/main" id="{7CB3B24F-45D8-14BF-8703-3C6E12D72F32}"/>
              </a:ext>
            </a:extLst>
          </p:cNvPr>
          <p:cNvPicPr>
            <a:picLocks noChangeAspect="1"/>
          </p:cNvPicPr>
          <p:nvPr/>
        </p:nvPicPr>
        <p:blipFill>
          <a:blip r:embed="rId2"/>
          <a:stretch>
            <a:fillRect/>
          </a:stretch>
        </p:blipFill>
        <p:spPr>
          <a:xfrm>
            <a:off x="246223" y="2045691"/>
            <a:ext cx="5589602" cy="391159"/>
          </a:xfrm>
          <a:prstGeom prst="rect">
            <a:avLst/>
          </a:prstGeom>
        </p:spPr>
      </p:pic>
      <p:pic>
        <p:nvPicPr>
          <p:cNvPr id="11" name="Hình ảnh 10">
            <a:extLst>
              <a:ext uri="{FF2B5EF4-FFF2-40B4-BE49-F238E27FC236}">
                <a16:creationId xmlns:a16="http://schemas.microsoft.com/office/drawing/2014/main" id="{FDEC8D08-17FD-A6A7-0880-D504DDF0E371}"/>
              </a:ext>
            </a:extLst>
          </p:cNvPr>
          <p:cNvPicPr>
            <a:picLocks noChangeAspect="1"/>
          </p:cNvPicPr>
          <p:nvPr/>
        </p:nvPicPr>
        <p:blipFill>
          <a:blip r:embed="rId3"/>
          <a:stretch>
            <a:fillRect/>
          </a:stretch>
        </p:blipFill>
        <p:spPr>
          <a:xfrm>
            <a:off x="720900" y="2743200"/>
            <a:ext cx="5114925" cy="3600450"/>
          </a:xfrm>
          <a:prstGeom prst="rect">
            <a:avLst/>
          </a:prstGeom>
        </p:spPr>
      </p:pic>
      <p:pic>
        <p:nvPicPr>
          <p:cNvPr id="13" name="Hình ảnh 12">
            <a:extLst>
              <a:ext uri="{FF2B5EF4-FFF2-40B4-BE49-F238E27FC236}">
                <a16:creationId xmlns:a16="http://schemas.microsoft.com/office/drawing/2014/main" id="{2B1EAC32-A35A-594D-92F7-3B4D3DE0C1A5}"/>
              </a:ext>
            </a:extLst>
          </p:cNvPr>
          <p:cNvPicPr>
            <a:picLocks noChangeAspect="1"/>
          </p:cNvPicPr>
          <p:nvPr/>
        </p:nvPicPr>
        <p:blipFill>
          <a:blip r:embed="rId4"/>
          <a:stretch>
            <a:fillRect/>
          </a:stretch>
        </p:blipFill>
        <p:spPr>
          <a:xfrm>
            <a:off x="6068349" y="1524000"/>
            <a:ext cx="5675976" cy="489661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654653"/>
            <a:ext cx="3802379" cy="391160"/>
          </a:xfrm>
          <a:prstGeom prst="rect">
            <a:avLst/>
          </a:prstGeom>
        </p:spPr>
        <p:txBody>
          <a:bodyPr vert="horz" wrap="square" lIns="0" tIns="12700" rIns="0" bIns="0" rtlCol="0">
            <a:spAutoFit/>
          </a:bodyPr>
          <a:lstStyle/>
          <a:p>
            <a:pPr marL="12700">
              <a:lnSpc>
                <a:spcPct val="100000"/>
              </a:lnSpc>
              <a:spcBef>
                <a:spcPts val="100"/>
              </a:spcBef>
            </a:pPr>
            <a:r>
              <a:rPr sz="2400" b="1" spc="130" dirty="0">
                <a:solidFill>
                  <a:srgbClr val="205F9A"/>
                </a:solidFill>
                <a:latin typeface="Calibri"/>
                <a:cs typeface="Calibri"/>
              </a:rPr>
              <a:t>THỰC</a:t>
            </a:r>
            <a:r>
              <a:rPr sz="2400" b="1" spc="-90" dirty="0">
                <a:solidFill>
                  <a:srgbClr val="205F9A"/>
                </a:solidFill>
                <a:latin typeface="Calibri"/>
                <a:cs typeface="Calibri"/>
              </a:rPr>
              <a:t> </a:t>
            </a:r>
            <a:r>
              <a:rPr sz="2400" b="1" spc="45" dirty="0">
                <a:solidFill>
                  <a:srgbClr val="205F9A"/>
                </a:solidFill>
                <a:latin typeface="Calibri"/>
                <a:cs typeface="Calibri"/>
              </a:rPr>
              <a:t>NGHIỆM</a:t>
            </a:r>
            <a:r>
              <a:rPr sz="2400" b="1" spc="-100" dirty="0">
                <a:solidFill>
                  <a:srgbClr val="205F9A"/>
                </a:solidFill>
                <a:latin typeface="Calibri"/>
                <a:cs typeface="Calibri"/>
              </a:rPr>
              <a:t> </a:t>
            </a:r>
            <a:r>
              <a:rPr sz="2400" b="1" spc="10" dirty="0">
                <a:solidFill>
                  <a:srgbClr val="205F9A"/>
                </a:solidFill>
                <a:latin typeface="Calibri"/>
                <a:cs typeface="Calibri"/>
              </a:rPr>
              <a:t>VÀ</a:t>
            </a:r>
            <a:r>
              <a:rPr sz="2400" b="1" spc="-100" dirty="0">
                <a:solidFill>
                  <a:srgbClr val="205F9A"/>
                </a:solidFill>
                <a:latin typeface="Calibri"/>
                <a:cs typeface="Calibri"/>
              </a:rPr>
              <a:t> </a:t>
            </a:r>
            <a:r>
              <a:rPr sz="2400" b="1" spc="95" dirty="0">
                <a:solidFill>
                  <a:srgbClr val="205F9A"/>
                </a:solidFill>
                <a:latin typeface="Calibri"/>
                <a:cs typeface="Calibri"/>
              </a:rPr>
              <a:t>KẾT</a:t>
            </a:r>
            <a:r>
              <a:rPr sz="2400" b="1" spc="-100" dirty="0">
                <a:solidFill>
                  <a:srgbClr val="205F9A"/>
                </a:solidFill>
                <a:latin typeface="Calibri"/>
                <a:cs typeface="Calibri"/>
              </a:rPr>
              <a:t> </a:t>
            </a:r>
            <a:r>
              <a:rPr sz="2400" b="1" spc="60" dirty="0">
                <a:solidFill>
                  <a:srgbClr val="205F9A"/>
                </a:solidFill>
                <a:latin typeface="Calibri"/>
                <a:cs typeface="Calibri"/>
              </a:rPr>
              <a:t>LUẬN</a:t>
            </a:r>
            <a:endParaRPr sz="2400">
              <a:latin typeface="Calibri"/>
              <a:cs typeface="Calibri"/>
            </a:endParaRPr>
          </a:p>
        </p:txBody>
      </p:sp>
      <p:sp>
        <p:nvSpPr>
          <p:cNvPr id="8" name="object 8"/>
          <p:cNvSpPr txBox="1"/>
          <p:nvPr/>
        </p:nvSpPr>
        <p:spPr>
          <a:xfrm>
            <a:off x="916939" y="992981"/>
            <a:ext cx="6174105" cy="690574"/>
          </a:xfrm>
          <a:prstGeom prst="rect">
            <a:avLst/>
          </a:prstGeom>
        </p:spPr>
        <p:txBody>
          <a:bodyPr vert="horz" wrap="square" lIns="0" tIns="13335" rIns="0" bIns="0" rtlCol="0">
            <a:spAutoFit/>
          </a:bodyPr>
          <a:lstStyle/>
          <a:p>
            <a:pPr marL="12700">
              <a:lnSpc>
                <a:spcPct val="100000"/>
              </a:lnSpc>
              <a:spcBef>
                <a:spcPts val="105"/>
              </a:spcBef>
            </a:pPr>
            <a:r>
              <a:rPr sz="2000" b="1" spc="25" dirty="0">
                <a:latin typeface="Calibri"/>
                <a:cs typeface="Calibri"/>
              </a:rPr>
              <a:t>4.</a:t>
            </a:r>
            <a:r>
              <a:rPr lang="en-US" sz="2000" b="1" spc="25" dirty="0">
                <a:latin typeface="Calibri"/>
                <a:cs typeface="Calibri"/>
              </a:rPr>
              <a:t>4</a:t>
            </a:r>
            <a:r>
              <a:rPr sz="2000" b="1" spc="25" dirty="0">
                <a:latin typeface="Calibri"/>
                <a:cs typeface="Calibri"/>
              </a:rPr>
              <a:t>.</a:t>
            </a:r>
            <a:r>
              <a:rPr sz="2000" b="1" spc="-85" dirty="0">
                <a:latin typeface="Calibri"/>
                <a:cs typeface="Calibri"/>
              </a:rPr>
              <a:t> </a:t>
            </a:r>
            <a:r>
              <a:rPr sz="2000" b="1" spc="35" dirty="0">
                <a:latin typeface="Calibri"/>
                <a:cs typeface="Calibri"/>
              </a:rPr>
              <a:t>Kết</a:t>
            </a:r>
            <a:r>
              <a:rPr sz="2000" b="1" spc="-95" dirty="0">
                <a:latin typeface="Calibri"/>
                <a:cs typeface="Calibri"/>
              </a:rPr>
              <a:t> </a:t>
            </a:r>
            <a:r>
              <a:rPr sz="2000" b="1" spc="10" dirty="0">
                <a:latin typeface="Calibri"/>
                <a:cs typeface="Calibri"/>
              </a:rPr>
              <a:t>quả</a:t>
            </a:r>
            <a:r>
              <a:rPr sz="2000" b="1" spc="-80" dirty="0">
                <a:latin typeface="Calibri"/>
                <a:cs typeface="Calibri"/>
              </a:rPr>
              <a:t> </a:t>
            </a:r>
            <a:r>
              <a:rPr sz="2000" b="1" spc="-15" dirty="0">
                <a:latin typeface="Calibri"/>
                <a:cs typeface="Calibri"/>
              </a:rPr>
              <a:t>trên</a:t>
            </a:r>
            <a:r>
              <a:rPr sz="2000" b="1" spc="-100" dirty="0">
                <a:latin typeface="Calibri"/>
                <a:cs typeface="Calibri"/>
              </a:rPr>
              <a:t> </a:t>
            </a:r>
            <a:r>
              <a:rPr sz="2000" b="1" spc="15" dirty="0">
                <a:latin typeface="Calibri"/>
                <a:cs typeface="Calibri"/>
              </a:rPr>
              <a:t>mô</a:t>
            </a:r>
            <a:r>
              <a:rPr sz="2000" b="1" spc="-65" dirty="0">
                <a:latin typeface="Calibri"/>
                <a:cs typeface="Calibri"/>
              </a:rPr>
              <a:t> </a:t>
            </a:r>
            <a:r>
              <a:rPr sz="2000" b="1" spc="-10" dirty="0">
                <a:latin typeface="Calibri"/>
                <a:cs typeface="Calibri"/>
              </a:rPr>
              <a:t>hình</a:t>
            </a:r>
            <a:r>
              <a:rPr sz="2000" b="1" spc="-100" dirty="0">
                <a:latin typeface="Calibri"/>
                <a:cs typeface="Calibri"/>
              </a:rPr>
              <a:t> </a:t>
            </a:r>
            <a:r>
              <a:rPr sz="2000" b="1" spc="-5" dirty="0">
                <a:latin typeface="Calibri"/>
                <a:cs typeface="Calibri"/>
              </a:rPr>
              <a:t>Multinomial</a:t>
            </a:r>
            <a:r>
              <a:rPr sz="2000" b="1" spc="-100" dirty="0">
                <a:latin typeface="Calibri"/>
                <a:cs typeface="Calibri"/>
              </a:rPr>
              <a:t> </a:t>
            </a:r>
            <a:r>
              <a:rPr sz="2000" b="1" spc="50" dirty="0">
                <a:latin typeface="Calibri"/>
                <a:cs typeface="Calibri"/>
              </a:rPr>
              <a:t>Logistic</a:t>
            </a:r>
            <a:r>
              <a:rPr sz="2000" b="1" spc="-95" dirty="0">
                <a:latin typeface="Calibri"/>
                <a:cs typeface="Calibri"/>
              </a:rPr>
              <a:t> </a:t>
            </a:r>
            <a:r>
              <a:rPr sz="2000" b="1" spc="40" dirty="0">
                <a:latin typeface="Calibri"/>
                <a:cs typeface="Calibri"/>
              </a:rPr>
              <a:t>Regression</a:t>
            </a:r>
            <a:endParaRPr sz="2000" dirty="0">
              <a:latin typeface="Calibri"/>
              <a:cs typeface="Calibri"/>
            </a:endParaRPr>
          </a:p>
          <a:p>
            <a:pPr>
              <a:lnSpc>
                <a:spcPct val="100000"/>
              </a:lnSpc>
            </a:pPr>
            <a:endParaRPr sz="2400" dirty="0">
              <a:latin typeface="Calibri"/>
              <a:cs typeface="Calibri"/>
            </a:endParaRPr>
          </a:p>
        </p:txBody>
      </p:sp>
      <p:pic>
        <p:nvPicPr>
          <p:cNvPr id="10" name="Hình ảnh 9">
            <a:extLst>
              <a:ext uri="{FF2B5EF4-FFF2-40B4-BE49-F238E27FC236}">
                <a16:creationId xmlns:a16="http://schemas.microsoft.com/office/drawing/2014/main" id="{7B42337C-5FE0-F7B2-69A1-A8B24749628D}"/>
              </a:ext>
            </a:extLst>
          </p:cNvPr>
          <p:cNvPicPr>
            <a:picLocks noChangeAspect="1"/>
          </p:cNvPicPr>
          <p:nvPr/>
        </p:nvPicPr>
        <p:blipFill>
          <a:blip r:embed="rId2"/>
          <a:stretch>
            <a:fillRect/>
          </a:stretch>
        </p:blipFill>
        <p:spPr>
          <a:xfrm>
            <a:off x="655889" y="2636356"/>
            <a:ext cx="5031679" cy="3557848"/>
          </a:xfrm>
          <a:prstGeom prst="rect">
            <a:avLst/>
          </a:prstGeom>
        </p:spPr>
      </p:pic>
      <p:pic>
        <p:nvPicPr>
          <p:cNvPr id="12" name="Hình ảnh 11">
            <a:extLst>
              <a:ext uri="{FF2B5EF4-FFF2-40B4-BE49-F238E27FC236}">
                <a16:creationId xmlns:a16="http://schemas.microsoft.com/office/drawing/2014/main" id="{BD8193EC-BBB4-0DCC-0C54-8D8571A47711}"/>
              </a:ext>
            </a:extLst>
          </p:cNvPr>
          <p:cNvPicPr>
            <a:picLocks noChangeAspect="1"/>
          </p:cNvPicPr>
          <p:nvPr/>
        </p:nvPicPr>
        <p:blipFill>
          <a:blip r:embed="rId3"/>
          <a:stretch>
            <a:fillRect/>
          </a:stretch>
        </p:blipFill>
        <p:spPr>
          <a:xfrm>
            <a:off x="6248400" y="1450060"/>
            <a:ext cx="5548884" cy="4744143"/>
          </a:xfrm>
          <a:prstGeom prst="rect">
            <a:avLst/>
          </a:prstGeom>
        </p:spPr>
      </p:pic>
      <p:pic>
        <p:nvPicPr>
          <p:cNvPr id="14" name="Hình ảnh 13">
            <a:extLst>
              <a:ext uri="{FF2B5EF4-FFF2-40B4-BE49-F238E27FC236}">
                <a16:creationId xmlns:a16="http://schemas.microsoft.com/office/drawing/2014/main" id="{1513E288-43AD-680F-8F52-2D74EB4E9D26}"/>
              </a:ext>
            </a:extLst>
          </p:cNvPr>
          <p:cNvPicPr>
            <a:picLocks noChangeAspect="1"/>
          </p:cNvPicPr>
          <p:nvPr/>
        </p:nvPicPr>
        <p:blipFill>
          <a:blip r:embed="rId4"/>
          <a:stretch>
            <a:fillRect/>
          </a:stretch>
        </p:blipFill>
        <p:spPr>
          <a:xfrm>
            <a:off x="683321" y="1981349"/>
            <a:ext cx="5031679" cy="42890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54653"/>
            <a:ext cx="3802379" cy="391160"/>
          </a:xfrm>
          <a:prstGeom prst="rect">
            <a:avLst/>
          </a:prstGeom>
        </p:spPr>
        <p:txBody>
          <a:bodyPr vert="horz" wrap="square" lIns="0" tIns="12700" rIns="0" bIns="0" rtlCol="0">
            <a:spAutoFit/>
          </a:bodyPr>
          <a:lstStyle/>
          <a:p>
            <a:pPr marL="12700">
              <a:lnSpc>
                <a:spcPct val="100000"/>
              </a:lnSpc>
              <a:spcBef>
                <a:spcPts val="100"/>
              </a:spcBef>
            </a:pPr>
            <a:r>
              <a:rPr spc="130" dirty="0"/>
              <a:t>THỰC</a:t>
            </a:r>
            <a:r>
              <a:rPr spc="-90" dirty="0"/>
              <a:t> </a:t>
            </a:r>
            <a:r>
              <a:rPr spc="45" dirty="0"/>
              <a:t>NGHIỆM</a:t>
            </a:r>
            <a:r>
              <a:rPr spc="-100" dirty="0"/>
              <a:t> </a:t>
            </a:r>
            <a:r>
              <a:rPr spc="10" dirty="0"/>
              <a:t>VÀ</a:t>
            </a:r>
            <a:r>
              <a:rPr spc="-100" dirty="0"/>
              <a:t> </a:t>
            </a:r>
            <a:r>
              <a:rPr spc="95" dirty="0"/>
              <a:t>KẾT</a:t>
            </a:r>
            <a:r>
              <a:rPr spc="-100" dirty="0"/>
              <a:t> </a:t>
            </a:r>
            <a:r>
              <a:rPr spc="60" dirty="0"/>
              <a:t>LUẬN</a:t>
            </a:r>
          </a:p>
        </p:txBody>
      </p:sp>
      <p:sp>
        <p:nvSpPr>
          <p:cNvPr id="3" name="object 3"/>
          <p:cNvSpPr txBox="1"/>
          <p:nvPr/>
        </p:nvSpPr>
        <p:spPr>
          <a:xfrm>
            <a:off x="916939" y="992981"/>
            <a:ext cx="8897620" cy="652102"/>
          </a:xfrm>
          <a:prstGeom prst="rect">
            <a:avLst/>
          </a:prstGeom>
        </p:spPr>
        <p:txBody>
          <a:bodyPr vert="horz" wrap="square" lIns="0" tIns="13335" rIns="0" bIns="0" rtlCol="0">
            <a:spAutoFit/>
          </a:bodyPr>
          <a:lstStyle/>
          <a:p>
            <a:pPr marL="12700">
              <a:lnSpc>
                <a:spcPct val="100000"/>
              </a:lnSpc>
              <a:spcBef>
                <a:spcPts val="105"/>
              </a:spcBef>
            </a:pPr>
            <a:r>
              <a:rPr sz="2000" b="1" spc="25" dirty="0">
                <a:latin typeface="Calibri"/>
                <a:cs typeface="Calibri"/>
              </a:rPr>
              <a:t>4.</a:t>
            </a:r>
            <a:r>
              <a:rPr lang="en-US" sz="2000" b="1" spc="25" dirty="0">
                <a:latin typeface="Calibri"/>
                <a:cs typeface="Calibri"/>
              </a:rPr>
              <a:t>5</a:t>
            </a:r>
            <a:r>
              <a:rPr sz="2000" b="1" spc="25" dirty="0">
                <a:latin typeface="Calibri"/>
                <a:cs typeface="Calibri"/>
              </a:rPr>
              <a:t>.</a:t>
            </a:r>
            <a:r>
              <a:rPr sz="2000" b="1" spc="-85" dirty="0">
                <a:latin typeface="Calibri"/>
                <a:cs typeface="Calibri"/>
              </a:rPr>
              <a:t> </a:t>
            </a:r>
            <a:r>
              <a:rPr sz="2000" b="1" spc="35" dirty="0">
                <a:latin typeface="Calibri"/>
                <a:cs typeface="Calibri"/>
              </a:rPr>
              <a:t>Kết</a:t>
            </a:r>
            <a:r>
              <a:rPr sz="2000" b="1" spc="-90" dirty="0">
                <a:latin typeface="Calibri"/>
                <a:cs typeface="Calibri"/>
              </a:rPr>
              <a:t> </a:t>
            </a:r>
            <a:r>
              <a:rPr sz="2000" b="1" spc="10" dirty="0">
                <a:latin typeface="Calibri"/>
                <a:cs typeface="Calibri"/>
              </a:rPr>
              <a:t>quả</a:t>
            </a:r>
            <a:r>
              <a:rPr sz="2000" b="1" spc="-80" dirty="0">
                <a:latin typeface="Calibri"/>
                <a:cs typeface="Calibri"/>
              </a:rPr>
              <a:t> </a:t>
            </a:r>
            <a:r>
              <a:rPr sz="2000" b="1" spc="-15" dirty="0">
                <a:latin typeface="Calibri"/>
                <a:cs typeface="Calibri"/>
              </a:rPr>
              <a:t>trên</a:t>
            </a:r>
            <a:r>
              <a:rPr sz="2000" b="1" spc="-95" dirty="0">
                <a:latin typeface="Calibri"/>
                <a:cs typeface="Calibri"/>
              </a:rPr>
              <a:t> </a:t>
            </a:r>
            <a:r>
              <a:rPr sz="2000" b="1" spc="15" dirty="0">
                <a:latin typeface="Calibri"/>
                <a:cs typeface="Calibri"/>
              </a:rPr>
              <a:t>mô</a:t>
            </a:r>
            <a:r>
              <a:rPr sz="2000" b="1" spc="-65" dirty="0">
                <a:latin typeface="Calibri"/>
                <a:cs typeface="Calibri"/>
              </a:rPr>
              <a:t> </a:t>
            </a:r>
            <a:r>
              <a:rPr sz="2000" b="1" spc="-10" dirty="0">
                <a:latin typeface="Calibri"/>
                <a:cs typeface="Calibri"/>
              </a:rPr>
              <a:t>hình</a:t>
            </a:r>
            <a:r>
              <a:rPr sz="2000" b="1" spc="-95" dirty="0">
                <a:latin typeface="Calibri"/>
                <a:cs typeface="Calibri"/>
              </a:rPr>
              <a:t> </a:t>
            </a:r>
            <a:r>
              <a:rPr sz="2000" b="1" spc="-5" dirty="0">
                <a:latin typeface="Calibri"/>
                <a:cs typeface="Calibri"/>
              </a:rPr>
              <a:t>Multinomial</a:t>
            </a:r>
            <a:r>
              <a:rPr sz="2000" b="1" spc="-100" dirty="0">
                <a:latin typeface="Calibri"/>
                <a:cs typeface="Calibri"/>
              </a:rPr>
              <a:t> </a:t>
            </a:r>
            <a:r>
              <a:rPr lang="en-US" sz="2000" b="1" spc="50" dirty="0">
                <a:latin typeface="Calibri"/>
                <a:cs typeface="Calibri"/>
              </a:rPr>
              <a:t>Layer Perceptron</a:t>
            </a:r>
            <a:endParaRPr sz="2000" dirty="0">
              <a:latin typeface="Calibri"/>
              <a:cs typeface="Calibri"/>
            </a:endParaRPr>
          </a:p>
          <a:p>
            <a:pPr>
              <a:lnSpc>
                <a:spcPct val="100000"/>
              </a:lnSpc>
              <a:spcBef>
                <a:spcPts val="35"/>
              </a:spcBef>
            </a:pPr>
            <a:endParaRPr sz="2150" dirty="0">
              <a:latin typeface="Calibri"/>
              <a:cs typeface="Calibri"/>
            </a:endParaRPr>
          </a:p>
        </p:txBody>
      </p:sp>
      <p:pic>
        <p:nvPicPr>
          <p:cNvPr id="14" name="Hình ảnh 13">
            <a:extLst>
              <a:ext uri="{FF2B5EF4-FFF2-40B4-BE49-F238E27FC236}">
                <a16:creationId xmlns:a16="http://schemas.microsoft.com/office/drawing/2014/main" id="{0A576C0C-18E7-CECF-0A5B-F59F61D60300}"/>
              </a:ext>
            </a:extLst>
          </p:cNvPr>
          <p:cNvPicPr>
            <a:picLocks noChangeAspect="1"/>
          </p:cNvPicPr>
          <p:nvPr/>
        </p:nvPicPr>
        <p:blipFill>
          <a:blip r:embed="rId2"/>
          <a:stretch>
            <a:fillRect/>
          </a:stretch>
        </p:blipFill>
        <p:spPr>
          <a:xfrm>
            <a:off x="545592" y="1719421"/>
            <a:ext cx="5867400" cy="383154"/>
          </a:xfrm>
          <a:prstGeom prst="rect">
            <a:avLst/>
          </a:prstGeom>
        </p:spPr>
      </p:pic>
      <p:pic>
        <p:nvPicPr>
          <p:cNvPr id="16" name="Hình ảnh 15">
            <a:extLst>
              <a:ext uri="{FF2B5EF4-FFF2-40B4-BE49-F238E27FC236}">
                <a16:creationId xmlns:a16="http://schemas.microsoft.com/office/drawing/2014/main" id="{45BBDB85-C788-68CA-01DB-78925B92E675}"/>
              </a:ext>
            </a:extLst>
          </p:cNvPr>
          <p:cNvPicPr>
            <a:picLocks noChangeAspect="1"/>
          </p:cNvPicPr>
          <p:nvPr/>
        </p:nvPicPr>
        <p:blipFill>
          <a:blip r:embed="rId3"/>
          <a:stretch>
            <a:fillRect/>
          </a:stretch>
        </p:blipFill>
        <p:spPr>
          <a:xfrm>
            <a:off x="429768" y="2321739"/>
            <a:ext cx="5983224" cy="4187155"/>
          </a:xfrm>
          <a:prstGeom prst="rect">
            <a:avLst/>
          </a:prstGeom>
        </p:spPr>
      </p:pic>
      <p:pic>
        <p:nvPicPr>
          <p:cNvPr id="18" name="Hình ảnh 17">
            <a:extLst>
              <a:ext uri="{FF2B5EF4-FFF2-40B4-BE49-F238E27FC236}">
                <a16:creationId xmlns:a16="http://schemas.microsoft.com/office/drawing/2014/main" id="{98FEF11B-0222-7625-4BA7-B0EDE4B86E47}"/>
              </a:ext>
            </a:extLst>
          </p:cNvPr>
          <p:cNvPicPr>
            <a:picLocks noChangeAspect="1"/>
          </p:cNvPicPr>
          <p:nvPr/>
        </p:nvPicPr>
        <p:blipFill>
          <a:blip r:embed="rId4"/>
          <a:stretch>
            <a:fillRect/>
          </a:stretch>
        </p:blipFill>
        <p:spPr>
          <a:xfrm>
            <a:off x="6468877" y="1719421"/>
            <a:ext cx="5577317" cy="47894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30" dirty="0"/>
              <a:t>THỰC</a:t>
            </a:r>
            <a:r>
              <a:rPr spc="-90" dirty="0"/>
              <a:t> </a:t>
            </a:r>
            <a:r>
              <a:rPr spc="45" dirty="0"/>
              <a:t>NGHIỆM</a:t>
            </a:r>
            <a:r>
              <a:rPr spc="-100" dirty="0"/>
              <a:t> </a:t>
            </a:r>
            <a:r>
              <a:rPr spc="10" dirty="0"/>
              <a:t>VÀ</a:t>
            </a:r>
            <a:r>
              <a:rPr spc="-100" dirty="0"/>
              <a:t> </a:t>
            </a:r>
            <a:r>
              <a:rPr spc="95" dirty="0"/>
              <a:t>KẾT</a:t>
            </a:r>
            <a:r>
              <a:rPr spc="-100" dirty="0"/>
              <a:t> </a:t>
            </a:r>
            <a:r>
              <a:rPr spc="60" dirty="0"/>
              <a:t>LUẬN</a:t>
            </a:r>
          </a:p>
        </p:txBody>
      </p:sp>
      <p:sp>
        <p:nvSpPr>
          <p:cNvPr id="9" name="object 9"/>
          <p:cNvSpPr txBox="1"/>
          <p:nvPr/>
        </p:nvSpPr>
        <p:spPr>
          <a:xfrm>
            <a:off x="916787" y="4856688"/>
            <a:ext cx="9345930" cy="1572260"/>
          </a:xfrm>
          <a:prstGeom prst="rect">
            <a:avLst/>
          </a:prstGeom>
        </p:spPr>
        <p:txBody>
          <a:bodyPr vert="horz" wrap="square" lIns="0" tIns="50800" rIns="0" bIns="0" rtlCol="0">
            <a:spAutoFit/>
          </a:bodyPr>
          <a:lstStyle/>
          <a:p>
            <a:pPr marL="12700">
              <a:lnSpc>
                <a:spcPct val="100000"/>
              </a:lnSpc>
              <a:spcBef>
                <a:spcPts val="400"/>
              </a:spcBef>
            </a:pPr>
            <a:r>
              <a:rPr sz="1800" spc="-20" dirty="0">
                <a:latin typeface="Arial"/>
                <a:cs typeface="Arial"/>
              </a:rPr>
              <a:t>Các</a:t>
            </a:r>
            <a:r>
              <a:rPr sz="1800" spc="-130" dirty="0">
                <a:latin typeface="Arial"/>
                <a:cs typeface="Arial"/>
              </a:rPr>
              <a:t> </a:t>
            </a:r>
            <a:r>
              <a:rPr sz="1800" spc="-15" dirty="0">
                <a:latin typeface="Arial"/>
                <a:cs typeface="Arial"/>
              </a:rPr>
              <a:t>danh</a:t>
            </a:r>
            <a:r>
              <a:rPr sz="1800" spc="-150" dirty="0">
                <a:latin typeface="Arial"/>
                <a:cs typeface="Arial"/>
              </a:rPr>
              <a:t> </a:t>
            </a:r>
            <a:r>
              <a:rPr sz="1800" spc="25" dirty="0">
                <a:latin typeface="Arial"/>
                <a:cs typeface="Arial"/>
              </a:rPr>
              <a:t>mục</a:t>
            </a:r>
            <a:r>
              <a:rPr sz="1800" spc="-140" dirty="0">
                <a:latin typeface="Arial"/>
                <a:cs typeface="Arial"/>
              </a:rPr>
              <a:t> </a:t>
            </a:r>
            <a:r>
              <a:rPr sz="1800" spc="15" dirty="0">
                <a:latin typeface="Arial"/>
                <a:cs typeface="Arial"/>
              </a:rPr>
              <a:t>có</a:t>
            </a:r>
            <a:r>
              <a:rPr sz="1800" spc="-140" dirty="0">
                <a:latin typeface="Arial"/>
                <a:cs typeface="Arial"/>
              </a:rPr>
              <a:t> </a:t>
            </a:r>
            <a:r>
              <a:rPr sz="1800" spc="-5" dirty="0">
                <a:latin typeface="Arial"/>
                <a:cs typeface="Arial"/>
              </a:rPr>
              <a:t>độ</a:t>
            </a:r>
            <a:r>
              <a:rPr sz="1800" spc="-140" dirty="0">
                <a:latin typeface="Arial"/>
                <a:cs typeface="Arial"/>
              </a:rPr>
              <a:t> </a:t>
            </a:r>
            <a:r>
              <a:rPr sz="1800" spc="-20" dirty="0">
                <a:latin typeface="Arial"/>
                <a:cs typeface="Arial"/>
              </a:rPr>
              <a:t>nhận</a:t>
            </a:r>
            <a:r>
              <a:rPr sz="1800" spc="-165" dirty="0">
                <a:latin typeface="Arial"/>
                <a:cs typeface="Arial"/>
              </a:rPr>
              <a:t> </a:t>
            </a:r>
            <a:r>
              <a:rPr sz="1800" spc="-10" dirty="0">
                <a:latin typeface="Arial"/>
                <a:cs typeface="Arial"/>
              </a:rPr>
              <a:t>diện</a:t>
            </a:r>
            <a:r>
              <a:rPr sz="1800" spc="-150" dirty="0">
                <a:latin typeface="Arial"/>
                <a:cs typeface="Arial"/>
              </a:rPr>
              <a:t> </a:t>
            </a:r>
            <a:r>
              <a:rPr sz="1800" spc="-75" dirty="0">
                <a:latin typeface="Arial"/>
                <a:cs typeface="Arial"/>
              </a:rPr>
              <a:t>tương</a:t>
            </a:r>
            <a:r>
              <a:rPr sz="1800" spc="-125" dirty="0">
                <a:latin typeface="Arial"/>
                <a:cs typeface="Arial"/>
              </a:rPr>
              <a:t> </a:t>
            </a:r>
            <a:r>
              <a:rPr sz="1800" spc="5" dirty="0">
                <a:latin typeface="Arial"/>
                <a:cs typeface="Arial"/>
              </a:rPr>
              <a:t>đối</a:t>
            </a:r>
            <a:r>
              <a:rPr sz="1800" spc="-150" dirty="0">
                <a:latin typeface="Arial"/>
                <a:cs typeface="Arial"/>
              </a:rPr>
              <a:t> </a:t>
            </a:r>
            <a:r>
              <a:rPr sz="1800" spc="-20" dirty="0">
                <a:latin typeface="Arial"/>
                <a:cs typeface="Arial"/>
              </a:rPr>
              <a:t>cao,</a:t>
            </a:r>
            <a:r>
              <a:rPr sz="1800" spc="-140" dirty="0">
                <a:latin typeface="Arial"/>
                <a:cs typeface="Arial"/>
              </a:rPr>
              <a:t> </a:t>
            </a:r>
            <a:r>
              <a:rPr sz="1800" spc="-25" dirty="0">
                <a:latin typeface="Arial"/>
                <a:cs typeface="Arial"/>
              </a:rPr>
              <a:t>trong</a:t>
            </a:r>
            <a:r>
              <a:rPr sz="1800" spc="-140" dirty="0">
                <a:latin typeface="Arial"/>
                <a:cs typeface="Arial"/>
              </a:rPr>
              <a:t> </a:t>
            </a:r>
            <a:r>
              <a:rPr sz="1800" dirty="0">
                <a:latin typeface="Arial"/>
                <a:cs typeface="Arial"/>
              </a:rPr>
              <a:t>đó:</a:t>
            </a:r>
          </a:p>
          <a:p>
            <a:pPr marL="299085" indent="-287020">
              <a:lnSpc>
                <a:spcPct val="100000"/>
              </a:lnSpc>
              <a:spcBef>
                <a:spcPts val="300"/>
              </a:spcBef>
              <a:buChar char="•"/>
              <a:tabLst>
                <a:tab pos="299085" algn="l"/>
                <a:tab pos="299720" algn="l"/>
              </a:tabLst>
            </a:pPr>
            <a:r>
              <a:rPr sz="1800" spc="-35" dirty="0">
                <a:latin typeface="Arial"/>
                <a:cs typeface="Arial"/>
              </a:rPr>
              <a:t>Danh</a:t>
            </a:r>
            <a:r>
              <a:rPr sz="1800" spc="-150" dirty="0">
                <a:latin typeface="Arial"/>
                <a:cs typeface="Arial"/>
              </a:rPr>
              <a:t> </a:t>
            </a:r>
            <a:r>
              <a:rPr sz="1800" spc="25" dirty="0" err="1">
                <a:latin typeface="Arial"/>
                <a:cs typeface="Arial"/>
              </a:rPr>
              <a:t>mục</a:t>
            </a:r>
            <a:r>
              <a:rPr sz="1800" spc="-130" dirty="0">
                <a:latin typeface="Arial"/>
                <a:cs typeface="Arial"/>
              </a:rPr>
              <a:t> </a:t>
            </a:r>
            <a:r>
              <a:rPr lang="en-US" b="1" spc="-55" dirty="0">
                <a:solidFill>
                  <a:srgbClr val="205F9A"/>
                </a:solidFill>
                <a:latin typeface="Arial"/>
                <a:cs typeface="Arial"/>
              </a:rPr>
              <a:t>Du </a:t>
            </a:r>
            <a:r>
              <a:rPr lang="en-US" b="1" spc="-55" dirty="0" err="1">
                <a:solidFill>
                  <a:srgbClr val="205F9A"/>
                </a:solidFill>
                <a:latin typeface="Arial"/>
                <a:cs typeface="Arial"/>
              </a:rPr>
              <a:t>lịch</a:t>
            </a:r>
            <a:r>
              <a:rPr sz="1800" dirty="0">
                <a:latin typeface="Arial"/>
                <a:cs typeface="Arial"/>
              </a:rPr>
              <a:t>,</a:t>
            </a:r>
            <a:r>
              <a:rPr sz="1800" spc="235" dirty="0">
                <a:latin typeface="Arial"/>
                <a:cs typeface="Arial"/>
              </a:rPr>
              <a:t> </a:t>
            </a:r>
            <a:r>
              <a:rPr lang="en-US" b="1" spc="-85" dirty="0" err="1">
                <a:solidFill>
                  <a:srgbClr val="205F9A"/>
                </a:solidFill>
                <a:latin typeface="Arial"/>
                <a:cs typeface="Arial"/>
              </a:rPr>
              <a:t>Giáo</a:t>
            </a:r>
            <a:r>
              <a:rPr lang="en-US" b="1" spc="-85" dirty="0">
                <a:solidFill>
                  <a:srgbClr val="205F9A"/>
                </a:solidFill>
                <a:latin typeface="Arial"/>
                <a:cs typeface="Arial"/>
              </a:rPr>
              <a:t> </a:t>
            </a:r>
            <a:r>
              <a:rPr lang="en-US" b="1" spc="-85" dirty="0" err="1">
                <a:solidFill>
                  <a:srgbClr val="205F9A"/>
                </a:solidFill>
                <a:latin typeface="Arial"/>
                <a:cs typeface="Arial"/>
              </a:rPr>
              <a:t>dục</a:t>
            </a:r>
            <a:r>
              <a:rPr sz="1800" spc="-35" dirty="0">
                <a:latin typeface="Arial"/>
                <a:cs typeface="Arial"/>
              </a:rPr>
              <a:t>,</a:t>
            </a:r>
            <a:r>
              <a:rPr sz="1800" spc="-140" dirty="0">
                <a:latin typeface="Arial"/>
                <a:cs typeface="Arial"/>
              </a:rPr>
              <a:t> </a:t>
            </a:r>
            <a:r>
              <a:rPr lang="en-US" b="1" spc="-85" dirty="0" err="1">
                <a:solidFill>
                  <a:srgbClr val="205F9A"/>
                </a:solidFill>
                <a:latin typeface="Arial"/>
                <a:cs typeface="Arial"/>
              </a:rPr>
              <a:t>Giải</a:t>
            </a:r>
            <a:r>
              <a:rPr lang="en-US" b="1" spc="-85" dirty="0">
                <a:solidFill>
                  <a:srgbClr val="205F9A"/>
                </a:solidFill>
                <a:latin typeface="Arial"/>
                <a:cs typeface="Arial"/>
              </a:rPr>
              <a:t> </a:t>
            </a:r>
            <a:r>
              <a:rPr lang="en-US" b="1" spc="-85" dirty="0" err="1">
                <a:solidFill>
                  <a:srgbClr val="205F9A"/>
                </a:solidFill>
                <a:latin typeface="Arial"/>
                <a:cs typeface="Arial"/>
              </a:rPr>
              <a:t>trí</a:t>
            </a:r>
            <a:r>
              <a:rPr sz="1800" b="1" spc="-20" dirty="0">
                <a:solidFill>
                  <a:srgbClr val="205F9A"/>
                </a:solidFill>
                <a:latin typeface="Arial"/>
                <a:cs typeface="Arial"/>
              </a:rPr>
              <a:t>,</a:t>
            </a:r>
            <a:r>
              <a:rPr sz="1800" b="1" spc="-150" dirty="0">
                <a:solidFill>
                  <a:srgbClr val="205F9A"/>
                </a:solidFill>
                <a:latin typeface="Arial"/>
                <a:cs typeface="Arial"/>
              </a:rPr>
              <a:t> </a:t>
            </a:r>
            <a:r>
              <a:rPr lang="en-US" b="1" spc="-55" dirty="0">
                <a:solidFill>
                  <a:srgbClr val="205F9A"/>
                </a:solidFill>
                <a:latin typeface="Arial"/>
                <a:cs typeface="Arial"/>
              </a:rPr>
              <a:t>Khoa </a:t>
            </a:r>
            <a:r>
              <a:rPr lang="en-US" b="1" spc="-55" dirty="0" err="1">
                <a:solidFill>
                  <a:srgbClr val="205F9A"/>
                </a:solidFill>
                <a:latin typeface="Arial"/>
                <a:cs typeface="Arial"/>
              </a:rPr>
              <a:t>học</a:t>
            </a:r>
            <a:r>
              <a:rPr sz="1800" b="1" spc="-130" dirty="0">
                <a:solidFill>
                  <a:srgbClr val="205F9A"/>
                </a:solidFill>
                <a:latin typeface="Arial"/>
                <a:cs typeface="Arial"/>
              </a:rPr>
              <a:t> </a:t>
            </a:r>
            <a:r>
              <a:rPr sz="1800" spc="15" dirty="0">
                <a:latin typeface="Arial"/>
                <a:cs typeface="Arial"/>
              </a:rPr>
              <a:t>có</a:t>
            </a:r>
            <a:r>
              <a:rPr sz="1800" spc="-145" dirty="0">
                <a:latin typeface="Arial"/>
                <a:cs typeface="Arial"/>
              </a:rPr>
              <a:t> </a:t>
            </a:r>
            <a:r>
              <a:rPr sz="1800" spc="-5" dirty="0">
                <a:latin typeface="Arial"/>
                <a:cs typeface="Arial"/>
              </a:rPr>
              <a:t>kết</a:t>
            </a:r>
            <a:r>
              <a:rPr sz="1800" spc="-125" dirty="0">
                <a:latin typeface="Arial"/>
                <a:cs typeface="Arial"/>
              </a:rPr>
              <a:t> </a:t>
            </a:r>
            <a:r>
              <a:rPr sz="1800" spc="-15" dirty="0">
                <a:latin typeface="Arial"/>
                <a:cs typeface="Arial"/>
              </a:rPr>
              <a:t>quả</a:t>
            </a:r>
            <a:r>
              <a:rPr sz="1800" spc="-135" dirty="0">
                <a:latin typeface="Arial"/>
                <a:cs typeface="Arial"/>
              </a:rPr>
              <a:t> </a:t>
            </a:r>
            <a:r>
              <a:rPr sz="1800" spc="-65" dirty="0">
                <a:latin typeface="Arial"/>
                <a:cs typeface="Arial"/>
              </a:rPr>
              <a:t>dự</a:t>
            </a:r>
            <a:r>
              <a:rPr sz="1800" spc="-135" dirty="0">
                <a:latin typeface="Arial"/>
                <a:cs typeface="Arial"/>
              </a:rPr>
              <a:t> </a:t>
            </a:r>
            <a:r>
              <a:rPr sz="1800" spc="-15" dirty="0">
                <a:latin typeface="Arial"/>
                <a:cs typeface="Arial"/>
              </a:rPr>
              <a:t>đoán</a:t>
            </a:r>
            <a:r>
              <a:rPr sz="1800" spc="-145" dirty="0">
                <a:latin typeface="Arial"/>
                <a:cs typeface="Arial"/>
              </a:rPr>
              <a:t> </a:t>
            </a:r>
            <a:r>
              <a:rPr sz="1800" spc="-15" dirty="0">
                <a:latin typeface="Arial"/>
                <a:cs typeface="Arial"/>
              </a:rPr>
              <a:t>chính</a:t>
            </a:r>
            <a:r>
              <a:rPr sz="1800" spc="-165" dirty="0">
                <a:latin typeface="Arial"/>
                <a:cs typeface="Arial"/>
              </a:rPr>
              <a:t> </a:t>
            </a:r>
            <a:r>
              <a:rPr sz="1800" spc="-45" dirty="0">
                <a:latin typeface="Arial"/>
                <a:cs typeface="Arial"/>
              </a:rPr>
              <a:t>xác</a:t>
            </a:r>
            <a:r>
              <a:rPr sz="1800" spc="-125" dirty="0">
                <a:latin typeface="Arial"/>
                <a:cs typeface="Arial"/>
              </a:rPr>
              <a:t> </a:t>
            </a:r>
            <a:r>
              <a:rPr sz="1800" spc="-20" dirty="0">
                <a:latin typeface="Arial"/>
                <a:cs typeface="Arial"/>
              </a:rPr>
              <a:t>mức</a:t>
            </a:r>
            <a:r>
              <a:rPr sz="1800" spc="-120" dirty="0">
                <a:latin typeface="Arial"/>
                <a:cs typeface="Arial"/>
              </a:rPr>
              <a:t> </a:t>
            </a:r>
            <a:r>
              <a:rPr sz="1800" spc="-10" dirty="0">
                <a:latin typeface="Arial"/>
                <a:cs typeface="Arial"/>
              </a:rPr>
              <a:t>cao</a:t>
            </a:r>
            <a:endParaRPr sz="1800" dirty="0">
              <a:latin typeface="Arial"/>
              <a:cs typeface="Arial"/>
            </a:endParaRPr>
          </a:p>
          <a:p>
            <a:pPr marL="299085" indent="-287020">
              <a:lnSpc>
                <a:spcPct val="100000"/>
              </a:lnSpc>
              <a:buChar char="•"/>
              <a:tabLst>
                <a:tab pos="299085" algn="l"/>
                <a:tab pos="299720" algn="l"/>
              </a:tabLst>
            </a:pPr>
            <a:r>
              <a:rPr sz="1800" spc="-35" dirty="0">
                <a:latin typeface="Arial"/>
                <a:cs typeface="Arial"/>
              </a:rPr>
              <a:t>Danh</a:t>
            </a:r>
            <a:r>
              <a:rPr sz="1800" spc="-150" dirty="0">
                <a:latin typeface="Arial"/>
                <a:cs typeface="Arial"/>
              </a:rPr>
              <a:t> </a:t>
            </a:r>
            <a:r>
              <a:rPr sz="1800" spc="25" dirty="0" err="1">
                <a:latin typeface="Arial"/>
                <a:cs typeface="Arial"/>
              </a:rPr>
              <a:t>mục</a:t>
            </a:r>
            <a:r>
              <a:rPr sz="1800" spc="-135" dirty="0">
                <a:latin typeface="Arial"/>
                <a:cs typeface="Arial"/>
              </a:rPr>
              <a:t> </a:t>
            </a:r>
            <a:r>
              <a:rPr lang="en-US" b="1" spc="-85" dirty="0">
                <a:solidFill>
                  <a:srgbClr val="205F9A"/>
                </a:solidFill>
                <a:latin typeface="Arial"/>
                <a:cs typeface="Arial"/>
              </a:rPr>
              <a:t>Văn </a:t>
            </a:r>
            <a:r>
              <a:rPr lang="en-US" b="1" spc="-85" dirty="0" err="1">
                <a:solidFill>
                  <a:srgbClr val="205F9A"/>
                </a:solidFill>
                <a:latin typeface="Arial"/>
                <a:cs typeface="Arial"/>
              </a:rPr>
              <a:t>hoá</a:t>
            </a:r>
            <a:r>
              <a:rPr sz="1800" b="1" spc="-130" dirty="0">
                <a:solidFill>
                  <a:srgbClr val="205F9A"/>
                </a:solidFill>
                <a:latin typeface="Arial"/>
                <a:cs typeface="Arial"/>
              </a:rPr>
              <a:t> </a:t>
            </a:r>
            <a:r>
              <a:rPr sz="1800" spc="15" dirty="0">
                <a:latin typeface="Arial"/>
                <a:cs typeface="Arial"/>
              </a:rPr>
              <a:t>có</a:t>
            </a:r>
            <a:r>
              <a:rPr sz="1800" spc="-150" dirty="0">
                <a:latin typeface="Arial"/>
                <a:cs typeface="Arial"/>
              </a:rPr>
              <a:t> </a:t>
            </a:r>
            <a:r>
              <a:rPr sz="1800" spc="-5" dirty="0">
                <a:latin typeface="Arial"/>
                <a:cs typeface="Arial"/>
              </a:rPr>
              <a:t>độ</a:t>
            </a:r>
            <a:r>
              <a:rPr sz="1800" spc="-135" dirty="0">
                <a:latin typeface="Arial"/>
                <a:cs typeface="Arial"/>
              </a:rPr>
              <a:t> </a:t>
            </a:r>
            <a:r>
              <a:rPr sz="1800" spc="-15" dirty="0">
                <a:latin typeface="Arial"/>
                <a:cs typeface="Arial"/>
              </a:rPr>
              <a:t>chính</a:t>
            </a:r>
            <a:r>
              <a:rPr sz="1800" spc="-165" dirty="0">
                <a:latin typeface="Arial"/>
                <a:cs typeface="Arial"/>
              </a:rPr>
              <a:t> </a:t>
            </a:r>
            <a:r>
              <a:rPr sz="1800" spc="-45" dirty="0">
                <a:latin typeface="Arial"/>
                <a:cs typeface="Arial"/>
              </a:rPr>
              <a:t>xác</a:t>
            </a:r>
            <a:r>
              <a:rPr sz="1800" spc="-130" dirty="0">
                <a:latin typeface="Arial"/>
                <a:cs typeface="Arial"/>
              </a:rPr>
              <a:t> </a:t>
            </a:r>
            <a:r>
              <a:rPr sz="1800" spc="5" dirty="0">
                <a:latin typeface="Arial"/>
                <a:cs typeface="Arial"/>
              </a:rPr>
              <a:t>thấp</a:t>
            </a:r>
            <a:r>
              <a:rPr sz="1800" spc="-135" dirty="0">
                <a:latin typeface="Arial"/>
                <a:cs typeface="Arial"/>
              </a:rPr>
              <a:t> </a:t>
            </a:r>
            <a:r>
              <a:rPr sz="1800" dirty="0">
                <a:latin typeface="Arial"/>
                <a:cs typeface="Arial"/>
              </a:rPr>
              <a:t>nhất</a:t>
            </a:r>
            <a:r>
              <a:rPr sz="1800" spc="-150" dirty="0">
                <a:latin typeface="Arial"/>
                <a:cs typeface="Arial"/>
              </a:rPr>
              <a:t> </a:t>
            </a:r>
            <a:r>
              <a:rPr sz="1800" spc="-30" dirty="0">
                <a:latin typeface="Arial"/>
                <a:cs typeface="Arial"/>
              </a:rPr>
              <a:t>(độ</a:t>
            </a:r>
            <a:r>
              <a:rPr sz="1800" spc="-140" dirty="0">
                <a:latin typeface="Arial"/>
                <a:cs typeface="Arial"/>
              </a:rPr>
              <a:t> </a:t>
            </a:r>
            <a:r>
              <a:rPr sz="1800" spc="-10" dirty="0">
                <a:latin typeface="Arial"/>
                <a:cs typeface="Arial"/>
              </a:rPr>
              <a:t>nhầm</a:t>
            </a:r>
            <a:r>
              <a:rPr sz="1800" spc="-150" dirty="0">
                <a:latin typeface="Arial"/>
                <a:cs typeface="Arial"/>
              </a:rPr>
              <a:t> </a:t>
            </a:r>
            <a:r>
              <a:rPr sz="1800" dirty="0">
                <a:latin typeface="Arial"/>
                <a:cs typeface="Arial"/>
              </a:rPr>
              <a:t>lẫn</a:t>
            </a:r>
            <a:r>
              <a:rPr sz="1800" spc="-150" dirty="0">
                <a:latin typeface="Arial"/>
                <a:cs typeface="Arial"/>
              </a:rPr>
              <a:t> </a:t>
            </a:r>
            <a:r>
              <a:rPr sz="1800" spc="-25" dirty="0">
                <a:latin typeface="Arial"/>
                <a:cs typeface="Arial"/>
              </a:rPr>
              <a:t>cao)</a:t>
            </a:r>
            <a:endParaRPr sz="1800" dirty="0">
              <a:latin typeface="Arial"/>
              <a:cs typeface="Arial"/>
            </a:endParaRPr>
          </a:p>
          <a:p>
            <a:pPr marL="299085" indent="-287020">
              <a:lnSpc>
                <a:spcPct val="100000"/>
              </a:lnSpc>
              <a:buChar char="•"/>
              <a:tabLst>
                <a:tab pos="299085" algn="l"/>
                <a:tab pos="299720" algn="l"/>
              </a:tabLst>
            </a:pPr>
            <a:r>
              <a:rPr sz="1800" spc="-10" dirty="0" err="1">
                <a:latin typeface="Arial"/>
                <a:cs typeface="Arial"/>
              </a:rPr>
              <a:t>Mục</a:t>
            </a:r>
            <a:r>
              <a:rPr sz="1800" spc="-150" dirty="0">
                <a:latin typeface="Arial"/>
                <a:cs typeface="Arial"/>
              </a:rPr>
              <a:t> </a:t>
            </a:r>
            <a:r>
              <a:rPr lang="en-US" b="1" spc="-85" dirty="0">
                <a:solidFill>
                  <a:srgbClr val="205F9A"/>
                </a:solidFill>
                <a:latin typeface="Arial"/>
                <a:cs typeface="Arial"/>
              </a:rPr>
              <a:t>Văn </a:t>
            </a:r>
            <a:r>
              <a:rPr lang="en-US" b="1" spc="-85" dirty="0" err="1">
                <a:solidFill>
                  <a:srgbClr val="205F9A"/>
                </a:solidFill>
                <a:latin typeface="Arial"/>
                <a:cs typeface="Arial"/>
              </a:rPr>
              <a:t>hoá</a:t>
            </a:r>
            <a:r>
              <a:rPr sz="1800" b="1" spc="-140" dirty="0">
                <a:solidFill>
                  <a:srgbClr val="205F9A"/>
                </a:solidFill>
                <a:latin typeface="Arial"/>
                <a:cs typeface="Arial"/>
              </a:rPr>
              <a:t> </a:t>
            </a:r>
            <a:r>
              <a:rPr sz="1800" spc="-65" dirty="0">
                <a:latin typeface="Arial"/>
                <a:cs typeface="Arial"/>
              </a:rPr>
              <a:t>thường</a:t>
            </a:r>
            <a:r>
              <a:rPr sz="1800" spc="-140" dirty="0">
                <a:latin typeface="Arial"/>
                <a:cs typeface="Arial"/>
              </a:rPr>
              <a:t> </a:t>
            </a:r>
            <a:r>
              <a:rPr sz="1800" spc="15" dirty="0">
                <a:latin typeface="Arial"/>
                <a:cs typeface="Arial"/>
              </a:rPr>
              <a:t>bị</a:t>
            </a:r>
            <a:r>
              <a:rPr sz="1800" spc="-140" dirty="0">
                <a:latin typeface="Arial"/>
                <a:cs typeface="Arial"/>
              </a:rPr>
              <a:t> </a:t>
            </a:r>
            <a:r>
              <a:rPr sz="1800" spc="-10" dirty="0">
                <a:latin typeface="Arial"/>
                <a:cs typeface="Arial"/>
              </a:rPr>
              <a:t>nhầm</a:t>
            </a:r>
            <a:r>
              <a:rPr sz="1800" spc="-155" dirty="0">
                <a:latin typeface="Arial"/>
                <a:cs typeface="Arial"/>
              </a:rPr>
              <a:t> </a:t>
            </a:r>
            <a:r>
              <a:rPr sz="1800" spc="-55" dirty="0">
                <a:latin typeface="Arial"/>
                <a:cs typeface="Arial"/>
              </a:rPr>
              <a:t>sang</a:t>
            </a:r>
            <a:r>
              <a:rPr sz="1800" spc="-140" dirty="0">
                <a:latin typeface="Arial"/>
                <a:cs typeface="Arial"/>
              </a:rPr>
              <a:t> </a:t>
            </a:r>
            <a:r>
              <a:rPr sz="1800" spc="25" dirty="0" err="1">
                <a:latin typeface="Arial"/>
                <a:cs typeface="Arial"/>
              </a:rPr>
              <a:t>mục</a:t>
            </a:r>
            <a:r>
              <a:rPr sz="1800" spc="-135" dirty="0">
                <a:latin typeface="Arial"/>
                <a:cs typeface="Arial"/>
              </a:rPr>
              <a:t> </a:t>
            </a:r>
            <a:r>
              <a:rPr lang="en-US" b="1" spc="-85" dirty="0" err="1">
                <a:solidFill>
                  <a:srgbClr val="205F9A"/>
                </a:solidFill>
                <a:latin typeface="Arial"/>
                <a:cs typeface="Arial"/>
              </a:rPr>
              <a:t>Giải</a:t>
            </a:r>
            <a:r>
              <a:rPr lang="en-US" b="1" spc="-85" dirty="0">
                <a:solidFill>
                  <a:srgbClr val="205F9A"/>
                </a:solidFill>
                <a:latin typeface="Arial"/>
                <a:cs typeface="Arial"/>
              </a:rPr>
              <a:t> </a:t>
            </a:r>
            <a:r>
              <a:rPr lang="en-US" b="1" spc="-85" dirty="0" err="1">
                <a:solidFill>
                  <a:srgbClr val="205F9A"/>
                </a:solidFill>
                <a:latin typeface="Arial"/>
                <a:cs typeface="Arial"/>
              </a:rPr>
              <a:t>trí</a:t>
            </a:r>
            <a:r>
              <a:rPr sz="1800" b="1" spc="-150" dirty="0">
                <a:solidFill>
                  <a:srgbClr val="205F9A"/>
                </a:solidFill>
                <a:latin typeface="Arial"/>
                <a:cs typeface="Arial"/>
              </a:rPr>
              <a:t> </a:t>
            </a:r>
            <a:r>
              <a:rPr sz="1800" spc="-70" dirty="0">
                <a:latin typeface="Arial"/>
                <a:cs typeface="Arial"/>
              </a:rPr>
              <a:t>và</a:t>
            </a:r>
            <a:r>
              <a:rPr sz="1800" spc="-140" dirty="0">
                <a:latin typeface="Arial"/>
                <a:cs typeface="Arial"/>
              </a:rPr>
              <a:t> </a:t>
            </a:r>
            <a:r>
              <a:rPr sz="1800" b="1" spc="-45" dirty="0">
                <a:solidFill>
                  <a:srgbClr val="205F9A"/>
                </a:solidFill>
                <a:latin typeface="Arial"/>
                <a:cs typeface="Arial"/>
              </a:rPr>
              <a:t>Du</a:t>
            </a:r>
            <a:r>
              <a:rPr sz="1800" b="1" spc="-135" dirty="0">
                <a:solidFill>
                  <a:srgbClr val="205F9A"/>
                </a:solidFill>
                <a:latin typeface="Arial"/>
                <a:cs typeface="Arial"/>
              </a:rPr>
              <a:t> </a:t>
            </a:r>
            <a:r>
              <a:rPr sz="1800" b="1" spc="-20" dirty="0">
                <a:solidFill>
                  <a:srgbClr val="205F9A"/>
                </a:solidFill>
                <a:latin typeface="Arial"/>
                <a:cs typeface="Arial"/>
              </a:rPr>
              <a:t>lịch</a:t>
            </a:r>
            <a:endParaRPr sz="1800" dirty="0">
              <a:latin typeface="Arial"/>
              <a:cs typeface="Arial"/>
            </a:endParaRPr>
          </a:p>
          <a:p>
            <a:pPr marL="12700">
              <a:lnSpc>
                <a:spcPct val="100000"/>
              </a:lnSpc>
              <a:spcBef>
                <a:spcPts val="780"/>
              </a:spcBef>
            </a:pPr>
            <a:r>
              <a:rPr sz="1800" dirty="0">
                <a:latin typeface="Wingdings"/>
                <a:cs typeface="Wingdings"/>
              </a:rPr>
              <a:t></a:t>
            </a:r>
            <a:r>
              <a:rPr sz="1800" spc="-90" dirty="0">
                <a:latin typeface="Times New Roman"/>
                <a:cs typeface="Times New Roman"/>
              </a:rPr>
              <a:t> </a:t>
            </a:r>
            <a:r>
              <a:rPr sz="1800" spc="-55" dirty="0">
                <a:latin typeface="Arial"/>
                <a:cs typeface="Arial"/>
              </a:rPr>
              <a:t>Kết</a:t>
            </a:r>
            <a:r>
              <a:rPr sz="1800" spc="-125" dirty="0">
                <a:latin typeface="Arial"/>
                <a:cs typeface="Arial"/>
              </a:rPr>
              <a:t> </a:t>
            </a:r>
            <a:r>
              <a:rPr sz="1800" spc="-15" dirty="0">
                <a:latin typeface="Arial"/>
                <a:cs typeface="Arial"/>
              </a:rPr>
              <a:t>quả</a:t>
            </a:r>
            <a:r>
              <a:rPr sz="1800" spc="-140" dirty="0">
                <a:latin typeface="Arial"/>
                <a:cs typeface="Arial"/>
              </a:rPr>
              <a:t> </a:t>
            </a:r>
            <a:r>
              <a:rPr sz="1800" spc="-50" dirty="0">
                <a:latin typeface="Arial"/>
                <a:cs typeface="Arial"/>
              </a:rPr>
              <a:t>này</a:t>
            </a:r>
            <a:r>
              <a:rPr sz="1800" spc="-155" dirty="0">
                <a:latin typeface="Arial"/>
                <a:cs typeface="Arial"/>
              </a:rPr>
              <a:t> </a:t>
            </a:r>
            <a:r>
              <a:rPr sz="1800" spc="5" dirty="0">
                <a:latin typeface="Arial"/>
                <a:cs typeface="Arial"/>
              </a:rPr>
              <a:t>là</a:t>
            </a:r>
            <a:r>
              <a:rPr sz="1800" spc="-140" dirty="0">
                <a:latin typeface="Arial"/>
                <a:cs typeface="Arial"/>
              </a:rPr>
              <a:t> </a:t>
            </a:r>
            <a:r>
              <a:rPr sz="1800" spc="-25" dirty="0">
                <a:latin typeface="Arial"/>
                <a:cs typeface="Arial"/>
              </a:rPr>
              <a:t>dễ</a:t>
            </a:r>
            <a:r>
              <a:rPr sz="1800" spc="-130" dirty="0">
                <a:latin typeface="Arial"/>
                <a:cs typeface="Arial"/>
              </a:rPr>
              <a:t> </a:t>
            </a:r>
            <a:r>
              <a:rPr sz="1800" spc="-10" dirty="0">
                <a:latin typeface="Arial"/>
                <a:cs typeface="Arial"/>
              </a:rPr>
              <a:t>hiểu</a:t>
            </a:r>
            <a:r>
              <a:rPr sz="1800" spc="-150" dirty="0">
                <a:latin typeface="Arial"/>
                <a:cs typeface="Arial"/>
              </a:rPr>
              <a:t> </a:t>
            </a:r>
            <a:r>
              <a:rPr sz="1800" spc="-70" dirty="0">
                <a:latin typeface="Arial"/>
                <a:cs typeface="Arial"/>
              </a:rPr>
              <a:t>và</a:t>
            </a:r>
            <a:r>
              <a:rPr sz="1800" spc="-140" dirty="0">
                <a:latin typeface="Arial"/>
                <a:cs typeface="Arial"/>
              </a:rPr>
              <a:t> </a:t>
            </a:r>
            <a:r>
              <a:rPr sz="1800" spc="15" dirty="0">
                <a:latin typeface="Arial"/>
                <a:cs typeface="Arial"/>
              </a:rPr>
              <a:t>có</a:t>
            </a:r>
            <a:r>
              <a:rPr sz="1800" spc="-150" dirty="0">
                <a:latin typeface="Arial"/>
                <a:cs typeface="Arial"/>
              </a:rPr>
              <a:t> </a:t>
            </a:r>
            <a:r>
              <a:rPr sz="1800" dirty="0">
                <a:latin typeface="Arial"/>
                <a:cs typeface="Arial"/>
              </a:rPr>
              <a:t>thể</a:t>
            </a:r>
            <a:r>
              <a:rPr sz="1800" spc="-130" dirty="0">
                <a:latin typeface="Arial"/>
                <a:cs typeface="Arial"/>
              </a:rPr>
              <a:t> </a:t>
            </a:r>
            <a:r>
              <a:rPr sz="1800" spc="-15" dirty="0">
                <a:latin typeface="Arial"/>
                <a:cs typeface="Arial"/>
              </a:rPr>
              <a:t>đoán</a:t>
            </a:r>
            <a:r>
              <a:rPr sz="1800" spc="-150" dirty="0">
                <a:latin typeface="Arial"/>
                <a:cs typeface="Arial"/>
              </a:rPr>
              <a:t> </a:t>
            </a:r>
            <a:r>
              <a:rPr sz="1800" spc="-65" dirty="0">
                <a:latin typeface="Arial"/>
                <a:cs typeface="Arial"/>
              </a:rPr>
              <a:t>được</a:t>
            </a:r>
            <a:r>
              <a:rPr sz="1800" spc="-125" dirty="0">
                <a:latin typeface="Arial"/>
                <a:cs typeface="Arial"/>
              </a:rPr>
              <a:t> </a:t>
            </a:r>
            <a:r>
              <a:rPr sz="1800" spc="-30" dirty="0">
                <a:latin typeface="Arial"/>
                <a:cs typeface="Arial"/>
              </a:rPr>
              <a:t>từ</a:t>
            </a:r>
            <a:r>
              <a:rPr sz="1800" spc="-125" dirty="0">
                <a:latin typeface="Arial"/>
                <a:cs typeface="Arial"/>
              </a:rPr>
              <a:t> </a:t>
            </a:r>
            <a:r>
              <a:rPr sz="1800" spc="-65" dirty="0">
                <a:latin typeface="Arial"/>
                <a:cs typeface="Arial"/>
              </a:rPr>
              <a:t>bước</a:t>
            </a:r>
            <a:r>
              <a:rPr sz="1800" spc="-140" dirty="0">
                <a:latin typeface="Arial"/>
                <a:cs typeface="Arial"/>
              </a:rPr>
              <a:t> </a:t>
            </a:r>
            <a:r>
              <a:rPr sz="1800" spc="-15" dirty="0">
                <a:latin typeface="Arial"/>
                <a:cs typeface="Arial"/>
              </a:rPr>
              <a:t>phân</a:t>
            </a:r>
            <a:r>
              <a:rPr sz="1800" spc="-140" dirty="0">
                <a:latin typeface="Arial"/>
                <a:cs typeface="Arial"/>
              </a:rPr>
              <a:t> </a:t>
            </a:r>
            <a:r>
              <a:rPr sz="1800" spc="5" dirty="0">
                <a:latin typeface="Arial"/>
                <a:cs typeface="Arial"/>
              </a:rPr>
              <a:t>tích</a:t>
            </a:r>
            <a:r>
              <a:rPr sz="1800" spc="-140" dirty="0">
                <a:latin typeface="Arial"/>
                <a:cs typeface="Arial"/>
              </a:rPr>
              <a:t> </a:t>
            </a:r>
            <a:r>
              <a:rPr sz="1800" spc="-65" dirty="0">
                <a:latin typeface="Arial"/>
                <a:cs typeface="Arial"/>
              </a:rPr>
              <a:t>dữ</a:t>
            </a:r>
            <a:r>
              <a:rPr sz="1800" spc="-140" dirty="0">
                <a:latin typeface="Arial"/>
                <a:cs typeface="Arial"/>
              </a:rPr>
              <a:t> </a:t>
            </a:r>
            <a:r>
              <a:rPr sz="1800" spc="10" dirty="0">
                <a:latin typeface="Arial"/>
                <a:cs typeface="Arial"/>
              </a:rPr>
              <a:t>liệu</a:t>
            </a:r>
            <a:endParaRPr sz="1800" dirty="0">
              <a:latin typeface="Arial"/>
              <a:cs typeface="Arial"/>
            </a:endParaRPr>
          </a:p>
        </p:txBody>
      </p:sp>
      <p:sp>
        <p:nvSpPr>
          <p:cNvPr id="10" name="object 10"/>
          <p:cNvSpPr txBox="1"/>
          <p:nvPr/>
        </p:nvSpPr>
        <p:spPr>
          <a:xfrm>
            <a:off x="916939" y="577035"/>
            <a:ext cx="2858770" cy="1243330"/>
          </a:xfrm>
          <a:prstGeom prst="rect">
            <a:avLst/>
          </a:prstGeom>
        </p:spPr>
        <p:txBody>
          <a:bodyPr vert="horz" wrap="square" lIns="0" tIns="242570" rIns="0" bIns="0" rtlCol="0">
            <a:spAutoFit/>
          </a:bodyPr>
          <a:lstStyle/>
          <a:p>
            <a:pPr marL="12700">
              <a:lnSpc>
                <a:spcPct val="100000"/>
              </a:lnSpc>
              <a:spcBef>
                <a:spcPts val="1910"/>
              </a:spcBef>
            </a:pPr>
            <a:r>
              <a:rPr sz="4000" b="1" spc="45">
                <a:latin typeface="Calibri"/>
                <a:cs typeface="Calibri"/>
              </a:rPr>
              <a:t>4.</a:t>
            </a:r>
            <a:r>
              <a:rPr lang="en-US" sz="4000" b="1" spc="45">
                <a:latin typeface="Calibri"/>
                <a:cs typeface="Calibri"/>
              </a:rPr>
              <a:t>7</a:t>
            </a:r>
            <a:r>
              <a:rPr sz="4000" b="1" spc="45">
                <a:latin typeface="Calibri"/>
                <a:cs typeface="Calibri"/>
              </a:rPr>
              <a:t>. </a:t>
            </a:r>
            <a:r>
              <a:rPr sz="4000" b="1" spc="65" dirty="0">
                <a:latin typeface="Calibri"/>
                <a:cs typeface="Calibri"/>
              </a:rPr>
              <a:t>Kết</a:t>
            </a:r>
            <a:r>
              <a:rPr sz="4000" b="1" spc="-320" dirty="0">
                <a:latin typeface="Calibri"/>
                <a:cs typeface="Calibri"/>
              </a:rPr>
              <a:t> </a:t>
            </a:r>
            <a:r>
              <a:rPr sz="4000" b="1" spc="35" dirty="0">
                <a:latin typeface="Calibri"/>
                <a:cs typeface="Calibri"/>
              </a:rPr>
              <a:t>luận</a:t>
            </a:r>
            <a:endParaRPr sz="4000" dirty="0">
              <a:latin typeface="Calibri"/>
              <a:cs typeface="Calibri"/>
            </a:endParaRPr>
          </a:p>
          <a:p>
            <a:pPr marL="287020">
              <a:lnSpc>
                <a:spcPct val="100000"/>
              </a:lnSpc>
              <a:spcBef>
                <a:spcPts val="820"/>
              </a:spcBef>
            </a:pPr>
            <a:r>
              <a:rPr lang="en-US" sz="1800" b="1" spc="-20" dirty="0">
                <a:latin typeface="Arial"/>
                <a:cs typeface="Arial"/>
              </a:rPr>
              <a:t>Multilayer Perceptron</a:t>
            </a:r>
            <a:endParaRPr sz="1800" dirty="0">
              <a:latin typeface="Arial"/>
              <a:cs typeface="Arial"/>
            </a:endParaRPr>
          </a:p>
        </p:txBody>
      </p:sp>
      <p:sp>
        <p:nvSpPr>
          <p:cNvPr id="11" name="object 11"/>
          <p:cNvSpPr txBox="1"/>
          <p:nvPr/>
        </p:nvSpPr>
        <p:spPr>
          <a:xfrm>
            <a:off x="5517591" y="1520576"/>
            <a:ext cx="1598930" cy="299720"/>
          </a:xfrm>
          <a:prstGeom prst="rect">
            <a:avLst/>
          </a:prstGeom>
        </p:spPr>
        <p:txBody>
          <a:bodyPr vert="horz" wrap="square" lIns="0" tIns="12700" rIns="0" bIns="0" rtlCol="0">
            <a:spAutoFit/>
          </a:bodyPr>
          <a:lstStyle/>
          <a:p>
            <a:pPr marL="12700">
              <a:lnSpc>
                <a:spcPct val="100000"/>
              </a:lnSpc>
              <a:spcBef>
                <a:spcPts val="100"/>
              </a:spcBef>
            </a:pPr>
            <a:r>
              <a:rPr sz="1800" b="1" spc="-55" dirty="0">
                <a:latin typeface="Arial"/>
                <a:cs typeface="Arial"/>
              </a:rPr>
              <a:t>Random</a:t>
            </a:r>
            <a:r>
              <a:rPr sz="1800" b="1" spc="-225" dirty="0">
                <a:latin typeface="Arial"/>
                <a:cs typeface="Arial"/>
              </a:rPr>
              <a:t> </a:t>
            </a:r>
            <a:r>
              <a:rPr sz="1800" b="1" spc="-60" dirty="0">
                <a:latin typeface="Arial"/>
                <a:cs typeface="Arial"/>
              </a:rPr>
              <a:t>Forest</a:t>
            </a:r>
            <a:endParaRPr sz="1800" dirty="0">
              <a:latin typeface="Arial"/>
              <a:cs typeface="Arial"/>
            </a:endParaRPr>
          </a:p>
        </p:txBody>
      </p:sp>
      <p:sp>
        <p:nvSpPr>
          <p:cNvPr id="12" name="object 12"/>
          <p:cNvSpPr txBox="1"/>
          <p:nvPr/>
        </p:nvSpPr>
        <p:spPr>
          <a:xfrm>
            <a:off x="8442299" y="1520576"/>
            <a:ext cx="3342004" cy="299720"/>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Arial"/>
                <a:cs typeface="Arial"/>
              </a:rPr>
              <a:t>Multinomial </a:t>
            </a:r>
            <a:r>
              <a:rPr sz="1800" b="1" spc="-70" dirty="0">
                <a:latin typeface="Arial"/>
                <a:cs typeface="Arial"/>
              </a:rPr>
              <a:t>Logistic</a:t>
            </a:r>
            <a:r>
              <a:rPr sz="1800" b="1" spc="-204" dirty="0">
                <a:latin typeface="Arial"/>
                <a:cs typeface="Arial"/>
              </a:rPr>
              <a:t> </a:t>
            </a:r>
            <a:r>
              <a:rPr sz="1800" b="1" spc="-75" dirty="0">
                <a:latin typeface="Arial"/>
                <a:cs typeface="Arial"/>
              </a:rPr>
              <a:t>Regression</a:t>
            </a:r>
            <a:endParaRPr sz="1800">
              <a:latin typeface="Arial"/>
              <a:cs typeface="Arial"/>
            </a:endParaRPr>
          </a:p>
        </p:txBody>
      </p:sp>
      <p:pic>
        <p:nvPicPr>
          <p:cNvPr id="14" name="Hình ảnh 13">
            <a:extLst>
              <a:ext uri="{FF2B5EF4-FFF2-40B4-BE49-F238E27FC236}">
                <a16:creationId xmlns:a16="http://schemas.microsoft.com/office/drawing/2014/main" id="{F25C17D4-9E38-E0D6-A11C-0FC47C92C97F}"/>
              </a:ext>
            </a:extLst>
          </p:cNvPr>
          <p:cNvPicPr>
            <a:picLocks noChangeAspect="1"/>
          </p:cNvPicPr>
          <p:nvPr/>
        </p:nvPicPr>
        <p:blipFill>
          <a:blip r:embed="rId2"/>
          <a:stretch>
            <a:fillRect/>
          </a:stretch>
        </p:blipFill>
        <p:spPr>
          <a:xfrm>
            <a:off x="704278" y="1890728"/>
            <a:ext cx="3429000" cy="2944624"/>
          </a:xfrm>
          <a:prstGeom prst="rect">
            <a:avLst/>
          </a:prstGeom>
        </p:spPr>
      </p:pic>
      <p:pic>
        <p:nvPicPr>
          <p:cNvPr id="15" name="Hình ảnh 14">
            <a:extLst>
              <a:ext uri="{FF2B5EF4-FFF2-40B4-BE49-F238E27FC236}">
                <a16:creationId xmlns:a16="http://schemas.microsoft.com/office/drawing/2014/main" id="{86956AA8-D714-DB30-F539-03FFFC4C3F7D}"/>
              </a:ext>
            </a:extLst>
          </p:cNvPr>
          <p:cNvPicPr>
            <a:picLocks noChangeAspect="1"/>
          </p:cNvPicPr>
          <p:nvPr/>
        </p:nvPicPr>
        <p:blipFill>
          <a:blip r:embed="rId3"/>
          <a:stretch>
            <a:fillRect/>
          </a:stretch>
        </p:blipFill>
        <p:spPr>
          <a:xfrm>
            <a:off x="8348759" y="1890729"/>
            <a:ext cx="3469071" cy="2965960"/>
          </a:xfrm>
          <a:prstGeom prst="rect">
            <a:avLst/>
          </a:prstGeom>
        </p:spPr>
      </p:pic>
      <p:pic>
        <p:nvPicPr>
          <p:cNvPr id="16" name="Hình ảnh 15">
            <a:extLst>
              <a:ext uri="{FF2B5EF4-FFF2-40B4-BE49-F238E27FC236}">
                <a16:creationId xmlns:a16="http://schemas.microsoft.com/office/drawing/2014/main" id="{BA91A3B8-7966-B9E3-7511-210A2E955943}"/>
              </a:ext>
            </a:extLst>
          </p:cNvPr>
          <p:cNvPicPr>
            <a:picLocks noChangeAspect="1"/>
          </p:cNvPicPr>
          <p:nvPr/>
        </p:nvPicPr>
        <p:blipFill>
          <a:blip r:embed="rId4"/>
          <a:stretch>
            <a:fillRect/>
          </a:stretch>
        </p:blipFill>
        <p:spPr>
          <a:xfrm>
            <a:off x="4586741" y="1890728"/>
            <a:ext cx="3284690" cy="283367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30" dirty="0"/>
              <a:t>THỰC</a:t>
            </a:r>
            <a:r>
              <a:rPr spc="-90" dirty="0"/>
              <a:t> </a:t>
            </a:r>
            <a:r>
              <a:rPr spc="45" dirty="0"/>
              <a:t>NGHIỆM</a:t>
            </a:r>
            <a:r>
              <a:rPr spc="-100" dirty="0"/>
              <a:t> </a:t>
            </a:r>
            <a:r>
              <a:rPr spc="10" dirty="0"/>
              <a:t>VÀ</a:t>
            </a:r>
            <a:r>
              <a:rPr spc="-100" dirty="0"/>
              <a:t> </a:t>
            </a:r>
            <a:r>
              <a:rPr spc="95" dirty="0"/>
              <a:t>KẾT</a:t>
            </a:r>
            <a:r>
              <a:rPr spc="-100" dirty="0"/>
              <a:t> </a:t>
            </a:r>
            <a:r>
              <a:rPr spc="60" dirty="0"/>
              <a:t>LUẬN</a:t>
            </a:r>
          </a:p>
        </p:txBody>
      </p:sp>
      <p:sp>
        <p:nvSpPr>
          <p:cNvPr id="3" name="object 3"/>
          <p:cNvSpPr txBox="1"/>
          <p:nvPr/>
        </p:nvSpPr>
        <p:spPr>
          <a:xfrm>
            <a:off x="916939" y="807688"/>
            <a:ext cx="2715895" cy="635000"/>
          </a:xfrm>
          <a:prstGeom prst="rect">
            <a:avLst/>
          </a:prstGeom>
        </p:spPr>
        <p:txBody>
          <a:bodyPr vert="horz" wrap="square" lIns="0" tIns="12065" rIns="0" bIns="0" rtlCol="0">
            <a:spAutoFit/>
          </a:bodyPr>
          <a:lstStyle/>
          <a:p>
            <a:pPr marL="12700">
              <a:lnSpc>
                <a:spcPct val="100000"/>
              </a:lnSpc>
              <a:spcBef>
                <a:spcPts val="95"/>
              </a:spcBef>
            </a:pPr>
            <a:r>
              <a:rPr sz="4000" b="1" spc="45" dirty="0">
                <a:latin typeface="Calibri"/>
                <a:cs typeface="Calibri"/>
              </a:rPr>
              <a:t>4.6. </a:t>
            </a:r>
            <a:r>
              <a:rPr sz="4000" b="1" spc="65" dirty="0">
                <a:latin typeface="Calibri"/>
                <a:cs typeface="Calibri"/>
              </a:rPr>
              <a:t>Kết</a:t>
            </a:r>
            <a:r>
              <a:rPr sz="4000" b="1" spc="-345" dirty="0">
                <a:latin typeface="Calibri"/>
                <a:cs typeface="Calibri"/>
              </a:rPr>
              <a:t> </a:t>
            </a:r>
            <a:r>
              <a:rPr sz="4000" b="1" spc="35" dirty="0">
                <a:latin typeface="Calibri"/>
                <a:cs typeface="Calibri"/>
              </a:rPr>
              <a:t>luận</a:t>
            </a:r>
            <a:endParaRPr sz="40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2848789223"/>
              </p:ext>
            </p:extLst>
          </p:nvPr>
        </p:nvGraphicFramePr>
        <p:xfrm>
          <a:off x="2336604" y="1776718"/>
          <a:ext cx="8227060" cy="2834638"/>
        </p:xfrm>
        <a:graphic>
          <a:graphicData uri="http://schemas.openxmlformats.org/drawingml/2006/table">
            <a:tbl>
              <a:tblPr firstRow="1" bandRow="1">
                <a:tableStyleId>{2D5ABB26-0587-4C30-8999-92F81FD0307C}</a:tableStyleId>
              </a:tblPr>
              <a:tblGrid>
                <a:gridCol w="4103370">
                  <a:extLst>
                    <a:ext uri="{9D8B030D-6E8A-4147-A177-3AD203B41FA5}">
                      <a16:colId xmlns:a16="http://schemas.microsoft.com/office/drawing/2014/main" val="20000"/>
                    </a:ext>
                  </a:extLst>
                </a:gridCol>
                <a:gridCol w="2061845">
                  <a:extLst>
                    <a:ext uri="{9D8B030D-6E8A-4147-A177-3AD203B41FA5}">
                      <a16:colId xmlns:a16="http://schemas.microsoft.com/office/drawing/2014/main" val="20001"/>
                    </a:ext>
                  </a:extLst>
                </a:gridCol>
                <a:gridCol w="2061845">
                  <a:extLst>
                    <a:ext uri="{9D8B030D-6E8A-4147-A177-3AD203B41FA5}">
                      <a16:colId xmlns:a16="http://schemas.microsoft.com/office/drawing/2014/main" val="20002"/>
                    </a:ext>
                  </a:extLst>
                </a:gridCol>
              </a:tblGrid>
              <a:tr h="914400">
                <a:tc>
                  <a:txBody>
                    <a:bodyPr/>
                    <a:lstStyle/>
                    <a:p>
                      <a:pPr algn="ctr">
                        <a:lnSpc>
                          <a:spcPct val="100000"/>
                        </a:lnSpc>
                        <a:spcBef>
                          <a:spcPts val="40"/>
                        </a:spcBef>
                      </a:pPr>
                      <a:endParaRPr sz="2050">
                        <a:latin typeface="Times New Roman"/>
                        <a:cs typeface="Times New Roman"/>
                      </a:endParaRPr>
                    </a:p>
                    <a:p>
                      <a:pPr marL="45085" algn="ctr">
                        <a:lnSpc>
                          <a:spcPct val="100000"/>
                        </a:lnSpc>
                      </a:pPr>
                      <a:r>
                        <a:rPr sz="1800" b="1" spc="-30" dirty="0">
                          <a:solidFill>
                            <a:srgbClr val="FFFFFF"/>
                          </a:solidFill>
                          <a:latin typeface="Arial"/>
                          <a:cs typeface="Arial"/>
                        </a:rPr>
                        <a:t>Model</a:t>
                      </a:r>
                      <a:endParaRPr sz="1800">
                        <a:latin typeface="Arial"/>
                        <a:cs typeface="Arial"/>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45F82"/>
                    </a:solidFill>
                  </a:tcPr>
                </a:tc>
                <a:tc>
                  <a:txBody>
                    <a:bodyPr/>
                    <a:lstStyle/>
                    <a:p>
                      <a:pPr algn="ctr">
                        <a:lnSpc>
                          <a:spcPct val="100000"/>
                        </a:lnSpc>
                        <a:spcBef>
                          <a:spcPts val="40"/>
                        </a:spcBef>
                      </a:pPr>
                      <a:endParaRPr sz="2050" dirty="0">
                        <a:latin typeface="Times New Roman"/>
                        <a:cs typeface="Times New Roman"/>
                      </a:endParaRPr>
                    </a:p>
                    <a:p>
                      <a:pPr algn="ctr">
                        <a:lnSpc>
                          <a:spcPct val="100000"/>
                        </a:lnSpc>
                      </a:pPr>
                      <a:r>
                        <a:rPr sz="1800" b="1" spc="-95" dirty="0">
                          <a:solidFill>
                            <a:srgbClr val="FFFFFF"/>
                          </a:solidFill>
                          <a:latin typeface="Arial"/>
                          <a:cs typeface="Arial"/>
                        </a:rPr>
                        <a:t>F1</a:t>
                      </a:r>
                      <a:r>
                        <a:rPr sz="1800" b="1" spc="-140" dirty="0">
                          <a:solidFill>
                            <a:srgbClr val="FFFFFF"/>
                          </a:solidFill>
                          <a:latin typeface="Arial"/>
                          <a:cs typeface="Arial"/>
                        </a:rPr>
                        <a:t> </a:t>
                      </a:r>
                      <a:r>
                        <a:rPr sz="1800" b="1" spc="-50" dirty="0">
                          <a:solidFill>
                            <a:srgbClr val="FFFFFF"/>
                          </a:solidFill>
                          <a:latin typeface="Arial"/>
                          <a:cs typeface="Arial"/>
                        </a:rPr>
                        <a:t>score</a:t>
                      </a:r>
                      <a:endParaRPr sz="1800" dirty="0">
                        <a:latin typeface="Arial"/>
                        <a:cs typeface="Arial"/>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45F82"/>
                    </a:solidFill>
                  </a:tcPr>
                </a:tc>
                <a:tc>
                  <a:txBody>
                    <a:bodyPr/>
                    <a:lstStyle/>
                    <a:p>
                      <a:pPr algn="ctr">
                        <a:lnSpc>
                          <a:spcPct val="100000"/>
                        </a:lnSpc>
                        <a:spcBef>
                          <a:spcPts val="40"/>
                        </a:spcBef>
                      </a:pPr>
                      <a:endParaRPr sz="2050">
                        <a:latin typeface="Times New Roman"/>
                        <a:cs typeface="Times New Roman"/>
                      </a:endParaRPr>
                    </a:p>
                    <a:p>
                      <a:pPr algn="ctr">
                        <a:lnSpc>
                          <a:spcPct val="100000"/>
                        </a:lnSpc>
                      </a:pPr>
                      <a:r>
                        <a:rPr sz="1800" b="1" spc="-70" dirty="0">
                          <a:solidFill>
                            <a:srgbClr val="FFFFFF"/>
                          </a:solidFill>
                          <a:latin typeface="Arial"/>
                          <a:cs typeface="Arial"/>
                        </a:rPr>
                        <a:t>Accuracy</a:t>
                      </a:r>
                      <a:endParaRPr sz="1800">
                        <a:latin typeface="Arial"/>
                        <a:cs typeface="Arial"/>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45F82"/>
                    </a:solidFill>
                  </a:tcPr>
                </a:tc>
                <a:extLst>
                  <a:ext uri="{0D108BD9-81ED-4DB2-BD59-A6C34878D82A}">
                    <a16:rowId xmlns:a16="http://schemas.microsoft.com/office/drawing/2014/main" val="10000"/>
                  </a:ext>
                </a:extLst>
              </a:tr>
              <a:tr h="640079">
                <a:tc>
                  <a:txBody>
                    <a:bodyPr/>
                    <a:lstStyle/>
                    <a:p>
                      <a:pPr algn="ctr">
                        <a:lnSpc>
                          <a:spcPct val="100000"/>
                        </a:lnSpc>
                        <a:spcBef>
                          <a:spcPts val="1320"/>
                        </a:spcBef>
                      </a:pPr>
                      <a:r>
                        <a:rPr lang="en-US" sz="1800" b="1" spc="-20" dirty="0">
                          <a:latin typeface="Arial"/>
                          <a:cs typeface="Arial"/>
                        </a:rPr>
                        <a:t>Multi Layer Perceptron</a:t>
                      </a:r>
                    </a:p>
                  </a:txBody>
                  <a:tcPr marL="0" marR="0" marT="167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tc>
                  <a:txBody>
                    <a:bodyPr/>
                    <a:lstStyle/>
                    <a:p>
                      <a:pPr marR="44450" algn="ctr">
                        <a:lnSpc>
                          <a:spcPct val="100000"/>
                        </a:lnSpc>
                        <a:spcBef>
                          <a:spcPts val="1390"/>
                        </a:spcBef>
                      </a:pPr>
                      <a:r>
                        <a:rPr lang="en-US" sz="1800" dirty="0">
                          <a:latin typeface="Cambria Math"/>
                          <a:cs typeface="Cambria Math"/>
                        </a:rPr>
                        <a:t>87,92%</a:t>
                      </a:r>
                      <a:endParaRPr sz="1800" dirty="0">
                        <a:latin typeface="Cambria Math"/>
                        <a:cs typeface="Cambria Math"/>
                      </a:endParaRPr>
                    </a:p>
                  </a:txBody>
                  <a:tcPr marL="0" marR="0" marT="1765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tc>
                  <a:txBody>
                    <a:bodyPr/>
                    <a:lstStyle/>
                    <a:p>
                      <a:pPr marR="44450" algn="ctr">
                        <a:lnSpc>
                          <a:spcPct val="100000"/>
                        </a:lnSpc>
                        <a:spcBef>
                          <a:spcPts val="1390"/>
                        </a:spcBef>
                      </a:pPr>
                      <a:r>
                        <a:rPr lang="en-US" sz="1800" dirty="0">
                          <a:latin typeface="Cambria Math"/>
                          <a:cs typeface="Cambria Math"/>
                        </a:rPr>
                        <a:t>89,69%</a:t>
                      </a:r>
                      <a:endParaRPr sz="1800" dirty="0">
                        <a:latin typeface="Cambria Math"/>
                        <a:cs typeface="Cambria Math"/>
                      </a:endParaRPr>
                    </a:p>
                  </a:txBody>
                  <a:tcPr marL="0" marR="0" marT="1765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extLst>
                  <a:ext uri="{0D108BD9-81ED-4DB2-BD59-A6C34878D82A}">
                    <a16:rowId xmlns:a16="http://schemas.microsoft.com/office/drawing/2014/main" val="10001"/>
                  </a:ext>
                </a:extLst>
              </a:tr>
              <a:tr h="640080">
                <a:tc>
                  <a:txBody>
                    <a:bodyPr/>
                    <a:lstStyle/>
                    <a:p>
                      <a:pPr marL="635" algn="ctr">
                        <a:lnSpc>
                          <a:spcPct val="100000"/>
                        </a:lnSpc>
                        <a:spcBef>
                          <a:spcPts val="1320"/>
                        </a:spcBef>
                      </a:pPr>
                      <a:r>
                        <a:rPr sz="1800" b="1" spc="-55" dirty="0">
                          <a:latin typeface="Arial"/>
                          <a:cs typeface="Arial"/>
                        </a:rPr>
                        <a:t>Random</a:t>
                      </a:r>
                      <a:r>
                        <a:rPr sz="1800" b="1" spc="-165" dirty="0">
                          <a:latin typeface="Arial"/>
                          <a:cs typeface="Arial"/>
                        </a:rPr>
                        <a:t> </a:t>
                      </a:r>
                      <a:r>
                        <a:rPr sz="1800" b="1" spc="-60" dirty="0">
                          <a:latin typeface="Arial"/>
                          <a:cs typeface="Arial"/>
                        </a:rPr>
                        <a:t>Forest</a:t>
                      </a:r>
                      <a:endParaRPr sz="1800" dirty="0">
                        <a:latin typeface="Arial"/>
                        <a:cs typeface="Arial"/>
                      </a:endParaRPr>
                    </a:p>
                  </a:txBody>
                  <a:tcPr marL="0" marR="0" marT="167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tc>
                  <a:txBody>
                    <a:bodyPr/>
                    <a:lstStyle/>
                    <a:p>
                      <a:pPr marR="44450" algn="ctr">
                        <a:lnSpc>
                          <a:spcPct val="100000"/>
                        </a:lnSpc>
                        <a:spcBef>
                          <a:spcPts val="1390"/>
                        </a:spcBef>
                      </a:pPr>
                      <a:r>
                        <a:rPr lang="en-US" sz="1800" dirty="0">
                          <a:latin typeface="Cambria Math"/>
                          <a:cs typeface="Cambria Math"/>
                        </a:rPr>
                        <a:t>81,17%</a:t>
                      </a:r>
                      <a:endParaRPr sz="1800" dirty="0">
                        <a:latin typeface="Cambria Math"/>
                        <a:cs typeface="Cambria Math"/>
                      </a:endParaRPr>
                    </a:p>
                  </a:txBody>
                  <a:tcPr marL="0" marR="0" marT="1765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tc>
                  <a:txBody>
                    <a:bodyPr/>
                    <a:lstStyle/>
                    <a:p>
                      <a:pPr marL="0" marR="44450" lvl="0" indent="0" algn="ctr" defTabSz="914400" eaLnBrk="1" fontAlgn="auto" latinLnBrk="0" hangingPunct="1">
                        <a:lnSpc>
                          <a:spcPct val="100000"/>
                        </a:lnSpc>
                        <a:spcBef>
                          <a:spcPts val="1390"/>
                        </a:spcBef>
                        <a:spcAft>
                          <a:spcPts val="0"/>
                        </a:spcAft>
                        <a:buClrTx/>
                        <a:buSzTx/>
                        <a:buFontTx/>
                        <a:buNone/>
                        <a:tabLst/>
                        <a:defRPr/>
                      </a:pPr>
                      <a:r>
                        <a:rPr lang="en-US" sz="1800" dirty="0">
                          <a:latin typeface="Cambria Math"/>
                          <a:cs typeface="Cambria Math"/>
                        </a:rPr>
                        <a:t>84,68%</a:t>
                      </a:r>
                    </a:p>
                  </a:txBody>
                  <a:tcPr marL="0" marR="0" marT="1765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extLst>
                  <a:ext uri="{0D108BD9-81ED-4DB2-BD59-A6C34878D82A}">
                    <a16:rowId xmlns:a16="http://schemas.microsoft.com/office/drawing/2014/main" val="10002"/>
                  </a:ext>
                </a:extLst>
              </a:tr>
              <a:tr h="640079">
                <a:tc>
                  <a:txBody>
                    <a:bodyPr/>
                    <a:lstStyle/>
                    <a:p>
                      <a:pPr algn="ctr">
                        <a:lnSpc>
                          <a:spcPct val="100000"/>
                        </a:lnSpc>
                        <a:spcBef>
                          <a:spcPts val="215"/>
                        </a:spcBef>
                      </a:pPr>
                      <a:r>
                        <a:rPr sz="1800" b="1" spc="-20" dirty="0">
                          <a:latin typeface="Arial"/>
                          <a:cs typeface="Arial"/>
                        </a:rPr>
                        <a:t>Multinomial </a:t>
                      </a:r>
                      <a:r>
                        <a:rPr sz="1800" b="1" spc="-70" dirty="0">
                          <a:latin typeface="Arial"/>
                          <a:cs typeface="Arial"/>
                        </a:rPr>
                        <a:t>Logistic</a:t>
                      </a:r>
                      <a:r>
                        <a:rPr sz="1800" b="1" spc="-200" dirty="0">
                          <a:latin typeface="Arial"/>
                          <a:cs typeface="Arial"/>
                        </a:rPr>
                        <a:t> </a:t>
                      </a:r>
                      <a:r>
                        <a:rPr sz="1800" b="1" spc="-75" dirty="0">
                          <a:latin typeface="Arial"/>
                          <a:cs typeface="Arial"/>
                        </a:rPr>
                        <a:t>Regression</a:t>
                      </a:r>
                      <a:endParaRPr sz="1800" dirty="0">
                        <a:latin typeface="Arial"/>
                        <a:cs typeface="Arial"/>
                      </a:endParaRPr>
                    </a:p>
                  </a:txBody>
                  <a:tcPr marL="0" marR="0" marT="2730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tc>
                  <a:txBody>
                    <a:bodyPr/>
                    <a:lstStyle/>
                    <a:p>
                      <a:pPr algn="ctr">
                        <a:lnSpc>
                          <a:spcPct val="100000"/>
                        </a:lnSpc>
                        <a:spcBef>
                          <a:spcPts val="1390"/>
                        </a:spcBef>
                      </a:pPr>
                      <a:r>
                        <a:rPr lang="en-US" sz="1800" dirty="0">
                          <a:latin typeface="Cambria Math"/>
                          <a:cs typeface="Cambria Math"/>
                        </a:rPr>
                        <a:t>86,83%</a:t>
                      </a:r>
                      <a:endParaRPr sz="1800" dirty="0">
                        <a:latin typeface="Cambria Math"/>
                        <a:cs typeface="Cambria Math"/>
                      </a:endParaRPr>
                    </a:p>
                  </a:txBody>
                  <a:tcPr marL="0" marR="0" marT="1765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tc>
                  <a:txBody>
                    <a:bodyPr/>
                    <a:lstStyle/>
                    <a:p>
                      <a:pPr algn="ctr">
                        <a:lnSpc>
                          <a:spcPct val="100000"/>
                        </a:lnSpc>
                        <a:spcBef>
                          <a:spcPts val="1390"/>
                        </a:spcBef>
                      </a:pPr>
                      <a:r>
                        <a:rPr lang="en-US" sz="1800" dirty="0">
                          <a:latin typeface="Cambria Math"/>
                          <a:cs typeface="Cambria Math"/>
                        </a:rPr>
                        <a:t>88,58%</a:t>
                      </a:r>
                      <a:endParaRPr sz="1800" dirty="0">
                        <a:latin typeface="Cambria Math"/>
                        <a:cs typeface="Cambria Math"/>
                      </a:endParaRPr>
                    </a:p>
                  </a:txBody>
                  <a:tcPr marL="0" marR="0" marT="1765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CEAF7">
                        <a:alpha val="19999"/>
                      </a:srgbClr>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355277" y="5081282"/>
            <a:ext cx="10241915" cy="1084912"/>
          </a:xfrm>
          <a:prstGeom prst="rect">
            <a:avLst/>
          </a:prstGeom>
        </p:spPr>
        <p:txBody>
          <a:bodyPr vert="horz" wrap="square" lIns="0" tIns="12700" rIns="0" bIns="0" rtlCol="0">
            <a:spAutoFit/>
          </a:bodyPr>
          <a:lstStyle/>
          <a:p>
            <a:pPr marL="984250">
              <a:lnSpc>
                <a:spcPct val="100000"/>
              </a:lnSpc>
              <a:spcBef>
                <a:spcPts val="100"/>
              </a:spcBef>
            </a:pPr>
            <a:r>
              <a:rPr sz="1800" spc="-50" dirty="0">
                <a:latin typeface="Arial"/>
                <a:cs typeface="Arial"/>
              </a:rPr>
              <a:t>Cả</a:t>
            </a:r>
            <a:r>
              <a:rPr sz="1800" spc="-130" dirty="0">
                <a:latin typeface="Arial"/>
                <a:cs typeface="Arial"/>
              </a:rPr>
              <a:t> </a:t>
            </a:r>
            <a:r>
              <a:rPr sz="1800" spc="-40" dirty="0">
                <a:latin typeface="Arial"/>
                <a:cs typeface="Arial"/>
              </a:rPr>
              <a:t>3</a:t>
            </a:r>
            <a:r>
              <a:rPr sz="1800" spc="-140" dirty="0">
                <a:latin typeface="Arial"/>
                <a:cs typeface="Arial"/>
              </a:rPr>
              <a:t> </a:t>
            </a:r>
            <a:r>
              <a:rPr sz="1800" spc="10" dirty="0">
                <a:latin typeface="Arial"/>
                <a:cs typeface="Arial"/>
              </a:rPr>
              <a:t>mô</a:t>
            </a:r>
            <a:r>
              <a:rPr sz="1800" spc="-135" dirty="0">
                <a:latin typeface="Arial"/>
                <a:cs typeface="Arial"/>
              </a:rPr>
              <a:t> </a:t>
            </a:r>
            <a:r>
              <a:rPr sz="1800" spc="-25" dirty="0">
                <a:latin typeface="Arial"/>
                <a:cs typeface="Arial"/>
              </a:rPr>
              <a:t>hình</a:t>
            </a:r>
            <a:r>
              <a:rPr sz="1800" spc="-170" dirty="0">
                <a:latin typeface="Arial"/>
                <a:cs typeface="Arial"/>
              </a:rPr>
              <a:t> </a:t>
            </a:r>
            <a:r>
              <a:rPr sz="1800" spc="-20" dirty="0">
                <a:latin typeface="Arial"/>
                <a:cs typeface="Arial"/>
              </a:rPr>
              <a:t>đều</a:t>
            </a:r>
            <a:r>
              <a:rPr sz="1800" spc="-135" dirty="0">
                <a:latin typeface="Arial"/>
                <a:cs typeface="Arial"/>
              </a:rPr>
              <a:t> </a:t>
            </a:r>
            <a:r>
              <a:rPr sz="1800" spc="5" dirty="0">
                <a:latin typeface="Arial"/>
                <a:cs typeface="Arial"/>
              </a:rPr>
              <a:t>cho</a:t>
            </a:r>
            <a:r>
              <a:rPr sz="1800" spc="-145" dirty="0">
                <a:latin typeface="Arial"/>
                <a:cs typeface="Arial"/>
              </a:rPr>
              <a:t> </a:t>
            </a:r>
            <a:r>
              <a:rPr sz="1800" spc="-5" dirty="0">
                <a:latin typeface="Arial"/>
                <a:cs typeface="Arial"/>
              </a:rPr>
              <a:t>kết</a:t>
            </a:r>
            <a:r>
              <a:rPr sz="1800" spc="-130" dirty="0">
                <a:latin typeface="Arial"/>
                <a:cs typeface="Arial"/>
              </a:rPr>
              <a:t> </a:t>
            </a:r>
            <a:r>
              <a:rPr sz="1800" spc="-15" dirty="0">
                <a:latin typeface="Arial"/>
                <a:cs typeface="Arial"/>
              </a:rPr>
              <a:t>quả</a:t>
            </a:r>
            <a:r>
              <a:rPr sz="1800" spc="-125" dirty="0">
                <a:latin typeface="Arial"/>
                <a:cs typeface="Arial"/>
              </a:rPr>
              <a:t> </a:t>
            </a:r>
            <a:r>
              <a:rPr sz="1800" spc="-65" dirty="0">
                <a:latin typeface="Arial"/>
                <a:cs typeface="Arial"/>
              </a:rPr>
              <a:t>dự</a:t>
            </a:r>
            <a:r>
              <a:rPr sz="1800" spc="-135" dirty="0">
                <a:latin typeface="Arial"/>
                <a:cs typeface="Arial"/>
              </a:rPr>
              <a:t> </a:t>
            </a:r>
            <a:r>
              <a:rPr sz="1800" spc="-15" dirty="0" err="1">
                <a:latin typeface="Arial"/>
                <a:cs typeface="Arial"/>
              </a:rPr>
              <a:t>đoán</a:t>
            </a:r>
            <a:r>
              <a:rPr sz="1800" spc="-145" dirty="0">
                <a:latin typeface="Arial"/>
                <a:cs typeface="Arial"/>
              </a:rPr>
              <a:t> </a:t>
            </a:r>
            <a:r>
              <a:rPr sz="1800" spc="-10" dirty="0" err="1">
                <a:latin typeface="Arial"/>
                <a:cs typeface="Arial"/>
              </a:rPr>
              <a:t>cao</a:t>
            </a:r>
            <a:r>
              <a:rPr lang="en-US" sz="1800" spc="-10" dirty="0">
                <a:latin typeface="Arial"/>
                <a:cs typeface="Arial"/>
              </a:rPr>
              <a:t> hon</a:t>
            </a:r>
            <a:r>
              <a:rPr sz="1800" spc="-135" dirty="0">
                <a:latin typeface="Arial"/>
                <a:cs typeface="Arial"/>
              </a:rPr>
              <a:t> </a:t>
            </a:r>
            <a:r>
              <a:rPr sz="1800" spc="-75" dirty="0">
                <a:latin typeface="Arial"/>
                <a:cs typeface="Arial"/>
              </a:rPr>
              <a:t>(&gt;</a:t>
            </a:r>
            <a:r>
              <a:rPr lang="en-US" spc="-75" dirty="0">
                <a:latin typeface="Arial"/>
                <a:cs typeface="Arial"/>
              </a:rPr>
              <a:t>84</a:t>
            </a:r>
            <a:r>
              <a:rPr sz="1800" spc="-75" dirty="0">
                <a:latin typeface="Arial"/>
                <a:cs typeface="Arial"/>
              </a:rPr>
              <a:t>%)</a:t>
            </a:r>
            <a:r>
              <a:rPr sz="1800" spc="-135" dirty="0">
                <a:latin typeface="Arial"/>
                <a:cs typeface="Arial"/>
              </a:rPr>
              <a:t> </a:t>
            </a:r>
            <a:r>
              <a:rPr sz="1800" spc="-35" dirty="0">
                <a:latin typeface="Cambria Math"/>
                <a:cs typeface="Cambria Math"/>
              </a:rPr>
              <a:t>.</a:t>
            </a:r>
            <a:r>
              <a:rPr sz="1800" spc="30" dirty="0">
                <a:latin typeface="Cambria Math"/>
                <a:cs typeface="Cambria Math"/>
              </a:rPr>
              <a:t> </a:t>
            </a:r>
            <a:r>
              <a:rPr sz="1800" spc="-20" dirty="0">
                <a:latin typeface="Cambria Math"/>
                <a:cs typeface="Cambria Math"/>
              </a:rPr>
              <a:t>Trong</a:t>
            </a:r>
            <a:r>
              <a:rPr sz="1800" spc="-10" dirty="0">
                <a:latin typeface="Cambria Math"/>
                <a:cs typeface="Cambria Math"/>
              </a:rPr>
              <a:t> </a:t>
            </a:r>
            <a:r>
              <a:rPr sz="1800" spc="-5" dirty="0">
                <a:latin typeface="Cambria Math"/>
                <a:cs typeface="Cambria Math"/>
              </a:rPr>
              <a:t>đó:</a:t>
            </a:r>
            <a:endParaRPr sz="1800" dirty="0">
              <a:latin typeface="Cambria Math"/>
              <a:cs typeface="Cambria Math"/>
            </a:endParaRPr>
          </a:p>
          <a:p>
            <a:pPr marL="1271270" indent="-287655">
              <a:lnSpc>
                <a:spcPct val="100000"/>
              </a:lnSpc>
              <a:spcBef>
                <a:spcPts val="70"/>
              </a:spcBef>
              <a:buChar char="-"/>
              <a:tabLst>
                <a:tab pos="1271270" algn="l"/>
                <a:tab pos="1271905" algn="l"/>
              </a:tabLst>
            </a:pPr>
            <a:r>
              <a:rPr lang="en-US" spc="-5" dirty="0">
                <a:latin typeface="Cambria Math"/>
                <a:cs typeface="Cambria Math"/>
              </a:rPr>
              <a:t>Multi Layer Perceptron</a:t>
            </a:r>
            <a:r>
              <a:rPr sz="1800" spc="-20" dirty="0">
                <a:latin typeface="Cambria Math"/>
                <a:cs typeface="Cambria Math"/>
              </a:rPr>
              <a:t> </a:t>
            </a:r>
            <a:r>
              <a:rPr sz="1800" spc="-5" dirty="0" err="1">
                <a:latin typeface="Cambria Math"/>
                <a:cs typeface="Cambria Math"/>
              </a:rPr>
              <a:t>cho</a:t>
            </a:r>
            <a:r>
              <a:rPr sz="1800" spc="-5" dirty="0">
                <a:latin typeface="Cambria Math"/>
                <a:cs typeface="Cambria Math"/>
              </a:rPr>
              <a:t> </a:t>
            </a:r>
            <a:r>
              <a:rPr sz="1800" spc="-15" dirty="0" err="1">
                <a:latin typeface="Cambria Math"/>
                <a:cs typeface="Cambria Math"/>
              </a:rPr>
              <a:t>kết</a:t>
            </a:r>
            <a:r>
              <a:rPr sz="1800" spc="-15" dirty="0">
                <a:latin typeface="Cambria Math"/>
                <a:cs typeface="Cambria Math"/>
              </a:rPr>
              <a:t> </a:t>
            </a:r>
            <a:r>
              <a:rPr sz="1800" dirty="0" err="1">
                <a:latin typeface="Cambria Math"/>
                <a:cs typeface="Cambria Math"/>
              </a:rPr>
              <a:t>quả</a:t>
            </a:r>
            <a:r>
              <a:rPr sz="1800" dirty="0">
                <a:latin typeface="Cambria Math"/>
                <a:cs typeface="Cambria Math"/>
              </a:rPr>
              <a:t> </a:t>
            </a:r>
            <a:r>
              <a:rPr sz="1800" spc="-5" dirty="0" err="1">
                <a:latin typeface="Cambria Math"/>
                <a:cs typeface="Cambria Math"/>
              </a:rPr>
              <a:t>tốt</a:t>
            </a:r>
            <a:r>
              <a:rPr sz="1800" spc="-5" dirty="0">
                <a:latin typeface="Cambria Math"/>
                <a:cs typeface="Cambria Math"/>
              </a:rPr>
              <a:t> </a:t>
            </a:r>
            <a:r>
              <a:rPr sz="1800" spc="-5" dirty="0" err="1">
                <a:latin typeface="Cambria Math"/>
                <a:cs typeface="Cambria Math"/>
              </a:rPr>
              <a:t>nhất</a:t>
            </a:r>
            <a:r>
              <a:rPr sz="1800" spc="-5" dirty="0">
                <a:latin typeface="Cambria Math"/>
                <a:cs typeface="Cambria Math"/>
              </a:rPr>
              <a:t> </a:t>
            </a:r>
            <a:r>
              <a:rPr sz="1800" spc="-35" dirty="0">
                <a:latin typeface="Cambria Math"/>
                <a:cs typeface="Cambria Math"/>
              </a:rPr>
              <a:t>(F</a:t>
            </a:r>
            <a:r>
              <a:rPr lang="en-US" sz="1800" spc="-35" dirty="0">
                <a:latin typeface="Cambria Math"/>
                <a:cs typeface="Cambria Math"/>
              </a:rPr>
              <a:t>1</a:t>
            </a:r>
            <a:r>
              <a:rPr sz="1800" spc="-35" dirty="0">
                <a:latin typeface="Cambria Math"/>
                <a:cs typeface="Cambria Math"/>
              </a:rPr>
              <a:t> </a:t>
            </a:r>
            <a:r>
              <a:rPr sz="1800" spc="-10" dirty="0">
                <a:latin typeface="Cambria Math"/>
                <a:cs typeface="Cambria Math"/>
              </a:rPr>
              <a:t>score </a:t>
            </a:r>
            <a:r>
              <a:rPr sz="1800" dirty="0">
                <a:latin typeface="Cambria Math"/>
                <a:cs typeface="Cambria Math"/>
              </a:rPr>
              <a:t>= </a:t>
            </a:r>
            <a:r>
              <a:rPr lang="en-US" spc="-20" dirty="0">
                <a:latin typeface="Cambria Math"/>
                <a:cs typeface="Cambria Math"/>
              </a:rPr>
              <a:t>87,92%</a:t>
            </a:r>
            <a:r>
              <a:rPr sz="1800" spc="-20" dirty="0">
                <a:latin typeface="Cambria Math"/>
                <a:cs typeface="Cambria Math"/>
              </a:rPr>
              <a:t>, </a:t>
            </a:r>
            <a:r>
              <a:rPr sz="1800" spc="-10" dirty="0">
                <a:latin typeface="Cambria Math"/>
                <a:cs typeface="Cambria Math"/>
              </a:rPr>
              <a:t>Accuracy </a:t>
            </a:r>
            <a:r>
              <a:rPr sz="1800" dirty="0">
                <a:latin typeface="Cambria Math"/>
                <a:cs typeface="Cambria Math"/>
              </a:rPr>
              <a:t>=</a:t>
            </a:r>
            <a:r>
              <a:rPr sz="1800" spc="150" dirty="0">
                <a:latin typeface="Cambria Math"/>
                <a:cs typeface="Cambria Math"/>
              </a:rPr>
              <a:t> </a:t>
            </a:r>
            <a:r>
              <a:rPr lang="en-US" spc="-5" dirty="0">
                <a:latin typeface="Cambria Math"/>
                <a:cs typeface="Cambria Math"/>
              </a:rPr>
              <a:t>89.69</a:t>
            </a:r>
            <a:r>
              <a:rPr sz="1800" spc="-5" dirty="0">
                <a:latin typeface="Cambria Math"/>
                <a:cs typeface="Cambria Math"/>
              </a:rPr>
              <a:t>%)</a:t>
            </a:r>
            <a:endParaRPr sz="1800" dirty="0">
              <a:latin typeface="Cambria Math"/>
              <a:cs typeface="Cambria Math"/>
            </a:endParaRPr>
          </a:p>
          <a:p>
            <a:pPr>
              <a:lnSpc>
                <a:spcPct val="100000"/>
              </a:lnSpc>
            </a:pPr>
            <a:endParaRPr sz="1800" dirty="0">
              <a:latin typeface="Cambria Math"/>
              <a:cs typeface="Cambria Math"/>
            </a:endParaRPr>
          </a:p>
          <a:p>
            <a:pPr>
              <a:lnSpc>
                <a:spcPct val="100000"/>
              </a:lnSpc>
              <a:spcBef>
                <a:spcPts val="50"/>
              </a:spcBef>
            </a:pPr>
            <a:endParaRPr sz="1400" dirty="0">
              <a:latin typeface="Cambria Math"/>
              <a:cs typeface="Cambria Math"/>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6565" y="2378628"/>
            <a:ext cx="7350759" cy="848360"/>
          </a:xfrm>
          <a:prstGeom prst="rect">
            <a:avLst/>
          </a:prstGeom>
        </p:spPr>
        <p:txBody>
          <a:bodyPr vert="horz" wrap="square" lIns="0" tIns="12700" rIns="0" bIns="0" rtlCol="0">
            <a:spAutoFit/>
          </a:bodyPr>
          <a:lstStyle/>
          <a:p>
            <a:pPr marL="12700">
              <a:lnSpc>
                <a:spcPct val="100000"/>
              </a:lnSpc>
              <a:spcBef>
                <a:spcPts val="100"/>
              </a:spcBef>
            </a:pPr>
            <a:r>
              <a:rPr sz="5400" b="0" spc="-200" dirty="0">
                <a:solidFill>
                  <a:srgbClr val="4E94D9"/>
                </a:solidFill>
                <a:latin typeface="Arial"/>
                <a:cs typeface="Arial"/>
              </a:rPr>
              <a:t>Thank </a:t>
            </a:r>
            <a:r>
              <a:rPr sz="5400" b="0" spc="-110" dirty="0">
                <a:solidFill>
                  <a:srgbClr val="4E94D9"/>
                </a:solidFill>
                <a:latin typeface="Arial"/>
                <a:cs typeface="Arial"/>
              </a:rPr>
              <a:t>you </a:t>
            </a:r>
            <a:r>
              <a:rPr sz="5400" b="0" spc="10" dirty="0">
                <a:solidFill>
                  <a:srgbClr val="4E94D9"/>
                </a:solidFill>
                <a:latin typeface="Arial"/>
                <a:cs typeface="Arial"/>
              </a:rPr>
              <a:t>for</a:t>
            </a:r>
            <a:r>
              <a:rPr sz="5400" b="0" spc="-990" dirty="0">
                <a:solidFill>
                  <a:srgbClr val="4E94D9"/>
                </a:solidFill>
                <a:latin typeface="Arial"/>
                <a:cs typeface="Arial"/>
              </a:rPr>
              <a:t> </a:t>
            </a:r>
            <a:r>
              <a:rPr sz="5400" b="0" spc="-100" dirty="0">
                <a:solidFill>
                  <a:srgbClr val="4E94D9"/>
                </a:solidFill>
                <a:latin typeface="Arial"/>
                <a:cs typeface="Arial"/>
              </a:rPr>
              <a:t>listening….</a:t>
            </a:r>
            <a:endParaRPr sz="54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486A586-5AFC-413C-B721-B6EDB7796C05}">
  <we:reference id="4b785c87-866c-4bad-85d8-5d1ae467ac9a" version="3.18.0.0" store="EXCatalog" storeType="EXCatalog"/>
  <we:alternateReferences>
    <we:reference id="WA104381909" version="3.18.0.0" store="vi-VN"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736</TotalTime>
  <Words>2108</Words>
  <Application>Microsoft Office PowerPoint</Application>
  <PresentationFormat>Màn hình rộng</PresentationFormat>
  <Paragraphs>240</Paragraphs>
  <Slides>29</Slides>
  <Notes>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29</vt:i4>
      </vt:variant>
    </vt:vector>
  </HeadingPairs>
  <TitlesOfParts>
    <vt:vector size="35" baseType="lpstr">
      <vt:lpstr>Arial</vt:lpstr>
      <vt:lpstr>Calibri</vt:lpstr>
      <vt:lpstr>Cambria Math</vt:lpstr>
      <vt:lpstr>Times New Roman</vt:lpstr>
      <vt:lpstr>Wingdings</vt:lpstr>
      <vt:lpstr>Office Theme</vt:lpstr>
      <vt:lpstr>BÁO CÁO MÔN HỌC KHOA HỌC DỮ LIỆU</vt:lpstr>
      <vt:lpstr>NỘI DUNG</vt:lpstr>
      <vt:lpstr>1. TỔNG QUAN</vt:lpstr>
      <vt:lpstr>1. TỔNG QUAN</vt:lpstr>
      <vt:lpstr>1. TỔNG QUAN</vt:lpstr>
      <vt:lpstr>2. Trích xuất đặc trưng</vt:lpstr>
      <vt:lpstr>2. Trích xuất đặc trưng</vt:lpstr>
      <vt:lpstr>2. Trích xuất đặc trưng</vt:lpstr>
      <vt:lpstr>2. Trích xuất đặc trưng</vt:lpstr>
      <vt:lpstr>2. Trích xuất đặc trưng</vt:lpstr>
      <vt:lpstr>2. Trích xuất đặc trưng</vt:lpstr>
      <vt:lpstr>3. CÁC MÔ HÌNH/PHƯƠNG PHÁP PHÂN LOẠI</vt:lpstr>
      <vt:lpstr>3. CÁC MÔ HÌNH/PHƯƠNG PHÁP PHÂN LOẠI Random Forest</vt:lpstr>
      <vt:lpstr>3. CÁC MÔ HÌNH/PHƯƠNG PHÁP PHÂN LOẠI</vt:lpstr>
      <vt:lpstr>3. CÁC MÔ HÌNH/PHƯƠNG PHÁP PHÂN LOẠI Random Forest</vt:lpstr>
      <vt:lpstr>3. CÁC MÔ HÌNH/PHƯƠNG PHÁP PHÂN LOẠI Random Forest</vt:lpstr>
      <vt:lpstr>Multinomial Logistic Regression</vt:lpstr>
      <vt:lpstr>3. CÁC MÔ HÌNH/PHƯƠNG PHÁP PHÂN LOẠI Multinomial Logistic Regression</vt:lpstr>
      <vt:lpstr>3. CÁC MÔ HÌNH/PHƯƠNG PHÁP PHÂN LOẠI  Multi-layer Perceptron</vt:lpstr>
      <vt:lpstr>3. CÁC MÔ HÌNH/PHƯƠNG PHÁP PHÂN LOẠI  Multi-layer Perceptron</vt:lpstr>
      <vt:lpstr>4. THỰC NGHIỆM VÀ KẾT LUẬN</vt:lpstr>
      <vt:lpstr>THỰC NGHIỆM VÀ KẾT LUẬN</vt:lpstr>
      <vt:lpstr>THỰC NGHIỆM VÀ KẾT LUẬN</vt:lpstr>
      <vt:lpstr>THỰC NGHIỆM VÀ KẾT LUẬN</vt:lpstr>
      <vt:lpstr>Bản trình bày PowerPoint</vt:lpstr>
      <vt:lpstr>THỰC NGHIỆM VÀ KẾT LUẬN</vt:lpstr>
      <vt:lpstr>THỰC NGHIỆM VÀ KẾT LUẬN</vt:lpstr>
      <vt:lpstr>THỰC NGHIỆM VÀ KẾT LUẬN</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Nguyễn An Hưng</dc:creator>
  <cp:lastModifiedBy>Lê Hải Khoa</cp:lastModifiedBy>
  <cp:revision>8</cp:revision>
  <dcterms:created xsi:type="dcterms:W3CDTF">2025-05-08T07:40:39Z</dcterms:created>
  <dcterms:modified xsi:type="dcterms:W3CDTF">2025-05-16T01:46:08Z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2024-05-06T00:00:00Z</vt:filetime>
  </property>
  <property fmtid="{D5CDD505-2E9C-101B-9397-08002B2CF9AE}" pid="3" name="Creator">
    <vt:lpwstr>Acrobat PDFMaker 22 for PowerPoint</vt:lpwstr>
  </property>
  <property fmtid="{D5CDD505-2E9C-101B-9397-08002B2CF9AE}" pid="4" name="LastSaved">
    <vt:filetime>2025-05-08T00:00:00Z</vt:filetime>
  </property>
</Properties>
</file>